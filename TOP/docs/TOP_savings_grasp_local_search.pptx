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Best α</c:v>
                </c:pt>
              </c:strCache>
            </c:strRef>
          </c:tx>
          <c:spPr>
            <a:solidFill>
              <a:srgbClr val="2A9D8F"/>
            </a:solidFill>
          </c:spPr>
          <c:dLbls>
            <c:dLbl>
              <c:idx val="0"/>
              <c:tx>
                <c:rich>
                  <a:bodyPr/>
                  <a:lstStyle/>
                  <a:p>
                    <a:r>
                      <a:rPr sz="1300" b="1">
                        <a:solidFill>
                          <a:srgbClr val="12212B"/>
                        </a:solidFill>
                        <a:latin typeface="Calibri"/>
                      </a:rPr>
                      <a:t>0.70</a:t>
                    </a:r>
                  </a:p>
                </c:rich>
              </c:tx>
              <c:dLblPos val="outEnd"/>
              <c:showLegendKey val="0"/>
              <c:showVal val="1"/>
              <c:showCatName val="0"/>
              <c:showSerName val="0"/>
              <c:showPercent val="0"/>
              <c:showBubbleSize val="0"/>
            </c:dLbl>
            <c:dLbl>
              <c:idx val="1"/>
              <c:tx>
                <c:rich>
                  <a:bodyPr/>
                  <a:lstStyle/>
                  <a:p>
                    <a:r>
                      <a:rPr sz="1300" b="1">
                        <a:solidFill>
                          <a:srgbClr val="12212B"/>
                        </a:solidFill>
                        <a:latin typeface="Calibri"/>
                      </a:rPr>
                      <a:t>0.38</a:t>
                    </a:r>
                  </a:p>
                </c:rich>
              </c:tx>
              <c:dLblPos val="outEnd"/>
              <c:showLegendKey val="0"/>
              <c:showVal val="1"/>
              <c:showCatName val="0"/>
              <c:showSerName val="0"/>
              <c:showPercent val="0"/>
              <c:showBubbleSize val="0"/>
            </c:dLbl>
            <c:dLbl>
              <c:idx val="2"/>
              <c:tx>
                <c:rich>
                  <a:bodyPr/>
                  <a:lstStyle/>
                  <a:p>
                    <a:r>
                      <a:rPr sz="1300" b="1">
                        <a:solidFill>
                          <a:srgbClr val="12212B"/>
                        </a:solidFill>
                        <a:latin typeface="Calibri"/>
                      </a:rPr>
                      <a:t>0.29</a:t>
                    </a:r>
                  </a:p>
                </c:rich>
              </c:tx>
              <c:dLblPos val="outEnd"/>
              <c:showLegendKey val="0"/>
              <c:showVal val="1"/>
              <c:showCatName val="0"/>
              <c:showSerName val="0"/>
              <c:showPercent val="0"/>
              <c:showBubbleSize val="0"/>
            </c:dLbl>
            <c:dLbl>
              <c:idx val="3"/>
              <c:tx>
                <c:rich>
                  <a:bodyPr/>
                  <a:lstStyle/>
                  <a:p>
                    <a:r>
                      <a:rPr sz="1300" b="1">
                        <a:solidFill>
                          <a:srgbClr val="12212B"/>
                        </a:solidFill>
                        <a:latin typeface="Calibri"/>
                      </a:rPr>
                      <a:t>0.76</a:t>
                    </a:r>
                  </a:p>
                </c:rich>
              </c:tx>
              <c:dLblPos val="outEnd"/>
              <c:showLegendKey val="0"/>
              <c:showVal val="1"/>
              <c:showCatName val="0"/>
              <c:showSerName val="0"/>
              <c:showPercent val="0"/>
              <c:showBubbleSize val="0"/>
            </c:dLbl>
            <c:dLbl>
              <c:idx val="4"/>
              <c:tx>
                <c:rich>
                  <a:bodyPr/>
                  <a:lstStyle/>
                  <a:p>
                    <a:r>
                      <a:rPr sz="1300" b="1">
                        <a:solidFill>
                          <a:srgbClr val="12212B"/>
                        </a:solidFill>
                        <a:latin typeface="Calibri"/>
                      </a:rPr>
                      <a:t>0.84</a:t>
                    </a:r>
                  </a:p>
                </c:rich>
              </c:tx>
              <c:dLblPos val="outEnd"/>
              <c:showLegendKey val="0"/>
              <c:showVal val="1"/>
              <c:showCatName val="0"/>
              <c:showSerName val="0"/>
              <c:showPercent val="0"/>
              <c:showBubbleSize val="0"/>
            </c:dLbl>
            <c:dLbl>
              <c:idx val="5"/>
              <c:tx>
                <c:rich>
                  <a:bodyPr/>
                  <a:lstStyle/>
                  <a:p>
                    <a:r>
                      <a:rPr sz="1300" b="1">
                        <a:solidFill>
                          <a:srgbClr val="12212B"/>
                        </a:solidFill>
                        <a:latin typeface="Calibri"/>
                      </a:rPr>
                      <a:t>0.51</a:t>
                    </a:r>
                  </a:p>
                </c:rich>
              </c:tx>
              <c:dLblPos val="outEnd"/>
              <c:showLegendKey val="0"/>
              <c:showVal val="1"/>
              <c:showCatName val="0"/>
              <c:showSerName val="0"/>
              <c:showPercent val="0"/>
              <c:showBubbleSize val="0"/>
            </c:dLbl>
            <c:dLbl>
              <c:idx val="6"/>
              <c:tx>
                <c:rich>
                  <a:bodyPr/>
                  <a:lstStyle/>
                  <a:p>
                    <a:r>
                      <a:rPr sz="1300" b="1">
                        <a:solidFill>
                          <a:srgbClr val="12212B"/>
                        </a:solidFill>
                        <a:latin typeface="Calibri"/>
                      </a:rPr>
                      <a:t>0.70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p1
CV 0.34</c:v>
                </c:pt>
                <c:pt idx="1">
                  <c:v>p5
CV 0.35</c:v>
                </c:pt>
                <c:pt idx="2">
                  <c:v>p6
CV 0.43</c:v>
                </c:pt>
                <c:pt idx="3">
                  <c:v>p2
CV 0.46</c:v>
                </c:pt>
                <c:pt idx="4">
                  <c:v>p3
CV 0.49</c:v>
                </c:pt>
                <c:pt idx="5">
                  <c:v>p7
CV 0.61</c:v>
                </c:pt>
                <c:pt idx="6">
                  <c:v>p4
CV 0.64</c:v>
                </c:pt>
              </c:strCache>
            </c:strRef>
          </c:cat>
          <c:val>
            <c:numRef>
              <c:f>Sheet1!$B$2:$B$8</c:f>
              <c:numCache>
                <c:formatCode>General</c:formatCode>
                <c:ptCount val="7"/>
                <c:pt idx="0">
                  <c:v>0.7</c:v>
                </c:pt>
                <c:pt idx="1">
                  <c:v>0.38</c:v>
                </c:pt>
                <c:pt idx="2">
                  <c:v>0.29</c:v>
                </c:pt>
                <c:pt idx="3">
                  <c:v>0.76</c:v>
                </c:pt>
                <c:pt idx="4">
                  <c:v>0.84</c:v>
                </c:pt>
                <c:pt idx="5">
                  <c:v>0.51</c:v>
                </c:pt>
                <c:pt idx="6">
                  <c:v>0.7</c:v>
                </c:pt>
              </c:numCache>
            </c:numRef>
          </c:val>
        </c:ser>
        <c:dLbls>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CBD1D6"/>
            </a:solidFill>
          </a:ln>
        </c:spPr>
        <c:txPr>
          <a:bodyPr/>
          <a:lstStyle/>
          <a:p>
            <a:pPr>
              <a:defRPr sz="1200">
                <a:solidFill>
                  <a:srgbClr val="4A5568"/>
                </a:solidFill>
              </a:defRPr>
            </a:pPr>
          </a:p>
        </c:txPr>
        <c:crossAx val="-2113994440"/>
        <c:crosses val="autoZero"/>
        <c:auto val="1"/>
        <c:lblAlgn val="ctr"/>
        <c:lblOffset val="100"/>
        <c:noMultiLvlLbl val="0"/>
      </c:catAx>
      <c:valAx>
        <c:axId val="-2113994440"/>
        <c:scaling>
          <c:max val="1.0"/>
          <c:min val="0.0"/>
        </c:scaling>
        <c:delete/>
        <c:axPos val="l"/>
        <c:majorTickMark val="out"/>
        <c:minorTickMark val="none"/>
        <c:tickLblPos val="nextTo"/>
        <c:spPr>
          <a:ln>
            <a:noFill/>
          </a:ln>
        </c:spPr>
        <c:crossAx val="-2068027336"/>
        <c:crosses val="autoZero"/>
      </c:valAx>
    </c:plotArea>
    <c:dispBlanksAs val="gap"/>
  </c:chart>
  <c:txPr>
    <a:bodyPr/>
    <a:lstStyle/>
    <a:p>
      <a:pPr>
        <a:defRPr sz="1200">
          <a:solidFill>
            <a:srgbClr val="4A5568"/>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Reward</c:v>
                </c:pt>
              </c:strCache>
            </c:strRef>
          </c:tx>
          <c:dPt>
            <c:idx val="0"/>
            <c:spPr>
              <a:solidFill>
                <a:srgbClr val="CBD1D6"/>
              </a:solidFill>
            </c:spPr>
          </c:dPt>
          <c:dPt>
            <c:idx val="1"/>
            <c:spPr>
              <a:solidFill>
                <a:srgbClr val="2A9D8F"/>
              </a:solidFill>
            </c:spPr>
          </c:dPt>
          <c:dPt>
            <c:idx val="2"/>
            <c:spPr>
              <a:solidFill>
                <a:srgbClr val="CBD1D6"/>
              </a:solidFill>
            </c:spPr>
          </c:dPt>
          <c:dPt>
            <c:idx val="3"/>
            <c:spPr>
              <a:solidFill>
                <a:srgbClr val="1F7A6D"/>
              </a:solidFill>
            </c:spPr>
          </c:dPt>
          <c:dLbls>
            <c:dLbl>
              <c:idx val="0"/>
              <c:tx>
                <c:rich>
                  <a:bodyPr/>
                  <a:lstStyle/>
                  <a:p>
                    <a:r>
                      <a:rPr sz="1300" b="1">
                        <a:solidFill>
                          <a:srgbClr val="12212B"/>
                        </a:solidFill>
                        <a:latin typeface="Calibri"/>
                      </a:rPr>
                      <a:t>157,868</a:t>
                    </a:r>
                  </a:p>
                </c:rich>
              </c:tx>
              <c:dLblPos val="outEnd"/>
              <c:showLegendKey val="0"/>
              <c:showVal val="1"/>
              <c:showCatName val="0"/>
              <c:showSerName val="0"/>
              <c:showPercent val="0"/>
              <c:showBubbleSize val="0"/>
            </c:dLbl>
            <c:dLbl>
              <c:idx val="1"/>
              <c:tx>
                <c:rich>
                  <a:bodyPr/>
                  <a:lstStyle/>
                  <a:p>
                    <a:r>
                      <a:rPr sz="1300" b="1">
                        <a:solidFill>
                          <a:srgbClr val="12212B"/>
                        </a:solidFill>
                        <a:latin typeface="Calibri"/>
                      </a:rPr>
                      <a:t>170,469</a:t>
                    </a:r>
                  </a:p>
                </c:rich>
              </c:tx>
              <c:dLblPos val="outEnd"/>
              <c:showLegendKey val="0"/>
              <c:showVal val="1"/>
              <c:showCatName val="0"/>
              <c:showSerName val="0"/>
              <c:showPercent val="0"/>
              <c:showBubbleSize val="0"/>
            </c:dLbl>
            <c:dLbl>
              <c:idx val="2"/>
              <c:tx>
                <c:rich>
                  <a:bodyPr/>
                  <a:lstStyle/>
                  <a:p>
                    <a:r>
                      <a:rPr sz="1300" b="1">
                        <a:solidFill>
                          <a:srgbClr val="12212B"/>
                        </a:solidFill>
                        <a:latin typeface="Calibri"/>
                      </a:rPr>
                      <a:t>181,103</a:t>
                    </a:r>
                  </a:p>
                </c:rich>
              </c:tx>
              <c:dLblPos val="outEnd"/>
              <c:showLegendKey val="0"/>
              <c:showVal val="1"/>
              <c:showCatName val="0"/>
              <c:showSerName val="0"/>
              <c:showPercent val="0"/>
              <c:showBubbleSize val="0"/>
            </c:dLbl>
            <c:dLbl>
              <c:idx val="3"/>
              <c:tx>
                <c:rich>
                  <a:bodyPr/>
                  <a:lstStyle/>
                  <a:p>
                    <a:r>
                      <a:rPr sz="1300" b="1">
                        <a:solidFill>
                          <a:srgbClr val="12212B"/>
                        </a:solidFill>
                        <a:latin typeface="Calibri"/>
                      </a:rPr>
                      <a:t>189,854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PJS, best α</c:v>
                </c:pt>
                <c:pt idx="1">
                  <c:v>GRASP</c:v>
                </c:pt>
                <c:pt idx="2">
                  <c:v>PJS + local search</c:v>
                </c:pt>
                <c:pt idx="3">
                  <c:v>GRASP + local search</c:v>
                </c:pt>
              </c:strCache>
            </c:strRef>
          </c:cat>
          <c:val>
            <c:numRef>
              <c:f>Sheet1!$B$2:$B$5</c:f>
              <c:numCache>
                <c:formatCode>General</c:formatCode>
                <c:ptCount val="4"/>
                <c:pt idx="0">
                  <c:v>157868</c:v>
                </c:pt>
                <c:pt idx="1">
                  <c:v>170469</c:v>
                </c:pt>
                <c:pt idx="2">
                  <c:v>181103</c:v>
                </c:pt>
                <c:pt idx="3">
                  <c:v>189854</c:v>
                </c:pt>
              </c:numCache>
            </c:numRef>
          </c:val>
        </c:ser>
        <c:dLbls>
          <c:dLblPos val="outEnd"/>
          <c:showLegendKey val="0"/>
          <c:showVal val="1"/>
          <c:showCatName val="0"/>
          <c:showSerName val="0"/>
          <c:showPercent val="0"/>
          <c:showBubbleSize val="0"/>
          <c:showLeaderLines val="1"/>
        </c:dLbls>
        <c:gapWidth val="45"/>
        <c:axId val="-2068027336"/>
        <c:axId val="-2113994440"/>
      </c:barChart>
      <c:catAx>
        <c:axId val="-2068027336"/>
        <c:scaling>
          <c:orientation val="maxMin"/>
        </c:scaling>
        <c:delete val="0"/>
        <c:axPos val="l"/>
        <c:majorTickMark val="out"/>
        <c:minorTickMark val="none"/>
        <c:tickLblPos val="nextTo"/>
        <c:spPr>
          <a:ln>
            <a:solidFill>
              <a:srgbClr val="CBD1D6"/>
            </a:solidFill>
          </a:ln>
        </c:spPr>
        <c:txPr>
          <a:bodyPr/>
          <a:lstStyle/>
          <a:p>
            <a:pPr>
              <a:defRPr sz="1200">
                <a:solidFill>
                  <a:srgbClr val="4A5568"/>
                </a:solidFill>
              </a:defRPr>
            </a:pPr>
          </a:p>
        </c:txPr>
        <c:crossAx val="-2113994440"/>
        <c:crosses val="autoZero"/>
        <c:auto val="1"/>
        <c:lblAlgn val="ctr"/>
        <c:lblOffset val="100"/>
        <c:noMultiLvlLbl val="0"/>
      </c:catAx>
      <c:valAx>
        <c:axId val="-2113994440"/>
        <c:scaling>
          <c:max val="200000.0"/>
          <c:min val="140000.0"/>
        </c:scaling>
        <c:delete/>
        <c:axPos val="b"/>
        <c:majorTickMark val="out"/>
        <c:minorTickMark val="none"/>
        <c:tickLblPos val="nextTo"/>
        <c:spPr>
          <a:ln>
            <a:noFill/>
          </a:ln>
        </c:spPr>
        <c:crossAx val="-2068027336"/>
        <c:crosses val="autoZero"/>
      </c:valAx>
    </c:plotArea>
    <c:dispBlanksAs val="gap"/>
  </c:chart>
  <c:txPr>
    <a:bodyPr/>
    <a:lstStyle/>
    <a:p>
      <a:pPr>
        <a:defRPr sz="1300">
          <a:solidFill>
            <a:srgbClr val="4A5568"/>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Gain</c:v>
                </c:pt>
              </c:strCache>
            </c:strRef>
          </c:tx>
          <c:dPt>
            <c:idx val="0"/>
            <c:spPr>
              <a:solidFill>
                <a:srgbClr val="2A9D8F"/>
              </a:solidFill>
            </c:spPr>
          </c:dPt>
          <c:dPt>
            <c:idx val="1"/>
            <c:spPr>
              <a:solidFill>
                <a:srgbClr val="2A9D8F"/>
              </a:solidFill>
            </c:spPr>
          </c:dPt>
          <c:dPt>
            <c:idx val="2"/>
            <c:spPr>
              <a:solidFill>
                <a:srgbClr val="2A9D8F"/>
              </a:solidFill>
            </c:spPr>
          </c:dPt>
          <c:dPt>
            <c:idx val="3"/>
            <c:spPr>
              <a:solidFill>
                <a:srgbClr val="E07040"/>
              </a:solidFill>
            </c:spPr>
          </c:dPt>
          <c:dPt>
            <c:idx val="4"/>
            <c:spPr>
              <a:solidFill>
                <a:srgbClr val="2A9D8F"/>
              </a:solidFill>
            </c:spPr>
          </c:dPt>
          <c:dPt>
            <c:idx val="5"/>
            <c:spPr>
              <a:solidFill>
                <a:srgbClr val="2A9D8F"/>
              </a:solidFill>
            </c:spPr>
          </c:dPt>
          <c:dPt>
            <c:idx val="6"/>
            <c:spPr>
              <a:solidFill>
                <a:srgbClr val="E07040"/>
              </a:solidFill>
            </c:spPr>
          </c:dPt>
          <c:dLbls>
            <c:dLbl>
              <c:idx val="0"/>
              <c:tx>
                <c:rich>
                  <a:bodyPr/>
                  <a:lstStyle/>
                  <a:p>
                    <a:r>
                      <a:rPr sz="1300" b="1">
                        <a:solidFill>
                          <a:srgbClr val="12212B"/>
                        </a:solidFill>
                        <a:latin typeface="Calibri"/>
                      </a:rPr>
                      <a:t>+8.7 %</a:t>
                    </a:r>
                  </a:p>
                </c:rich>
              </c:tx>
              <c:dLblPos val="outEnd"/>
              <c:showLegendKey val="0"/>
              <c:showVal val="1"/>
              <c:showCatName val="0"/>
              <c:showSerName val="0"/>
              <c:showPercent val="0"/>
              <c:showBubbleSize val="0"/>
            </c:dLbl>
            <c:dLbl>
              <c:idx val="1"/>
              <c:tx>
                <c:rich>
                  <a:bodyPr/>
                  <a:lstStyle/>
                  <a:p>
                    <a:r>
                      <a:rPr sz="1300" b="1">
                        <a:solidFill>
                          <a:srgbClr val="12212B"/>
                        </a:solidFill>
                        <a:latin typeface="Calibri"/>
                      </a:rPr>
                      <a:t>+2.1 %</a:t>
                    </a:r>
                  </a:p>
                </c:rich>
              </c:tx>
              <c:dLblPos val="outEnd"/>
              <c:showLegendKey val="0"/>
              <c:showVal val="1"/>
              <c:showCatName val="0"/>
              <c:showSerName val="0"/>
              <c:showPercent val="0"/>
              <c:showBubbleSize val="0"/>
            </c:dLbl>
            <c:dLbl>
              <c:idx val="2"/>
              <c:tx>
                <c:rich>
                  <a:bodyPr/>
                  <a:lstStyle/>
                  <a:p>
                    <a:r>
                      <a:rPr sz="1300" b="1">
                        <a:solidFill>
                          <a:srgbClr val="12212B"/>
                        </a:solidFill>
                        <a:latin typeface="Calibri"/>
                      </a:rPr>
                      <a:t>+8.4 %</a:t>
                    </a:r>
                  </a:p>
                </c:rich>
              </c:tx>
              <c:dLblPos val="outEnd"/>
              <c:showLegendKey val="0"/>
              <c:showVal val="1"/>
              <c:showCatName val="0"/>
              <c:showSerName val="0"/>
              <c:showPercent val="0"/>
              <c:showBubbleSize val="0"/>
            </c:dLbl>
            <c:dLbl>
              <c:idx val="3"/>
              <c:tx>
                <c:rich>
                  <a:bodyPr/>
                  <a:lstStyle/>
                  <a:p>
                    <a:r>
                      <a:rPr sz="1300" b="1">
                        <a:solidFill>
                          <a:srgbClr val="12212B"/>
                        </a:solidFill>
                        <a:latin typeface="Calibri"/>
                      </a:rPr>
                      <a:t>+38.8 %</a:t>
                    </a:r>
                  </a:p>
                </c:rich>
              </c:tx>
              <c:dLblPos val="outEnd"/>
              <c:showLegendKey val="0"/>
              <c:showVal val="1"/>
              <c:showCatName val="0"/>
              <c:showSerName val="0"/>
              <c:showPercent val="0"/>
              <c:showBubbleSize val="0"/>
            </c:dLbl>
            <c:dLbl>
              <c:idx val="4"/>
              <c:tx>
                <c:rich>
                  <a:bodyPr/>
                  <a:lstStyle/>
                  <a:p>
                    <a:r>
                      <a:rPr sz="1300" b="1">
                        <a:solidFill>
                          <a:srgbClr val="12212B"/>
                        </a:solidFill>
                        <a:latin typeface="Calibri"/>
                      </a:rPr>
                      <a:t>+13.6 %</a:t>
                    </a:r>
                  </a:p>
                </c:rich>
              </c:tx>
              <c:dLblPos val="outEnd"/>
              <c:showLegendKey val="0"/>
              <c:showVal val="1"/>
              <c:showCatName val="0"/>
              <c:showSerName val="0"/>
              <c:showPercent val="0"/>
              <c:showBubbleSize val="0"/>
            </c:dLbl>
            <c:dLbl>
              <c:idx val="5"/>
              <c:tx>
                <c:rich>
                  <a:bodyPr/>
                  <a:lstStyle/>
                  <a:p>
                    <a:r>
                      <a:rPr sz="1300" b="1">
                        <a:solidFill>
                          <a:srgbClr val="12212B"/>
                        </a:solidFill>
                        <a:latin typeface="Calibri"/>
                      </a:rPr>
                      <a:t>+17.4 %</a:t>
                    </a:r>
                  </a:p>
                </c:rich>
              </c:tx>
              <c:dLblPos val="outEnd"/>
              <c:showLegendKey val="0"/>
              <c:showVal val="1"/>
              <c:showCatName val="0"/>
              <c:showSerName val="0"/>
              <c:showPercent val="0"/>
              <c:showBubbleSize val="0"/>
            </c:dLbl>
            <c:dLbl>
              <c:idx val="6"/>
              <c:tx>
                <c:rich>
                  <a:bodyPr/>
                  <a:lstStyle/>
                  <a:p>
                    <a:r>
                      <a:rPr sz="1300" b="1">
                        <a:solidFill>
                          <a:srgbClr val="12212B"/>
                        </a:solidFill>
                        <a:latin typeface="Calibri"/>
                      </a:rPr>
                      <a:t>+28.1 %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Sheet1!$A$2:$A$8</c:f>
              <c:strCache>
                <c:ptCount val="7"/>
                <c:pt idx="0">
                  <c:v>p1</c:v>
                </c:pt>
                <c:pt idx="1">
                  <c:v>p2</c:v>
                </c:pt>
                <c:pt idx="2">
                  <c:v>p3</c:v>
                </c:pt>
                <c:pt idx="3">
                  <c:v>p4</c:v>
                </c:pt>
                <c:pt idx="4">
                  <c:v>p5</c:v>
                </c:pt>
                <c:pt idx="5">
                  <c:v>p6</c:v>
                </c:pt>
                <c:pt idx="6">
                  <c:v>p7</c:v>
                </c:pt>
              </c:strCache>
            </c:strRef>
          </c:cat>
          <c:val>
            <c:numRef>
              <c:f>Sheet1!$B$2:$B$8</c:f>
              <c:numCache>
                <c:formatCode>General</c:formatCode>
                <c:ptCount val="7"/>
                <c:pt idx="0">
                  <c:v>0.087</c:v>
                </c:pt>
                <c:pt idx="1">
                  <c:v>0.0209</c:v>
                </c:pt>
                <c:pt idx="2">
                  <c:v>0.084</c:v>
                </c:pt>
                <c:pt idx="3">
                  <c:v>0.3875</c:v>
                </c:pt>
                <c:pt idx="4">
                  <c:v>0.1361</c:v>
                </c:pt>
                <c:pt idx="5">
                  <c:v>0.1744</c:v>
                </c:pt>
                <c:pt idx="6">
                  <c:v>0.2807</c:v>
                </c:pt>
              </c:numCache>
            </c:numRef>
          </c:val>
        </c:ser>
        <c:dLbls>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CBD1D6"/>
            </a:solidFill>
          </a:ln>
        </c:spPr>
        <c:txPr>
          <a:bodyPr/>
          <a:lstStyle/>
          <a:p>
            <a:pPr>
              <a:defRPr sz="1200">
                <a:solidFill>
                  <a:srgbClr val="4A5568"/>
                </a:solidFill>
              </a:defRPr>
            </a:pPr>
          </a:p>
        </c:txPr>
        <c:crossAx val="-2113994440"/>
        <c:crosses val="autoZero"/>
        <c:auto val="1"/>
        <c:lblAlgn val="ctr"/>
        <c:lblOffset val="100"/>
        <c:noMultiLvlLbl val="0"/>
      </c:catAx>
      <c:valAx>
        <c:axId val="-2113994440"/>
        <c:scaling>
          <c:max val="0.45"/>
          <c:min val="0.0"/>
        </c:scaling>
        <c:delete/>
        <c:axPos val="l"/>
        <c:majorTickMark val="out"/>
        <c:minorTickMark val="none"/>
        <c:tickLblPos val="nextTo"/>
        <c:spPr>
          <a:ln>
            <a:noFill/>
          </a:ln>
        </c:spPr>
        <c:crossAx val="-2068027336"/>
        <c:crosses val="autoZero"/>
      </c:valAx>
    </c:plotArea>
    <c:dispBlanksAs val="gap"/>
  </c:chart>
  <c:txPr>
    <a:bodyPr/>
    <a:lstStyle/>
    <a:p>
      <a:pPr>
        <a:defRPr sz="1300">
          <a:solidFill>
            <a:srgbClr val="4A5568"/>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Gap</c:v>
                </c:pt>
              </c:strCache>
            </c:strRef>
          </c:tx>
          <c:dPt>
            <c:idx val="0"/>
            <c:spPr>
              <a:solidFill>
                <a:srgbClr val="CBD1D6"/>
              </a:solidFill>
            </c:spPr>
          </c:dPt>
          <c:dPt>
            <c:idx val="1"/>
            <c:spPr>
              <a:solidFill>
                <a:srgbClr val="2A9D8F"/>
              </a:solidFill>
            </c:spPr>
          </c:dPt>
          <c:dPt>
            <c:idx val="2"/>
            <c:spPr>
              <a:solidFill>
                <a:srgbClr val="E07040"/>
              </a:solidFill>
            </c:spPr>
          </c:dPt>
          <c:dPt>
            <c:idx val="3"/>
            <c:spPr>
              <a:solidFill>
                <a:srgbClr val="2A9D8F"/>
              </a:solidFill>
            </c:spPr>
          </c:dPt>
          <c:dPt>
            <c:idx val="4"/>
            <c:spPr>
              <a:solidFill>
                <a:srgbClr val="E07040"/>
              </a:solidFill>
            </c:spPr>
          </c:dPt>
          <c:dPt>
            <c:idx val="5"/>
            <c:spPr>
              <a:solidFill>
                <a:srgbClr val="1F7A6D"/>
              </a:solidFill>
            </c:spPr>
          </c:dPt>
          <c:dPt>
            <c:idx val="6"/>
            <c:spPr>
              <a:solidFill>
                <a:srgbClr val="1F7A6D"/>
              </a:solidFill>
            </c:spPr>
          </c:dPt>
          <c:dPt>
            <c:idx val="7"/>
            <c:spPr>
              <a:solidFill>
                <a:srgbClr val="1F7A6D"/>
              </a:solidFill>
            </c:spPr>
          </c:dPt>
          <c:dLbls>
            <c:dLbl>
              <c:idx val="0"/>
              <c:tx>
                <c:rich>
                  <a:bodyPr/>
                  <a:lstStyle/>
                  <a:p>
                    <a:r>
                      <a:rPr sz="1300" b="1">
                        <a:solidFill>
                          <a:srgbClr val="12212B"/>
                        </a:solidFill>
                        <a:latin typeface="Calibri"/>
                      </a:rPr>
                      <a:t>4.82 %</a:t>
                    </a:r>
                  </a:p>
                </c:rich>
              </c:tx>
              <c:dLblPos val="outEnd"/>
              <c:showLegendKey val="0"/>
              <c:showVal val="1"/>
              <c:showCatName val="0"/>
              <c:showSerName val="0"/>
              <c:showPercent val="0"/>
              <c:showBubbleSize val="0"/>
            </c:dLbl>
            <c:dLbl>
              <c:idx val="1"/>
              <c:tx>
                <c:rich>
                  <a:bodyPr/>
                  <a:lstStyle/>
                  <a:p>
                    <a:r>
                      <a:rPr sz="1300" b="1">
                        <a:solidFill>
                          <a:srgbClr val="12212B"/>
                        </a:solidFill>
                        <a:latin typeface="Calibri"/>
                      </a:rPr>
                      <a:t>1.99 %</a:t>
                    </a:r>
                  </a:p>
                </c:rich>
              </c:tx>
              <c:dLblPos val="outEnd"/>
              <c:showLegendKey val="0"/>
              <c:showVal val="1"/>
              <c:showCatName val="0"/>
              <c:showSerName val="0"/>
              <c:showPercent val="0"/>
              <c:showBubbleSize val="0"/>
            </c:dLbl>
            <c:dLbl>
              <c:idx val="2"/>
              <c:tx>
                <c:rich>
                  <a:bodyPr/>
                  <a:lstStyle/>
                  <a:p>
                    <a:r>
                      <a:rPr sz="1300" b="1">
                        <a:solidFill>
                          <a:srgbClr val="12212B"/>
                        </a:solidFill>
                        <a:latin typeface="Calibri"/>
                      </a:rPr>
                      <a:t>1.73 %</a:t>
                    </a:r>
                  </a:p>
                </c:rich>
              </c:tx>
              <c:dLblPos val="outEnd"/>
              <c:showLegendKey val="0"/>
              <c:showVal val="1"/>
              <c:showCatName val="0"/>
              <c:showSerName val="0"/>
              <c:showPercent val="0"/>
              <c:showBubbleSize val="0"/>
            </c:dLbl>
            <c:dLbl>
              <c:idx val="3"/>
              <c:tx>
                <c:rich>
                  <a:bodyPr/>
                  <a:lstStyle/>
                  <a:p>
                    <a:r>
                      <a:rPr sz="1300" b="1">
                        <a:solidFill>
                          <a:srgbClr val="12212B"/>
                        </a:solidFill>
                        <a:latin typeface="Calibri"/>
                      </a:rPr>
                      <a:t>0.71 %</a:t>
                    </a:r>
                  </a:p>
                </c:rich>
              </c:tx>
              <c:dLblPos val="outEnd"/>
              <c:showLegendKey val="0"/>
              <c:showVal val="1"/>
              <c:showCatName val="0"/>
              <c:showSerName val="0"/>
              <c:showPercent val="0"/>
              <c:showBubbleSize val="0"/>
            </c:dLbl>
            <c:dLbl>
              <c:idx val="4"/>
              <c:tx>
                <c:rich>
                  <a:bodyPr/>
                  <a:lstStyle/>
                  <a:p>
                    <a:r>
                      <a:rPr sz="1300" b="1">
                        <a:solidFill>
                          <a:srgbClr val="12212B"/>
                        </a:solidFill>
                        <a:latin typeface="Calibri"/>
                      </a:rPr>
                      <a:t>0.44 %</a:t>
                    </a:r>
                  </a:p>
                </c:rich>
              </c:tx>
              <c:dLblPos val="outEnd"/>
              <c:showLegendKey val="0"/>
              <c:showVal val="1"/>
              <c:showCatName val="0"/>
              <c:showSerName val="0"/>
              <c:showPercent val="0"/>
              <c:showBubbleSize val="0"/>
            </c:dLbl>
            <c:dLbl>
              <c:idx val="5"/>
              <c:tx>
                <c:rich>
                  <a:bodyPr/>
                  <a:lstStyle/>
                  <a:p>
                    <a:r>
                      <a:rPr sz="1300" b="1">
                        <a:solidFill>
                          <a:srgbClr val="12212B"/>
                        </a:solidFill>
                        <a:latin typeface="Calibri"/>
                      </a:rPr>
                      <a:t>0.34 %</a:t>
                    </a:r>
                  </a:p>
                </c:rich>
              </c:tx>
              <c:dLblPos val="outEnd"/>
              <c:showLegendKey val="0"/>
              <c:showVal val="1"/>
              <c:showCatName val="0"/>
              <c:showSerName val="0"/>
              <c:showPercent val="0"/>
              <c:showBubbleSize val="0"/>
            </c:dLbl>
            <c:dLbl>
              <c:idx val="6"/>
              <c:tx>
                <c:rich>
                  <a:bodyPr/>
                  <a:lstStyle/>
                  <a:p>
                    <a:r>
                      <a:rPr sz="1300" b="1">
                        <a:solidFill>
                          <a:srgbClr val="12212B"/>
                        </a:solidFill>
                        <a:latin typeface="Calibri"/>
                      </a:rPr>
                      <a:t>0.29 %</a:t>
                    </a:r>
                  </a:p>
                </c:rich>
              </c:tx>
              <c:dLblPos val="outEnd"/>
              <c:showLegendKey val="0"/>
              <c:showVal val="1"/>
              <c:showCatName val="0"/>
              <c:showSerName val="0"/>
              <c:showPercent val="0"/>
              <c:showBubbleSize val="0"/>
            </c:dLbl>
            <c:dLbl>
              <c:idx val="7"/>
              <c:tx>
                <c:rich>
                  <a:bodyPr/>
                  <a:lstStyle/>
                  <a:p>
                    <a:r>
                      <a:rPr sz="1300" b="1">
                        <a:solidFill>
                          <a:srgbClr val="12212B"/>
                        </a:solidFill>
                        <a:latin typeface="Calibri"/>
                      </a:rPr>
                      <a:t>0.15 %</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PJS, best α</c:v>
                </c:pt>
                <c:pt idx="1">
                  <c:v>GRASP 10 it, α grid</c:v>
                </c:pt>
                <c:pt idx="2">
                  <c:v>Panadero, 1 thread</c:v>
                </c:pt>
                <c:pt idx="3">
                  <c:v>GRASP 1 s, α grid</c:v>
                </c:pt>
                <c:pt idx="4">
                  <c:v>Panadero, 128 threads</c:v>
                </c:pt>
                <c:pt idx="5">
                  <c:v>GRASP 10 it + local search</c:v>
                </c:pt>
                <c:pt idx="6">
                  <c:v>GRASP 100 it + local search</c:v>
                </c:pt>
                <c:pt idx="7">
                  <c:v>GRASP 1 s + local search</c:v>
                </c:pt>
              </c:strCache>
            </c:strRef>
          </c:cat>
          <c:val>
            <c:numRef>
              <c:f>Sheet1!$B$2:$B$9</c:f>
              <c:numCache>
                <c:formatCode>General</c:formatCode>
                <c:ptCount val="8"/>
                <c:pt idx="0">
                  <c:v>0.0482</c:v>
                </c:pt>
                <c:pt idx="1">
                  <c:v>0.0199</c:v>
                </c:pt>
                <c:pt idx="2">
                  <c:v>0.0173</c:v>
                </c:pt>
                <c:pt idx="3">
                  <c:v>0.0070999999999999995</c:v>
                </c:pt>
                <c:pt idx="4">
                  <c:v>0.0044</c:v>
                </c:pt>
                <c:pt idx="5">
                  <c:v>0.0034000000000000002</c:v>
                </c:pt>
                <c:pt idx="6">
                  <c:v>0.0029</c:v>
                </c:pt>
                <c:pt idx="7">
                  <c:v>0.0015</c:v>
                </c:pt>
              </c:numCache>
            </c:numRef>
          </c:val>
        </c:ser>
        <c:dLbls>
          <c:dLblPos val="outEnd"/>
          <c:showLegendKey val="0"/>
          <c:showVal val="1"/>
          <c:showCatName val="0"/>
          <c:showSerName val="0"/>
          <c:showPercent val="0"/>
          <c:showBubbleSize val="0"/>
          <c:showLeaderLines val="1"/>
        </c:dLbls>
        <c:gapWidth val="40"/>
        <c:axId val="-2068027336"/>
        <c:axId val="-2113994440"/>
      </c:barChart>
      <c:catAx>
        <c:axId val="-2068027336"/>
        <c:scaling>
          <c:orientation val="maxMin"/>
        </c:scaling>
        <c:delete val="0"/>
        <c:axPos val="l"/>
        <c:majorTickMark val="out"/>
        <c:minorTickMark val="none"/>
        <c:tickLblPos val="nextTo"/>
        <c:spPr>
          <a:ln>
            <a:solidFill>
              <a:srgbClr val="CBD1D6"/>
            </a:solidFill>
          </a:ln>
        </c:spPr>
        <c:txPr>
          <a:bodyPr/>
          <a:lstStyle/>
          <a:p>
            <a:pPr>
              <a:defRPr sz="1200">
                <a:solidFill>
                  <a:srgbClr val="4A5568"/>
                </a:solidFill>
              </a:defRPr>
            </a:pPr>
          </a:p>
        </c:txPr>
        <c:crossAx val="-2113994440"/>
        <c:crosses val="autoZero"/>
        <c:auto val="1"/>
        <c:lblAlgn val="ctr"/>
        <c:lblOffset val="100"/>
        <c:noMultiLvlLbl val="0"/>
      </c:catAx>
      <c:valAx>
        <c:axId val="-2113994440"/>
        <c:scaling>
          <c:max val="0.058"/>
          <c:min val="0.0"/>
        </c:scaling>
        <c:delete/>
        <c:axPos val="b"/>
        <c:majorTickMark val="out"/>
        <c:minorTickMark val="none"/>
        <c:tickLblPos val="nextTo"/>
        <c:spPr>
          <a:ln>
            <a:noFill/>
          </a:ln>
        </c:spPr>
        <c:crossAx val="-2068027336"/>
        <c:crosses val="autoZero"/>
      </c:valAx>
    </c:plotArea>
    <c:dispBlanksAs val="gap"/>
  </c:chart>
  <c:txPr>
    <a:bodyPr/>
    <a:lstStyle/>
    <a:p>
      <a:pPr>
        <a:defRPr sz="1300">
          <a:solidFill>
            <a:srgbClr val="4A5568"/>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Ours: 10 it grid + local search</c:v>
                </c:pt>
              </c:strCache>
            </c:strRef>
          </c:tx>
          <c:spPr>
            <a:solidFill>
              <a:srgbClr val="1F7A6D"/>
            </a:solidFill>
          </c:spPr>
          <c:dLbls>
            <c:dLbl>
              <c:idx val="0"/>
              <c:tx>
                <c:rich>
                  <a:bodyPr/>
                  <a:lstStyle/>
                  <a:p>
                    <a:r>
                      <a:rPr sz="1000" b="1">
                        <a:solidFill>
                          <a:srgbClr val="1F7A6D"/>
                        </a:solidFill>
                        <a:latin typeface="Calibri"/>
                      </a:rPr>
                      <a:t>0.58</a:t>
                    </a:r>
                  </a:p>
                </c:rich>
              </c:tx>
              <c:dLblPos val="outEnd"/>
              <c:showLegendKey val="0"/>
              <c:showVal val="1"/>
              <c:showCatName val="0"/>
              <c:showSerName val="0"/>
              <c:showPercent val="0"/>
              <c:showBubbleSize val="0"/>
            </c:dLbl>
            <c:dLbl>
              <c:idx val="1"/>
              <c:tx>
                <c:rich>
                  <a:bodyPr/>
                  <a:lstStyle/>
                  <a:p>
                    <a:r>
                      <a:rPr sz="1000" b="1">
                        <a:solidFill>
                          <a:srgbClr val="1F7A6D"/>
                        </a:solidFill>
                        <a:latin typeface="Calibri"/>
                      </a:rPr>
                      <a:t>0.00</a:t>
                    </a:r>
                  </a:p>
                </c:rich>
              </c:tx>
              <c:dLblPos val="outEnd"/>
              <c:showLegendKey val="0"/>
              <c:showVal val="1"/>
              <c:showCatName val="0"/>
              <c:showSerName val="0"/>
              <c:showPercent val="0"/>
              <c:showBubbleSize val="0"/>
            </c:dLbl>
            <c:dLbl>
              <c:idx val="2"/>
              <c:tx>
                <c:rich>
                  <a:bodyPr/>
                  <a:lstStyle/>
                  <a:p>
                    <a:r>
                      <a:rPr sz="1000" b="1">
                        <a:solidFill>
                          <a:srgbClr val="1F7A6D"/>
                        </a:solidFill>
                        <a:latin typeface="Calibri"/>
                      </a:rPr>
                      <a:t>0.67</a:t>
                    </a:r>
                  </a:p>
                </c:rich>
              </c:tx>
              <c:dLblPos val="outEnd"/>
              <c:showLegendKey val="0"/>
              <c:showVal val="1"/>
              <c:showCatName val="0"/>
              <c:showSerName val="0"/>
              <c:showPercent val="0"/>
              <c:showBubbleSize val="0"/>
            </c:dLbl>
            <c:dLbl>
              <c:idx val="3"/>
              <c:tx>
                <c:rich>
                  <a:bodyPr/>
                  <a:lstStyle/>
                  <a:p>
                    <a:r>
                      <a:rPr sz="1000" b="1">
                        <a:solidFill>
                          <a:srgbClr val="1F7A6D"/>
                        </a:solidFill>
                        <a:latin typeface="Calibri"/>
                      </a:rPr>
                      <a:t>5.87</a:t>
                    </a:r>
                  </a:p>
                </c:rich>
              </c:tx>
              <c:dLblPos val="outEnd"/>
              <c:showLegendKey val="0"/>
              <c:showVal val="1"/>
              <c:showCatName val="0"/>
              <c:showSerName val="0"/>
              <c:showPercent val="0"/>
              <c:showBubbleSize val="0"/>
            </c:dLbl>
            <c:dLbl>
              <c:idx val="4"/>
              <c:tx>
                <c:rich>
                  <a:bodyPr/>
                  <a:lstStyle/>
                  <a:p>
                    <a:r>
                      <a:rPr sz="1000" b="1">
                        <a:solidFill>
                          <a:srgbClr val="1F7A6D"/>
                        </a:solidFill>
                        <a:latin typeface="Calibri"/>
                      </a:rPr>
                      <a:t>1.30</a:t>
                    </a:r>
                  </a:p>
                </c:rich>
              </c:tx>
              <c:dLblPos val="outEnd"/>
              <c:showLegendKey val="0"/>
              <c:showVal val="1"/>
              <c:showCatName val="0"/>
              <c:showSerName val="0"/>
              <c:showPercent val="0"/>
              <c:showBubbleSize val="0"/>
            </c:dLbl>
            <c:dLbl>
              <c:idx val="5"/>
              <c:tx>
                <c:rich>
                  <a:bodyPr/>
                  <a:lstStyle/>
                  <a:p>
                    <a:r>
                      <a:rPr sz="1000" b="1">
                        <a:solidFill>
                          <a:srgbClr val="1F7A6D"/>
                        </a:solidFill>
                        <a:latin typeface="Calibri"/>
                      </a:rPr>
                      <a:t>1.17</a:t>
                    </a:r>
                  </a:p>
                </c:rich>
              </c:tx>
              <c:dLblPos val="outEnd"/>
              <c:showLegendKey val="0"/>
              <c:showVal val="1"/>
              <c:showCatName val="0"/>
              <c:showSerName val="0"/>
              <c:showPercent val="0"/>
              <c:showBubbleSize val="0"/>
            </c:dLbl>
            <c:dLbl>
              <c:idx val="6"/>
              <c:tx>
                <c:rich>
                  <a:bodyPr/>
                  <a:lstStyle/>
                  <a:p>
                    <a:r>
                      <a:rPr sz="1000" b="1">
                        <a:solidFill>
                          <a:srgbClr val="1F7A6D"/>
                        </a:solidFill>
                        <a:latin typeface="Calibri"/>
                      </a:rPr>
                      <a:t>3.42</a:t>
                    </a:r>
                  </a:p>
                </c:rich>
              </c:tx>
              <c:dLblPos val="outEnd"/>
              <c:showLegendKey val="0"/>
              <c:showVal val="1"/>
              <c:showCatName val="0"/>
              <c:showSerName val="0"/>
              <c:showPercent val="0"/>
              <c:showBubbleSize val="0"/>
            </c:dLbl>
            <c:dLbl>
              <c:idx val="7"/>
              <c:tx>
                <c:rich>
                  <a:bodyPr/>
                  <a:lstStyle/>
                  <a:p>
                    <a:r>
                      <a:rPr sz="1000" b="1">
                        <a:solidFill>
                          <a:srgbClr val="1F7A6D"/>
                        </a:solidFill>
                        <a:latin typeface="Calibri"/>
                      </a:rPr>
                      <a:t>2.04</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p1</c:v>
                </c:pt>
                <c:pt idx="1">
                  <c:v>p2</c:v>
                </c:pt>
                <c:pt idx="2">
                  <c:v>p3</c:v>
                </c:pt>
                <c:pt idx="3">
                  <c:v>p4</c:v>
                </c:pt>
                <c:pt idx="4">
                  <c:v>p5</c:v>
                </c:pt>
                <c:pt idx="5">
                  <c:v>p6</c:v>
                </c:pt>
                <c:pt idx="6">
                  <c:v>p7</c:v>
                </c:pt>
                <c:pt idx="7">
                  <c:v>All</c:v>
                </c:pt>
              </c:strCache>
            </c:strRef>
          </c:cat>
          <c:val>
            <c:numRef>
              <c:f>Sheet1!$B$2:$B$9</c:f>
              <c:numCache>
                <c:formatCode>General</c:formatCode>
                <c:ptCount val="8"/>
                <c:pt idx="0">
                  <c:v>0.0058</c:v>
                </c:pt>
                <c:pt idx="1">
                  <c:v>0.0</c:v>
                </c:pt>
                <c:pt idx="2">
                  <c:v>0.0067</c:v>
                </c:pt>
                <c:pt idx="3">
                  <c:v>0.0587</c:v>
                </c:pt>
                <c:pt idx="4">
                  <c:v>0.013000000000000001</c:v>
                </c:pt>
                <c:pt idx="5">
                  <c:v>0.011699999999999999</c:v>
                </c:pt>
                <c:pt idx="6">
                  <c:v>0.0342</c:v>
                </c:pt>
                <c:pt idx="7">
                  <c:v>0.0204</c:v>
                </c:pt>
              </c:numCache>
            </c:numRef>
          </c:val>
        </c:ser>
        <c:ser>
          <c:idx val="1"/>
          <c:order val="1"/>
          <c:tx>
            <c:strRef>
              <c:f>Sheet1!$C$1</c:f>
              <c:strCache>
                <c:ptCount val="1"/>
                <c:pt idx="0">
                  <c:v>Panadero, 128 threads (Figure 4)</c:v>
                </c:pt>
              </c:strCache>
            </c:strRef>
          </c:tx>
          <c:spPr>
            <a:solidFill>
              <a:srgbClr val="E07040"/>
            </a:solidFill>
          </c:spPr>
          <c:dLbls>
            <c:dLbl>
              <c:idx val="0"/>
              <c:tx>
                <c:rich>
                  <a:bodyPr/>
                  <a:lstStyle/>
                  <a:p>
                    <a:r>
                      <a:rPr sz="1000" b="1">
                        <a:solidFill>
                          <a:srgbClr val="B5471E"/>
                        </a:solidFill>
                        <a:latin typeface="Calibri"/>
                      </a:rPr>
                      <a:t>0.69</a:t>
                    </a:r>
                  </a:p>
                </c:rich>
              </c:tx>
              <c:dLblPos val="outEnd"/>
              <c:showLegendKey val="0"/>
              <c:showVal val="1"/>
              <c:showCatName val="0"/>
              <c:showSerName val="0"/>
              <c:showPercent val="0"/>
              <c:showBubbleSize val="0"/>
            </c:dLbl>
            <c:dLbl>
              <c:idx val="1"/>
              <c:tx>
                <c:rich>
                  <a:bodyPr/>
                  <a:lstStyle/>
                  <a:p>
                    <a:r>
                      <a:rPr sz="1000" b="1">
                        <a:solidFill>
                          <a:srgbClr val="B5471E"/>
                        </a:solidFill>
                        <a:latin typeface="Calibri"/>
                      </a:rPr>
                      <a:t>0.11</a:t>
                    </a:r>
                  </a:p>
                </c:rich>
              </c:tx>
              <c:dLblPos val="outEnd"/>
              <c:showLegendKey val="0"/>
              <c:showVal val="1"/>
              <c:showCatName val="0"/>
              <c:showSerName val="0"/>
              <c:showPercent val="0"/>
              <c:showBubbleSize val="0"/>
            </c:dLbl>
            <c:dLbl>
              <c:idx val="2"/>
              <c:tx>
                <c:rich>
                  <a:bodyPr/>
                  <a:lstStyle/>
                  <a:p>
                    <a:r>
                      <a:rPr sz="1000" b="1">
                        <a:solidFill>
                          <a:srgbClr val="B5471E"/>
                        </a:solidFill>
                        <a:latin typeface="Calibri"/>
                      </a:rPr>
                      <a:t>1.44</a:t>
                    </a:r>
                  </a:p>
                </c:rich>
              </c:tx>
              <c:dLblPos val="outEnd"/>
              <c:showLegendKey val="0"/>
              <c:showVal val="1"/>
              <c:showCatName val="0"/>
              <c:showSerName val="0"/>
              <c:showPercent val="0"/>
              <c:showBubbleSize val="0"/>
            </c:dLbl>
            <c:dLbl>
              <c:idx val="3"/>
              <c:tx>
                <c:rich>
                  <a:bodyPr/>
                  <a:lstStyle/>
                  <a:p>
                    <a:r>
                      <a:rPr sz="1000" b="1">
                        <a:solidFill>
                          <a:srgbClr val="B5471E"/>
                        </a:solidFill>
                        <a:latin typeface="Calibri"/>
                      </a:rPr>
                      <a:t>7.97</a:t>
                    </a:r>
                  </a:p>
                </c:rich>
              </c:tx>
              <c:dLblPos val="outEnd"/>
              <c:showLegendKey val="0"/>
              <c:showVal val="1"/>
              <c:showCatName val="0"/>
              <c:showSerName val="0"/>
              <c:showPercent val="0"/>
              <c:showBubbleSize val="0"/>
            </c:dLbl>
            <c:dLbl>
              <c:idx val="4"/>
              <c:tx>
                <c:rich>
                  <a:bodyPr/>
                  <a:lstStyle/>
                  <a:p>
                    <a:r>
                      <a:rPr sz="1000" b="1">
                        <a:solidFill>
                          <a:srgbClr val="B5471E"/>
                        </a:solidFill>
                        <a:latin typeface="Calibri"/>
                      </a:rPr>
                      <a:t>1.46</a:t>
                    </a:r>
                  </a:p>
                </c:rich>
              </c:tx>
              <c:dLblPos val="outEnd"/>
              <c:showLegendKey val="0"/>
              <c:showVal val="1"/>
              <c:showCatName val="0"/>
              <c:showSerName val="0"/>
              <c:showPercent val="0"/>
              <c:showBubbleSize val="0"/>
            </c:dLbl>
            <c:dLbl>
              <c:idx val="5"/>
              <c:tx>
                <c:rich>
                  <a:bodyPr/>
                  <a:lstStyle/>
                  <a:p>
                    <a:r>
                      <a:rPr sz="1000" b="1">
                        <a:solidFill>
                          <a:srgbClr val="B5471E"/>
                        </a:solidFill>
                        <a:latin typeface="Calibri"/>
                      </a:rPr>
                      <a:t>1.42</a:t>
                    </a:r>
                  </a:p>
                </c:rich>
              </c:tx>
              <c:dLblPos val="outEnd"/>
              <c:showLegendKey val="0"/>
              <c:showVal val="1"/>
              <c:showCatName val="0"/>
              <c:showSerName val="0"/>
              <c:showPercent val="0"/>
              <c:showBubbleSize val="0"/>
            </c:dLbl>
            <c:dLbl>
              <c:idx val="6"/>
              <c:tx>
                <c:rich>
                  <a:bodyPr/>
                  <a:lstStyle/>
                  <a:p>
                    <a:r>
                      <a:rPr sz="1000" b="1">
                        <a:solidFill>
                          <a:srgbClr val="B5471E"/>
                        </a:solidFill>
                        <a:latin typeface="Calibri"/>
                      </a:rPr>
                      <a:t>5.10</a:t>
                    </a:r>
                  </a:p>
                </c:rich>
              </c:tx>
              <c:dLblPos val="outEnd"/>
              <c:showLegendKey val="0"/>
              <c:showVal val="1"/>
              <c:showCatName val="0"/>
              <c:showSerName val="0"/>
              <c:showPercent val="0"/>
              <c:showBubbleSize val="0"/>
            </c:dLbl>
            <c:dLbl>
              <c:idx val="7"/>
              <c:tx>
                <c:rich>
                  <a:bodyPr/>
                  <a:lstStyle/>
                  <a:p>
                    <a:r>
                      <a:rPr sz="1000" b="1">
                        <a:solidFill>
                          <a:srgbClr val="B5471E"/>
                        </a:solidFill>
                        <a:latin typeface="Calibri"/>
                      </a:rPr>
                      <a:t>2.85</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Sheet1!$A$2:$A$9</c:f>
              <c:strCache>
                <c:ptCount val="8"/>
                <c:pt idx="0">
                  <c:v>p1</c:v>
                </c:pt>
                <c:pt idx="1">
                  <c:v>p2</c:v>
                </c:pt>
                <c:pt idx="2">
                  <c:v>p3</c:v>
                </c:pt>
                <c:pt idx="3">
                  <c:v>p4</c:v>
                </c:pt>
                <c:pt idx="4">
                  <c:v>p5</c:v>
                </c:pt>
                <c:pt idx="5">
                  <c:v>p6</c:v>
                </c:pt>
                <c:pt idx="6">
                  <c:v>p7</c:v>
                </c:pt>
                <c:pt idx="7">
                  <c:v>All</c:v>
                </c:pt>
              </c:strCache>
            </c:strRef>
          </c:cat>
          <c:val>
            <c:numRef>
              <c:f>Sheet1!$C$2:$C$9</c:f>
              <c:numCache>
                <c:formatCode>General</c:formatCode>
                <c:ptCount val="8"/>
                <c:pt idx="0">
                  <c:v>0.0069</c:v>
                </c:pt>
                <c:pt idx="1">
                  <c:v>0.0011</c:v>
                </c:pt>
                <c:pt idx="2">
                  <c:v>0.0144</c:v>
                </c:pt>
                <c:pt idx="3">
                  <c:v>0.0797</c:v>
                </c:pt>
                <c:pt idx="4">
                  <c:v>0.0146</c:v>
                </c:pt>
                <c:pt idx="5">
                  <c:v>0.014199999999999999</c:v>
                </c:pt>
                <c:pt idx="6">
                  <c:v>0.051</c:v>
                </c:pt>
                <c:pt idx="7">
                  <c:v>0.0285</c:v>
                </c:pt>
              </c:numCache>
            </c:numRef>
          </c:val>
        </c:ser>
        <c:gapWidth val="45"/>
        <c:axId val="-2068027336"/>
        <c:axId val="-2113994440"/>
      </c:barChart>
      <c:catAx>
        <c:axId val="-2068027336"/>
        <c:scaling>
          <c:orientation val="minMax"/>
        </c:scaling>
        <c:delete val="0"/>
        <c:axPos val="b"/>
        <c:majorTickMark val="out"/>
        <c:minorTickMark val="none"/>
        <c:tickLblPos val="nextTo"/>
        <c:spPr>
          <a:ln>
            <a:solidFill>
              <a:srgbClr val="CBD1D6"/>
            </a:solidFill>
          </a:ln>
        </c:spPr>
        <c:txPr>
          <a:bodyPr/>
          <a:lstStyle/>
          <a:p>
            <a:pPr>
              <a:defRPr sz="1200">
                <a:solidFill>
                  <a:srgbClr val="4A5568"/>
                </a:solidFill>
              </a:defRPr>
            </a:pPr>
          </a:p>
        </c:txPr>
        <c:crossAx val="-2113994440"/>
        <c:crosses val="autoZero"/>
        <c:auto val="1"/>
        <c:lblAlgn val="ctr"/>
        <c:lblOffset val="100"/>
        <c:noMultiLvlLbl val="0"/>
      </c:catAx>
      <c:valAx>
        <c:axId val="-2113994440"/>
        <c:scaling>
          <c:max val="0.09"/>
          <c:min val="0.0"/>
        </c:scaling>
        <c:delete/>
        <c:axPos val="l"/>
        <c:majorTickMark val="out"/>
        <c:minorTickMark val="none"/>
        <c:tickLblPos val="nextTo"/>
        <c:spPr>
          <a:ln>
            <a:noFill/>
          </a:ln>
        </c:spPr>
        <c:crossAx val="-2068027336"/>
        <c:crosses val="autoZero"/>
      </c:valAx>
    </c:plotArea>
    <c:legend>
      <c:legendPos val="t"/>
      <c:overlay val="0"/>
      <c:txPr>
        <a:bodyPr/>
        <a:lstStyle/>
        <a:p>
          <a:pPr>
            <a:defRPr sz="1200"/>
          </a:pPr>
        </a:p>
      </c:txPr>
    </c:legend>
    <c:dispBlanksAs val="gap"/>
  </c:chart>
  <c:txPr>
    <a:bodyPr/>
    <a:lstStyle/>
    <a:p>
      <a:pPr>
        <a:defRPr sz="1200">
          <a:solidFill>
            <a:srgbClr val="4A5568"/>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Presentamos la práctica del TOP: implementamos la heurística de ahorros de Panadero (PJS), la convertimos en GRASP y añadimos una búsqueda local. Todo en Rust, sobre las 387 instancias de Chao.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TOP: cada cliente tiene recompensa, m vehículos, límite de tiempo por ruta. Se maximiza la recompensa recogida. Origen y destino son distintos en p1-p6 y coinciden en p7.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Heurística PJS: solución dummy, ahorro enriquecido, fusión voraz y selección de las m mejores rutas. Usamos arcos en los dos sentidos porque con origen y destino distintos el ahorro depende del sentido.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paper no da valor de alfa, solo la regla cualitativa. En Chao no se cumple: el CV es el mismo en todo un conjunto y el alfa óptimo no baja al subir el CV. Las reglas basadas en el CV que probamos no superaron a un alfa fijo, así que usamos una rejilla de 21 valores.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iteración es una construcción aleatorizada completa; una ejecución es el multiarranque. Probamos la geométrica del paper y un softmax. Dentro de GRASP no hay búsqueda local.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búsqueda local va al final, no dentro de GRASP. Élite por recompensa con empates y sin duplicados. Bucle de 2-opt e inserción: tras acortar las rutas se intenta meter el cliente de mayor recompensa que quepa.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Pseudocódigo completo. Por instancia: 21 alfas; en cada uno, la construcción determinista y 10 ejecuciones de cada aleatorización. Cada ejecución es una tarea paralela: siembra su generador una vez y hace 10 iteraciones en serie, cada una una construcción aleatoria completa. Después se eligen las élite, se quitan los duplicados y se aplica la búsqueda local. La búsqueda local alterna 2-opt e inserción hasta que no cabe ningún cliente más.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qué Rust. Velocidad: es compilado; no lo hemos medido contra Python, pero la rejilla completa tarda 140 s. Paralelismo: con rayon basta cambiar iter por par_iter, y el compilador impide las carreras de datos. Como el código lo escribe sobre todo una IA, la ventaja de Python de escribirse más rápido apenas cuenta. Y los mensajes del compilador de Rust son muy descriptivos, lo que ayuda a la IA a corregir sus errores.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Resultados de la rejilla principal sobre las 353 instancias factibles. GRASP añade un 8 %, la búsqueda local sobre las élite lleva el total a +20 %. En 163 instancias la mejor final no salía de la mejor élite previa: por eso aplicamos la búsqueda local a muchas soluciones y no solo a la mejor.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Ejemplo: p4.3.k. La determinista recoge 614. La mejor élite (una ejecución geométrica con alfa 0.45) tenía 625 y la búsqueda local le inserta 19 clientes hasta 874.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Por conjunto: en p1-p3 hay poco margen. Donde más aporta es en p4 y p7, de 100 nodos. El paper solo publica instancia a instancia p1 y p2; de p3 a p7 da medias por conjunto, que vemos dos diapositivas después.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Comparación con las tablas 3 y 4 de Panadero (p1 y p2). Sin búsqueda local, ni la mejor variante de GRASP alcanza a Panadero con 128 hilos. Con búsqueda local, todas las variantes con rejilla le ganan. La mejor, 1 s con la rejilla, queda a un 0,15 % y alcanza el BKS en 77 de 81.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Agregados por conjunto. Panadero solo publica, en su figura 4, la distancia media al BKS de cada conjunto con 128 hilos. Para compararnos conseguimos el BKS de las 387 instancias de los resultados públicos de PSOiA, que coinciden con los de Panadero en p1 y p2. Con la rejilla barata, de 10 iteraciones, más la búsqueda local, quedamos por debajo de Panadero en los siete conjuntos: 2,04 % frente a 2,85 % de media. Y ninguna de las 353 soluciones supera el BKS, otra señal de que las rutas son factibles.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rejilla de 100 iteraciones hace unas 42 000 construcciones por instancia y empata con 1 s del mejor alfa, que hace unas 900 000. Diversificar alfa rinde más que iterar más con uno solo. Ojo: una ejecución nuestra de 1 s rinde algo menos que una de Panadero.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Conclusión: la diversidad (rejilla de alfa y aleatorización) da buenas élite y la búsqueda local las convierte en la solución final. Quedamos por debajo de Panadero con 128 hilos en los siete conjuntos. Limitaciones: cómputo no igualado, 1 s no reproducible, y de p3 a p7 el paper solo da medias por conjunto. Pendiente: movimientos entre rutas e intercambios.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12B"/>
        </a:solidFill>
        <a:effectLst/>
      </p:bgPr>
    </p:bg>
    <p:spTree>
      <p:nvGrpSpPr>
        <p:cNvPr id="1" name=""/>
        <p:cNvGrpSpPr/>
        <p:nvPr/>
      </p:nvGrpSpPr>
      <p:grpSpPr/>
      <p:sp>
        <p:nvSpPr>
          <p:cNvPr id="2" name="TextBox 1"/>
          <p:cNvSpPr txBox="1"/>
          <p:nvPr/>
        </p:nvSpPr>
        <p:spPr>
          <a:xfrm>
            <a:off x="822960" y="868680"/>
            <a:ext cx="9144000" cy="274320"/>
          </a:xfrm>
          <a:prstGeom prst="rect">
            <a:avLst/>
          </a:prstGeom>
          <a:noFill/>
        </p:spPr>
        <p:txBody>
          <a:bodyPr wrap="square" lIns="0" rIns="0" tIns="0" bIns="0" anchor="t">
            <a:spAutoFit/>
          </a:bodyPr>
          <a:lstStyle/>
          <a:p>
            <a:pPr algn="l">
              <a:spcAft>
                <a:spcPts val="0"/>
              </a:spcAft>
            </a:pPr>
            <a:r>
              <a:rPr sz="1400" b="1" i="0">
                <a:solidFill>
                  <a:srgbClr val="2A9D8F"/>
                </a:solidFill>
                <a:latin typeface="Calibri"/>
              </a:rPr>
              <a:t>LAB ACTIVITY · TEAM ORIENTEERING PROBLEM</a:t>
            </a:r>
          </a:p>
        </p:txBody>
      </p:sp>
      <p:sp>
        <p:nvSpPr>
          <p:cNvPr id="3" name="TextBox 2"/>
          <p:cNvSpPr txBox="1"/>
          <p:nvPr/>
        </p:nvSpPr>
        <p:spPr>
          <a:xfrm>
            <a:off x="822960" y="2331720"/>
            <a:ext cx="10543032" cy="2011680"/>
          </a:xfrm>
          <a:prstGeom prst="rect">
            <a:avLst/>
          </a:prstGeom>
          <a:noFill/>
        </p:spPr>
        <p:txBody>
          <a:bodyPr wrap="square" lIns="0" rIns="0" tIns="0" bIns="0" anchor="b">
            <a:spAutoFit/>
          </a:bodyPr>
          <a:lstStyle/>
          <a:p>
            <a:pPr algn="l">
              <a:spcAft>
                <a:spcPts val="0"/>
              </a:spcAft>
            </a:pPr>
            <a:r>
              <a:rPr sz="3800" b="1" i="0">
                <a:solidFill>
                  <a:srgbClr val="F7F5EF"/>
                </a:solidFill>
                <a:latin typeface="Arial"/>
              </a:rPr>
              <a:t>Savings, GRASP and local search
for the team orienteering problem</a:t>
            </a:r>
          </a:p>
        </p:txBody>
      </p:sp>
      <p:sp>
        <p:nvSpPr>
          <p:cNvPr id="4" name="TextBox 3"/>
          <p:cNvSpPr txBox="1"/>
          <p:nvPr/>
        </p:nvSpPr>
        <p:spPr>
          <a:xfrm>
            <a:off x="822960" y="4572000"/>
            <a:ext cx="10543032" cy="731520"/>
          </a:xfrm>
          <a:prstGeom prst="rect">
            <a:avLst/>
          </a:prstGeom>
          <a:noFill/>
        </p:spPr>
        <p:txBody>
          <a:bodyPr wrap="square" lIns="0" rIns="0" tIns="0" bIns="0" anchor="t">
            <a:spAutoFit/>
          </a:bodyPr>
          <a:lstStyle/>
          <a:p>
            <a:pPr algn="l">
              <a:spcAft>
                <a:spcPts val="0"/>
              </a:spcAft>
            </a:pPr>
            <a:r>
              <a:rPr sz="1800" b="0" i="0">
                <a:solidFill>
                  <a:srgbClr val="C9D6DA"/>
                </a:solidFill>
                <a:latin typeface="Calibri"/>
              </a:rPr>
              <a:t>The heuristic of Panadero et al. (2021), rebuilt in Rust and run on all 387 instances of Chao et al. (1996)</a:t>
            </a:r>
          </a:p>
        </p:txBody>
      </p:sp>
      <p:sp>
        <p:nvSpPr>
          <p:cNvPr id="5" name="TextBox 4"/>
          <p:cNvSpPr txBox="1"/>
          <p:nvPr/>
        </p:nvSpPr>
        <p:spPr>
          <a:xfrm>
            <a:off x="822960" y="6035040"/>
            <a:ext cx="10543032" cy="274320"/>
          </a:xfrm>
          <a:prstGeom prst="rect">
            <a:avLst/>
          </a:prstGeom>
          <a:noFill/>
        </p:spPr>
        <p:txBody>
          <a:bodyPr wrap="square" lIns="0" rIns="0" tIns="0" bIns="0" anchor="t">
            <a:spAutoFit/>
          </a:bodyPr>
          <a:lstStyle/>
          <a:p>
            <a:pPr algn="l">
              <a:spcAft>
                <a:spcPts val="0"/>
              </a:spcAft>
            </a:pPr>
            <a:r>
              <a:rPr sz="1300" b="0" i="0">
                <a:solidFill>
                  <a:srgbClr val="8FA0A8"/>
                </a:solidFill>
                <a:latin typeface="Calibri"/>
              </a:rPr>
              <a:t>Jesús Inurria Porrero · Javier Salvatierra Corchado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The team orienteering problem</a:t>
            </a:r>
          </a:p>
        </p:txBody>
      </p:sp>
      <p:sp>
        <p:nvSpPr>
          <p:cNvPr id="3" name="TextBox 2"/>
          <p:cNvSpPr txBox="1"/>
          <p:nvPr/>
        </p:nvSpPr>
        <p:spPr>
          <a:xfrm>
            <a:off x="822960" y="1783080"/>
            <a:ext cx="4297680" cy="914400"/>
          </a:xfrm>
          <a:prstGeom prst="rect">
            <a:avLst/>
          </a:prstGeom>
          <a:noFill/>
        </p:spPr>
        <p:txBody>
          <a:bodyPr wrap="square" lIns="0" rIns="0" tIns="0" bIns="0" anchor="ctr">
            <a:spAutoFit/>
          </a:bodyPr>
          <a:lstStyle/>
          <a:p>
            <a:pPr algn="l">
              <a:spcAft>
                <a:spcPts val="0"/>
              </a:spcAft>
            </a:pPr>
            <a:r>
              <a:rPr sz="1800" b="0" i="0">
                <a:solidFill>
                  <a:srgbClr val="4A5568"/>
                </a:solidFill>
                <a:latin typeface="Calibri"/>
              </a:rPr>
              <a:t>Every customer carries a reward.</a:t>
            </a:r>
          </a:p>
        </p:txBody>
      </p:sp>
      <p:cxnSp>
        <p:nvCxnSpPr>
          <p:cNvPr id="4" name="Connector 3"/>
          <p:cNvCxnSpPr/>
          <p:nvPr/>
        </p:nvCxnSpPr>
        <p:spPr>
          <a:xfrm>
            <a:off x="822960" y="2697480"/>
            <a:ext cx="4297680" cy="0"/>
          </a:xfrm>
          <a:prstGeom prst="line">
            <a:avLst/>
          </a:prstGeom>
          <a:ln w="12700">
            <a:solidFill>
              <a:srgbClr val="CBD1D6"/>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822960" y="2697480"/>
            <a:ext cx="4297680" cy="914400"/>
          </a:xfrm>
          <a:prstGeom prst="rect">
            <a:avLst/>
          </a:prstGeom>
          <a:noFill/>
        </p:spPr>
        <p:txBody>
          <a:bodyPr wrap="square" lIns="0" rIns="0" tIns="0" bIns="0" anchor="ctr">
            <a:spAutoFit/>
          </a:bodyPr>
          <a:lstStyle/>
          <a:p>
            <a:pPr algn="l">
              <a:spcAft>
                <a:spcPts val="0"/>
              </a:spcAft>
            </a:pPr>
            <a:r>
              <a:rPr sz="1800" b="0" i="0">
                <a:solidFill>
                  <a:srgbClr val="4A5568"/>
                </a:solidFill>
                <a:latin typeface="Calibri"/>
              </a:rPr>
              <a:t>m vehicles leave the origin and must reach the end depot.</a:t>
            </a:r>
          </a:p>
        </p:txBody>
      </p:sp>
      <p:cxnSp>
        <p:nvCxnSpPr>
          <p:cNvPr id="6" name="Connector 5"/>
          <p:cNvCxnSpPr/>
          <p:nvPr/>
        </p:nvCxnSpPr>
        <p:spPr>
          <a:xfrm>
            <a:off x="822960" y="3611880"/>
            <a:ext cx="4297680" cy="0"/>
          </a:xfrm>
          <a:prstGeom prst="line">
            <a:avLst/>
          </a:prstGeom>
          <a:ln w="12700">
            <a:solidFill>
              <a:srgbClr val="CBD1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3611880"/>
            <a:ext cx="4297680" cy="914400"/>
          </a:xfrm>
          <a:prstGeom prst="rect">
            <a:avLst/>
          </a:prstGeom>
          <a:noFill/>
        </p:spPr>
        <p:txBody>
          <a:bodyPr wrap="square" lIns="0" rIns="0" tIns="0" bIns="0" anchor="ctr">
            <a:spAutoFit/>
          </a:bodyPr>
          <a:lstStyle/>
          <a:p>
            <a:pPr algn="l">
              <a:spcAft>
                <a:spcPts val="0"/>
              </a:spcAft>
            </a:pPr>
            <a:r>
              <a:rPr sz="1800" b="0" i="0">
                <a:solidFill>
                  <a:srgbClr val="4A5568"/>
                </a:solidFill>
                <a:latin typeface="Calibri"/>
              </a:rPr>
              <a:t>Each route must fit in a time limit tmax, so some customers stay unvisited.</a:t>
            </a:r>
          </a:p>
        </p:txBody>
      </p:sp>
      <p:cxnSp>
        <p:nvCxnSpPr>
          <p:cNvPr id="8" name="Connector 7"/>
          <p:cNvCxnSpPr/>
          <p:nvPr/>
        </p:nvCxnSpPr>
        <p:spPr>
          <a:xfrm>
            <a:off x="822960" y="4526280"/>
            <a:ext cx="4297680" cy="0"/>
          </a:xfrm>
          <a:prstGeom prst="line">
            <a:avLst/>
          </a:prstGeom>
          <a:ln w="12700">
            <a:solidFill>
              <a:srgbClr val="CBD1D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4617720"/>
            <a:ext cx="4297680" cy="548640"/>
          </a:xfrm>
          <a:prstGeom prst="rect">
            <a:avLst/>
          </a:prstGeom>
          <a:noFill/>
        </p:spPr>
        <p:txBody>
          <a:bodyPr wrap="square" lIns="0" rIns="0" tIns="0" bIns="0" anchor="t">
            <a:spAutoFit/>
          </a:bodyPr>
          <a:lstStyle/>
          <a:p>
            <a:pPr algn="l">
              <a:spcAft>
                <a:spcPts val="0"/>
              </a:spcAft>
            </a:pPr>
            <a:r>
              <a:rPr sz="2200" b="1" i="0">
                <a:solidFill>
                  <a:srgbClr val="1F7A6D"/>
                </a:solidFill>
                <a:latin typeface="Calibri"/>
              </a:rPr>
              <a:t>Maximise reward, not coverage.</a:t>
            </a:r>
          </a:p>
        </p:txBody>
      </p:sp>
      <p:cxnSp>
        <p:nvCxnSpPr>
          <p:cNvPr id="10" name="Connector 9"/>
          <p:cNvCxnSpPr/>
          <p:nvPr/>
        </p:nvCxnSpPr>
        <p:spPr>
          <a:xfrm flipV="1">
            <a:off x="5760720" y="2377440"/>
            <a:ext cx="914400" cy="1051560"/>
          </a:xfrm>
          <a:prstGeom prst="line">
            <a:avLst/>
          </a:prstGeom>
          <a:ln w="28575">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675120" y="1965960"/>
            <a:ext cx="1188720" cy="411480"/>
          </a:xfrm>
          <a:prstGeom prst="line">
            <a:avLst/>
          </a:prstGeom>
          <a:ln w="28575">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863840" y="1965960"/>
            <a:ext cx="1280160" cy="182880"/>
          </a:xfrm>
          <a:prstGeom prst="line">
            <a:avLst/>
          </a:prstGeom>
          <a:ln w="28575">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9144000" y="2148840"/>
            <a:ext cx="1005840" cy="502920"/>
          </a:xfrm>
          <a:prstGeom prst="line">
            <a:avLst/>
          </a:prstGeom>
          <a:ln w="28575">
            <a:solidFill>
              <a:srgbClr val="2A9D8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149840" y="2651760"/>
            <a:ext cx="731520" cy="777240"/>
          </a:xfrm>
          <a:prstGeom prst="line">
            <a:avLst/>
          </a:prstGeom>
          <a:ln w="28575">
            <a:solidFill>
              <a:srgbClr val="2A9D8F"/>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510528" y="2212848"/>
            <a:ext cx="329184" cy="32918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699248" y="1801368"/>
            <a:ext cx="329184" cy="32918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979408" y="1984248"/>
            <a:ext cx="329184" cy="32918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985248" y="2487168"/>
            <a:ext cx="329184" cy="329184"/>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5760720" y="3429000"/>
            <a:ext cx="1097280" cy="960120"/>
          </a:xfrm>
          <a:prstGeom prst="line">
            <a:avLst/>
          </a:prstGeom>
          <a:ln w="28575">
            <a:solidFill>
              <a:srgbClr val="E0704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58000" y="4389120"/>
            <a:ext cx="1280160" cy="411480"/>
          </a:xfrm>
          <a:prstGeom prst="line">
            <a:avLst/>
          </a:prstGeom>
          <a:ln w="28575">
            <a:solidFill>
              <a:srgbClr val="E0704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8138160" y="4480560"/>
            <a:ext cx="1280160" cy="320040"/>
          </a:xfrm>
          <a:prstGeom prst="line">
            <a:avLst/>
          </a:prstGeom>
          <a:ln w="28575">
            <a:solidFill>
              <a:srgbClr val="E0704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418320" y="3429000"/>
            <a:ext cx="1463040" cy="1051560"/>
          </a:xfrm>
          <a:prstGeom prst="line">
            <a:avLst/>
          </a:prstGeom>
          <a:ln w="28575">
            <a:solidFill>
              <a:srgbClr val="E07040"/>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6693408" y="4224528"/>
            <a:ext cx="329184" cy="329184"/>
          </a:xfrm>
          <a:prstGeom prst="ellipse">
            <a:avLst/>
          </a:prstGeom>
          <a:solidFill>
            <a:srgbClr val="E07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7973568" y="4636008"/>
            <a:ext cx="329184" cy="329184"/>
          </a:xfrm>
          <a:prstGeom prst="ellipse">
            <a:avLst/>
          </a:prstGeom>
          <a:solidFill>
            <a:srgbClr val="E07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253728" y="4315968"/>
            <a:ext cx="329184" cy="329184"/>
          </a:xfrm>
          <a:prstGeom prst="ellipse">
            <a:avLst/>
          </a:prstGeom>
          <a:solidFill>
            <a:srgbClr val="E070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525512" y="3090672"/>
            <a:ext cx="310896" cy="310896"/>
          </a:xfrm>
          <a:prstGeom prst="ellipse">
            <a:avLst/>
          </a:prstGeom>
          <a:solidFill>
            <a:srgbClr val="CBD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622792" y="2907792"/>
            <a:ext cx="310896" cy="310896"/>
          </a:xfrm>
          <a:prstGeom prst="ellipse">
            <a:avLst/>
          </a:prstGeom>
          <a:solidFill>
            <a:srgbClr val="CBD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811512" y="3639312"/>
            <a:ext cx="310896" cy="310896"/>
          </a:xfrm>
          <a:prstGeom prst="ellipse">
            <a:avLst/>
          </a:prstGeom>
          <a:solidFill>
            <a:srgbClr val="CBD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954512" y="1627632"/>
            <a:ext cx="310896" cy="310896"/>
          </a:xfrm>
          <a:prstGeom prst="ellipse">
            <a:avLst/>
          </a:prstGeom>
          <a:solidFill>
            <a:srgbClr val="CBD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153912" y="1444752"/>
            <a:ext cx="310896" cy="310896"/>
          </a:xfrm>
          <a:prstGeom prst="ellipse">
            <a:avLst/>
          </a:prstGeom>
          <a:solidFill>
            <a:srgbClr val="CBD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817352" y="4828032"/>
            <a:ext cx="310896" cy="310896"/>
          </a:xfrm>
          <a:prstGeom prst="ellipse">
            <a:avLst/>
          </a:prstGeom>
          <a:solidFill>
            <a:srgbClr val="CBD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77840" y="3246120"/>
            <a:ext cx="365760" cy="365760"/>
          </a:xfrm>
          <a:prstGeom prst="rect">
            <a:avLst/>
          </a:prstGeom>
          <a:solidFill>
            <a:srgbClr val="12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Diamond 32"/>
          <p:cNvSpPr/>
          <p:nvPr/>
        </p:nvSpPr>
        <p:spPr>
          <a:xfrm>
            <a:off x="10698480" y="3246120"/>
            <a:ext cx="365760" cy="365760"/>
          </a:xfrm>
          <a:prstGeom prst="diamond">
            <a:avLst/>
          </a:prstGeom>
          <a:solidFill>
            <a:srgbClr val="1221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212080" y="3703320"/>
            <a:ext cx="1097280" cy="274320"/>
          </a:xfrm>
          <a:prstGeom prst="rect">
            <a:avLst/>
          </a:prstGeom>
          <a:noFill/>
        </p:spPr>
        <p:txBody>
          <a:bodyPr wrap="square" lIns="0" rIns="0" tIns="0" bIns="0" anchor="t">
            <a:spAutoFit/>
          </a:bodyPr>
          <a:lstStyle/>
          <a:p>
            <a:pPr algn="ctr">
              <a:spcAft>
                <a:spcPts val="0"/>
              </a:spcAft>
            </a:pPr>
            <a:r>
              <a:rPr sz="1300" b="1" i="0">
                <a:solidFill>
                  <a:srgbClr val="12212B"/>
                </a:solidFill>
                <a:latin typeface="Calibri"/>
              </a:rPr>
              <a:t>Origin</a:t>
            </a:r>
          </a:p>
        </p:txBody>
      </p:sp>
      <p:sp>
        <p:nvSpPr>
          <p:cNvPr id="35" name="TextBox 34"/>
          <p:cNvSpPr txBox="1"/>
          <p:nvPr/>
        </p:nvSpPr>
        <p:spPr>
          <a:xfrm>
            <a:off x="10195560" y="3703320"/>
            <a:ext cx="1371600" cy="274320"/>
          </a:xfrm>
          <a:prstGeom prst="rect">
            <a:avLst/>
          </a:prstGeom>
          <a:noFill/>
        </p:spPr>
        <p:txBody>
          <a:bodyPr wrap="square" lIns="0" rIns="0" tIns="0" bIns="0" anchor="t">
            <a:spAutoFit/>
          </a:bodyPr>
          <a:lstStyle/>
          <a:p>
            <a:pPr algn="ctr">
              <a:spcAft>
                <a:spcPts val="0"/>
              </a:spcAft>
            </a:pPr>
            <a:r>
              <a:rPr sz="1300" b="1" i="0">
                <a:solidFill>
                  <a:srgbClr val="12212B"/>
                </a:solidFill>
                <a:latin typeface="Calibri"/>
              </a:rPr>
              <a:t>End depot</a:t>
            </a:r>
          </a:p>
        </p:txBody>
      </p:sp>
      <p:sp>
        <p:nvSpPr>
          <p:cNvPr id="36" name="TextBox 35"/>
          <p:cNvSpPr txBox="1"/>
          <p:nvPr/>
        </p:nvSpPr>
        <p:spPr>
          <a:xfrm>
            <a:off x="7223760" y="1463040"/>
            <a:ext cx="1554480" cy="274320"/>
          </a:xfrm>
          <a:prstGeom prst="rect">
            <a:avLst/>
          </a:prstGeom>
          <a:noFill/>
        </p:spPr>
        <p:txBody>
          <a:bodyPr wrap="square" lIns="0" rIns="0" tIns="0" bIns="0" anchor="t">
            <a:spAutoFit/>
          </a:bodyPr>
          <a:lstStyle/>
          <a:p>
            <a:pPr algn="l">
              <a:spcAft>
                <a:spcPts val="0"/>
              </a:spcAft>
            </a:pPr>
            <a:r>
              <a:rPr sz="1400" b="1" i="0">
                <a:solidFill>
                  <a:srgbClr val="1F7A6D"/>
                </a:solidFill>
                <a:latin typeface="Calibri"/>
              </a:rPr>
              <a:t>Vehicle 1</a:t>
            </a:r>
          </a:p>
        </p:txBody>
      </p:sp>
      <p:sp>
        <p:nvSpPr>
          <p:cNvPr id="37" name="TextBox 36"/>
          <p:cNvSpPr txBox="1"/>
          <p:nvPr/>
        </p:nvSpPr>
        <p:spPr>
          <a:xfrm>
            <a:off x="7498079" y="5074920"/>
            <a:ext cx="1554480" cy="274320"/>
          </a:xfrm>
          <a:prstGeom prst="rect">
            <a:avLst/>
          </a:prstGeom>
          <a:noFill/>
        </p:spPr>
        <p:txBody>
          <a:bodyPr wrap="square" lIns="0" rIns="0" tIns="0" bIns="0" anchor="t">
            <a:spAutoFit/>
          </a:bodyPr>
          <a:lstStyle/>
          <a:p>
            <a:pPr algn="l">
              <a:spcAft>
                <a:spcPts val="0"/>
              </a:spcAft>
            </a:pPr>
            <a:r>
              <a:rPr sz="1400" b="1" i="0">
                <a:solidFill>
                  <a:srgbClr val="B5471E"/>
                </a:solidFill>
                <a:latin typeface="Calibri"/>
              </a:rPr>
              <a:t>Vehicle 2</a:t>
            </a:r>
          </a:p>
        </p:txBody>
      </p:sp>
      <p:sp>
        <p:nvSpPr>
          <p:cNvPr id="38" name="TextBox 37"/>
          <p:cNvSpPr txBox="1"/>
          <p:nvPr/>
        </p:nvSpPr>
        <p:spPr>
          <a:xfrm>
            <a:off x="7909560" y="3429000"/>
            <a:ext cx="2011680" cy="274320"/>
          </a:xfrm>
          <a:prstGeom prst="rect">
            <a:avLst/>
          </a:prstGeom>
          <a:noFill/>
        </p:spPr>
        <p:txBody>
          <a:bodyPr wrap="square" lIns="0" rIns="0" tIns="0" bIns="0" anchor="t">
            <a:spAutoFit/>
          </a:bodyPr>
          <a:lstStyle/>
          <a:p>
            <a:pPr algn="l">
              <a:spcAft>
                <a:spcPts val="0"/>
              </a:spcAft>
            </a:pPr>
            <a:r>
              <a:rPr sz="1300" b="0" i="0">
                <a:solidFill>
                  <a:srgbClr val="6B7580"/>
                </a:solidFill>
                <a:latin typeface="Calibri"/>
              </a:rPr>
              <a:t>Left out: no time</a:t>
            </a:r>
          </a:p>
        </p:txBody>
      </p:sp>
      <p:sp>
        <p:nvSpPr>
          <p:cNvPr id="39" name="TextBox 38"/>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Benchmark: 387 instances of Chao et al. (1996) in 7 sets, 21 to 102 nodes, 2 to 4 vehicles. In 34 of them no customer fits even alone, so 353 count.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The PJS savings heuristic</a:t>
            </a:r>
          </a:p>
        </p:txBody>
      </p:sp>
      <p:sp>
        <p:nvSpPr>
          <p:cNvPr id="3" name="Rectangle 2"/>
          <p:cNvSpPr/>
          <p:nvPr/>
        </p:nvSpPr>
        <p:spPr>
          <a:xfrm>
            <a:off x="822960" y="1554480"/>
            <a:ext cx="10543032" cy="123444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19072"/>
            <a:ext cx="10543032" cy="274320"/>
          </a:xfrm>
          <a:prstGeom prst="rect">
            <a:avLst/>
          </a:prstGeom>
          <a:noFill/>
        </p:spPr>
        <p:txBody>
          <a:bodyPr wrap="square" lIns="0" rIns="0" tIns="0" bIns="0" anchor="t">
            <a:spAutoFit/>
          </a:bodyPr>
          <a:lstStyle/>
          <a:p>
            <a:pPr algn="ctr">
              <a:spcAft>
                <a:spcPts val="0"/>
              </a:spcAft>
            </a:pPr>
            <a:r>
              <a:rPr sz="1200" b="1" i="0">
                <a:solidFill>
                  <a:srgbClr val="6B7580"/>
                </a:solidFill>
                <a:latin typeface="Calibri"/>
              </a:rPr>
              <a:t>ENRICHED SAVING OF ARC (i, j)</a:t>
            </a:r>
          </a:p>
        </p:txBody>
      </p:sp>
      <p:sp>
        <p:nvSpPr>
          <p:cNvPr id="5" name="TextBox 4"/>
          <p:cNvSpPr txBox="1"/>
          <p:nvPr/>
        </p:nvSpPr>
        <p:spPr>
          <a:xfrm>
            <a:off x="822960" y="2057400"/>
            <a:ext cx="10543032" cy="548640"/>
          </a:xfrm>
          <a:prstGeom prst="rect">
            <a:avLst/>
          </a:prstGeom>
          <a:noFill/>
        </p:spPr>
        <p:txBody>
          <a:bodyPr wrap="square" lIns="0" rIns="0" tIns="0" bIns="0" anchor="t">
            <a:spAutoFit/>
          </a:bodyPr>
          <a:lstStyle/>
          <a:p>
            <a:pPr algn="ctr">
              <a:spcAft>
                <a:spcPts val="0"/>
              </a:spcAft>
            </a:pPr>
            <a:r>
              <a:rPr sz="2600" b="0" i="0">
                <a:solidFill>
                  <a:srgbClr val="12212B"/>
                </a:solidFill>
                <a:latin typeface="Arial"/>
              </a:rPr>
              <a:t>s′ᵢⱼ = α · sᵢⱼ + (1 − α) · (uᵢ + uⱼ)</a:t>
            </a:r>
          </a:p>
        </p:txBody>
      </p:sp>
      <p:sp>
        <p:nvSpPr>
          <p:cNvPr id="6" name="TextBox 5"/>
          <p:cNvSpPr txBox="1"/>
          <p:nvPr/>
        </p:nvSpPr>
        <p:spPr>
          <a:xfrm>
            <a:off x="822960" y="3017520"/>
            <a:ext cx="5029200" cy="365760"/>
          </a:xfrm>
          <a:prstGeom prst="rect">
            <a:avLst/>
          </a:prstGeom>
          <a:noFill/>
        </p:spPr>
        <p:txBody>
          <a:bodyPr wrap="square" lIns="0" rIns="0" tIns="0" bIns="0" anchor="t">
            <a:spAutoFit/>
          </a:bodyPr>
          <a:lstStyle/>
          <a:p>
            <a:pPr algn="l">
              <a:spcAft>
                <a:spcPts val="0"/>
              </a:spcAft>
            </a:pPr>
            <a:r>
              <a:rPr sz="1600" b="0" i="0">
                <a:solidFill>
                  <a:srgbClr val="4A5568"/>
                </a:solidFill>
                <a:latin typeface="Calibri"/>
              </a:rPr>
              <a:t>sᵢⱼ = time saved by joining two routes</a:t>
            </a:r>
          </a:p>
        </p:txBody>
      </p:sp>
      <p:sp>
        <p:nvSpPr>
          <p:cNvPr id="7" name="TextBox 6"/>
          <p:cNvSpPr txBox="1"/>
          <p:nvPr/>
        </p:nvSpPr>
        <p:spPr>
          <a:xfrm>
            <a:off x="6336792" y="3017520"/>
            <a:ext cx="5029200" cy="365760"/>
          </a:xfrm>
          <a:prstGeom prst="rect">
            <a:avLst/>
          </a:prstGeom>
          <a:noFill/>
        </p:spPr>
        <p:txBody>
          <a:bodyPr wrap="square" lIns="0" rIns="0" tIns="0" bIns="0" anchor="t">
            <a:spAutoFit/>
          </a:bodyPr>
          <a:lstStyle/>
          <a:p>
            <a:pPr algn="l">
              <a:spcAft>
                <a:spcPts val="0"/>
              </a:spcAft>
            </a:pPr>
            <a:r>
              <a:rPr sz="1600" b="0" i="0">
                <a:solidFill>
                  <a:srgbClr val="4A5568"/>
                </a:solidFill>
                <a:latin typeface="Calibri"/>
              </a:rPr>
              <a:t>uᵢ + uⱼ = reward the joined route collects</a:t>
            </a:r>
          </a:p>
        </p:txBody>
      </p:sp>
      <p:sp>
        <p:nvSpPr>
          <p:cNvPr id="8" name="Rectangle 7"/>
          <p:cNvSpPr/>
          <p:nvPr/>
        </p:nvSpPr>
        <p:spPr>
          <a:xfrm>
            <a:off x="822960" y="3703320"/>
            <a:ext cx="2395728" cy="141732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840480"/>
            <a:ext cx="2121408" cy="365760"/>
          </a:xfrm>
          <a:prstGeom prst="rect">
            <a:avLst/>
          </a:prstGeom>
          <a:noFill/>
        </p:spPr>
        <p:txBody>
          <a:bodyPr wrap="square" lIns="0" rIns="0" tIns="0" bIns="0" anchor="t">
            <a:spAutoFit/>
          </a:bodyPr>
          <a:lstStyle/>
          <a:p>
            <a:pPr algn="l">
              <a:spcAft>
                <a:spcPts val="0"/>
              </a:spcAft>
            </a:pPr>
            <a:r>
              <a:rPr sz="1600" b="1" i="0">
                <a:solidFill>
                  <a:srgbClr val="12212B"/>
                </a:solidFill>
                <a:latin typeface="Calibri"/>
              </a:rPr>
              <a:t>1  Dummy solution</a:t>
            </a:r>
          </a:p>
        </p:txBody>
      </p:sp>
      <p:sp>
        <p:nvSpPr>
          <p:cNvPr id="10" name="TextBox 9"/>
          <p:cNvSpPr txBox="1"/>
          <p:nvPr/>
        </p:nvSpPr>
        <p:spPr>
          <a:xfrm>
            <a:off x="960120" y="4251960"/>
            <a:ext cx="2121408" cy="7772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one route origin → i → end per customer</a:t>
            </a:r>
          </a:p>
        </p:txBody>
      </p:sp>
      <p:cxnSp>
        <p:nvCxnSpPr>
          <p:cNvPr id="11" name="Connector 10"/>
          <p:cNvCxnSpPr/>
          <p:nvPr/>
        </p:nvCxnSpPr>
        <p:spPr>
          <a:xfrm>
            <a:off x="3236976" y="4416552"/>
            <a:ext cx="283464" cy="0"/>
          </a:xfrm>
          <a:prstGeom prst="line">
            <a:avLst/>
          </a:prstGeom>
          <a:ln w="19050">
            <a:solidFill>
              <a:srgbClr val="6B75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538728" y="3703320"/>
            <a:ext cx="2395728" cy="141732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75888" y="3840480"/>
            <a:ext cx="2121408" cy="365760"/>
          </a:xfrm>
          <a:prstGeom prst="rect">
            <a:avLst/>
          </a:prstGeom>
          <a:noFill/>
        </p:spPr>
        <p:txBody>
          <a:bodyPr wrap="square" lIns="0" rIns="0" tIns="0" bIns="0" anchor="t">
            <a:spAutoFit/>
          </a:bodyPr>
          <a:lstStyle/>
          <a:p>
            <a:pPr algn="l">
              <a:spcAft>
                <a:spcPts val="0"/>
              </a:spcAft>
            </a:pPr>
            <a:r>
              <a:rPr sz="1600" b="1" i="0">
                <a:solidFill>
                  <a:srgbClr val="12212B"/>
                </a:solidFill>
                <a:latin typeface="Calibri"/>
              </a:rPr>
              <a:t>2  Sort the arcs</a:t>
            </a:r>
          </a:p>
        </p:txBody>
      </p:sp>
      <p:sp>
        <p:nvSpPr>
          <p:cNvPr id="14" name="TextBox 13"/>
          <p:cNvSpPr txBox="1"/>
          <p:nvPr/>
        </p:nvSpPr>
        <p:spPr>
          <a:xfrm>
            <a:off x="3675888" y="4251960"/>
            <a:ext cx="2121408" cy="7772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by s′ᵢⱼ, highest first, both directions</a:t>
            </a:r>
          </a:p>
        </p:txBody>
      </p:sp>
      <p:cxnSp>
        <p:nvCxnSpPr>
          <p:cNvPr id="15" name="Connector 14"/>
          <p:cNvCxnSpPr/>
          <p:nvPr/>
        </p:nvCxnSpPr>
        <p:spPr>
          <a:xfrm>
            <a:off x="5952744" y="4416552"/>
            <a:ext cx="283464" cy="0"/>
          </a:xfrm>
          <a:prstGeom prst="line">
            <a:avLst/>
          </a:prstGeom>
          <a:ln w="19050">
            <a:solidFill>
              <a:srgbClr val="6B75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254496" y="3703320"/>
            <a:ext cx="2395728" cy="1417320"/>
          </a:xfrm>
          <a:prstGeom prst="rect">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91656" y="3840480"/>
            <a:ext cx="2121408" cy="365760"/>
          </a:xfrm>
          <a:prstGeom prst="rect">
            <a:avLst/>
          </a:prstGeom>
          <a:noFill/>
        </p:spPr>
        <p:txBody>
          <a:bodyPr wrap="square" lIns="0" rIns="0" tIns="0" bIns="0" anchor="t">
            <a:spAutoFit/>
          </a:bodyPr>
          <a:lstStyle/>
          <a:p>
            <a:pPr algn="l">
              <a:spcAft>
                <a:spcPts val="0"/>
              </a:spcAft>
            </a:pPr>
            <a:r>
              <a:rPr sz="1600" b="1" i="0">
                <a:solidFill>
                  <a:srgbClr val="12212B"/>
                </a:solidFill>
                <a:latin typeface="Calibri"/>
              </a:rPr>
              <a:t>3  Merge greedily</a:t>
            </a:r>
          </a:p>
        </p:txBody>
      </p:sp>
      <p:sp>
        <p:nvSpPr>
          <p:cNvPr id="18" name="TextBox 17"/>
          <p:cNvSpPr txBox="1"/>
          <p:nvPr/>
        </p:nvSpPr>
        <p:spPr>
          <a:xfrm>
            <a:off x="6391656" y="4251960"/>
            <a:ext cx="2121408" cy="7772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join two routes if the result fits in tmax</a:t>
            </a:r>
          </a:p>
        </p:txBody>
      </p:sp>
      <p:cxnSp>
        <p:nvCxnSpPr>
          <p:cNvPr id="19" name="Connector 18"/>
          <p:cNvCxnSpPr/>
          <p:nvPr/>
        </p:nvCxnSpPr>
        <p:spPr>
          <a:xfrm>
            <a:off x="8668512" y="4416552"/>
            <a:ext cx="283464" cy="0"/>
          </a:xfrm>
          <a:prstGeom prst="line">
            <a:avLst/>
          </a:prstGeom>
          <a:ln w="19050">
            <a:solidFill>
              <a:srgbClr val="6B75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970264" y="3703320"/>
            <a:ext cx="2395728" cy="141732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07424" y="3840480"/>
            <a:ext cx="2121408" cy="365760"/>
          </a:xfrm>
          <a:prstGeom prst="rect">
            <a:avLst/>
          </a:prstGeom>
          <a:noFill/>
        </p:spPr>
        <p:txBody>
          <a:bodyPr wrap="square" lIns="0" rIns="0" tIns="0" bIns="0" anchor="t">
            <a:spAutoFit/>
          </a:bodyPr>
          <a:lstStyle/>
          <a:p>
            <a:pPr algn="l">
              <a:spcAft>
                <a:spcPts val="0"/>
              </a:spcAft>
            </a:pPr>
            <a:r>
              <a:rPr sz="1600" b="1" i="0">
                <a:solidFill>
                  <a:srgbClr val="12212B"/>
                </a:solidFill>
                <a:latin typeface="Calibri"/>
              </a:rPr>
              <a:t>4  Keep m routes</a:t>
            </a:r>
          </a:p>
        </p:txBody>
      </p:sp>
      <p:sp>
        <p:nvSpPr>
          <p:cNvPr id="22" name="TextBox 21"/>
          <p:cNvSpPr txBox="1"/>
          <p:nvPr/>
        </p:nvSpPr>
        <p:spPr>
          <a:xfrm>
            <a:off x="9107424" y="4251960"/>
            <a:ext cx="2121408" cy="7772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the m with the most reward</a:t>
            </a:r>
          </a:p>
        </p:txBody>
      </p:sp>
      <p:sp>
        <p:nvSpPr>
          <p:cNvPr id="23" name="TextBox 22"/>
          <p:cNvSpPr txBox="1"/>
          <p:nvPr/>
        </p:nvSpPr>
        <p:spPr>
          <a:xfrm>
            <a:off x="822960" y="5440680"/>
            <a:ext cx="10543032" cy="411480"/>
          </a:xfrm>
          <a:prstGeom prst="rect">
            <a:avLst/>
          </a:prstGeom>
          <a:noFill/>
        </p:spPr>
        <p:txBody>
          <a:bodyPr wrap="square" lIns="0" rIns="0" tIns="0" bIns="0" anchor="t">
            <a:spAutoFit/>
          </a:bodyPr>
          <a:lstStyle/>
          <a:p>
            <a:pPr algn="l">
              <a:spcAft>
                <a:spcPts val="0"/>
              </a:spcAft>
            </a:pPr>
            <a:r>
              <a:rPr sz="1800" b="1" i="0">
                <a:solidFill>
                  <a:srgbClr val="1F7A6D"/>
                </a:solidFill>
                <a:latin typeface="Calibri"/>
              </a:rPr>
              <a:t>α trades distance against reward. The paper gives no value for it.</a:t>
            </a:r>
          </a:p>
        </p:txBody>
      </p:sp>
      <p:sp>
        <p:nvSpPr>
          <p:cNvPr id="24" name="TextBox 23"/>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Panadero et al. (2021), section 4. With origin ≠ end depot, sᵢⱼ ≠ sⱼᵢ, so both directions are kept, as in Li et al. (2022).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EEBE3"/>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The paper's rule for α does not hold here</a:t>
            </a:r>
          </a:p>
        </p:txBody>
      </p:sp>
      <p:sp>
        <p:nvSpPr>
          <p:cNvPr id="3" name="Rectangle 2"/>
          <p:cNvSpPr/>
          <p:nvPr/>
        </p:nvSpPr>
        <p:spPr>
          <a:xfrm>
            <a:off x="822960" y="1508760"/>
            <a:ext cx="10543032" cy="77724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508760"/>
            <a:ext cx="10149840" cy="777240"/>
          </a:xfrm>
          <a:prstGeom prst="rect">
            <a:avLst/>
          </a:prstGeom>
          <a:noFill/>
        </p:spPr>
        <p:txBody>
          <a:bodyPr wrap="square" lIns="0" rIns="0" tIns="0" bIns="0" anchor="ctr">
            <a:spAutoFit/>
          </a:bodyPr>
          <a:lstStyle/>
          <a:p>
            <a:pPr algn="l">
              <a:spcAft>
                <a:spcPts val="0"/>
              </a:spcAft>
            </a:pPr>
            <a:r>
              <a:rPr sz="1700" b="1" i="0">
                <a:solidFill>
                  <a:srgbClr val="12212B"/>
                </a:solidFill>
                <a:latin typeface="Calibri"/>
              </a:rPr>
              <a:t>Panadero: </a:t>
            </a:r>
            <a:r>
              <a:rPr sz="1700" b="0" i="1">
                <a:solidFill>
                  <a:srgbClr val="4A5568"/>
                </a:solidFill>
                <a:latin typeface="Calibri"/>
              </a:rPr>
              <a:t>“α close to zero with heterogeneous rewards and close to one with homogeneous rewards.”</a:t>
            </a:r>
          </a:p>
        </p:txBody>
      </p:sp>
      <p:sp>
        <p:nvSpPr>
          <p:cNvPr id="5" name="TextBox 4"/>
          <p:cNvSpPr txBox="1"/>
          <p:nvPr/>
        </p:nvSpPr>
        <p:spPr>
          <a:xfrm>
            <a:off x="1097280" y="2560320"/>
            <a:ext cx="5943600"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BEST α (MEAN OF THE TIES), BY SET · REWARDS MORE UNEVEN →</a:t>
            </a:r>
          </a:p>
        </p:txBody>
      </p:sp>
      <p:graphicFrame>
        <p:nvGraphicFramePr>
          <p:cNvPr id="6" name="Chart 5"/>
          <p:cNvGraphicFramePr>
            <a:graphicFrameLocks noGrp="1"/>
          </p:cNvGraphicFramePr>
          <p:nvPr/>
        </p:nvGraphicFramePr>
        <p:xfrm>
          <a:off x="914400" y="2834640"/>
          <a:ext cx="6035040" cy="2788920"/>
        </p:xfrm>
        <a:graphic>
          <a:graphicData uri="http://schemas.openxmlformats.org/drawingml/2006/chart">
            <c:chart xmlns:c="http://schemas.openxmlformats.org/drawingml/2006/chart" r:id="rId2"/>
          </a:graphicData>
        </a:graphic>
      </p:graphicFrame>
      <p:sp>
        <p:nvSpPr>
          <p:cNvPr id="7" name="TextBox 6"/>
          <p:cNvSpPr txBox="1"/>
          <p:nvPr/>
        </p:nvSpPr>
        <p:spPr>
          <a:xfrm>
            <a:off x="7498079" y="2606040"/>
            <a:ext cx="3840480" cy="822960"/>
          </a:xfrm>
          <a:prstGeom prst="rect">
            <a:avLst/>
          </a:prstGeom>
          <a:noFill/>
        </p:spPr>
        <p:txBody>
          <a:bodyPr wrap="square" lIns="0" rIns="0" tIns="0" bIns="0" anchor="t">
            <a:spAutoFit/>
          </a:bodyPr>
          <a:lstStyle/>
          <a:p>
            <a:pPr algn="l">
              <a:spcAft>
                <a:spcPts val="0"/>
              </a:spcAft>
            </a:pPr>
            <a:r>
              <a:rPr sz="4200" b="1" i="0">
                <a:solidFill>
                  <a:srgbClr val="B5471E"/>
                </a:solidFill>
                <a:latin typeface="Arial"/>
              </a:rPr>
              <a:t>+0.19</a:t>
            </a:r>
          </a:p>
        </p:txBody>
      </p:sp>
      <p:sp>
        <p:nvSpPr>
          <p:cNvPr id="8" name="TextBox 7"/>
          <p:cNvSpPr txBox="1"/>
          <p:nvPr/>
        </p:nvSpPr>
        <p:spPr>
          <a:xfrm>
            <a:off x="7498079" y="3383280"/>
            <a:ext cx="3840480" cy="5486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correlation between reward CV and best α over 285 instances: weak, and with the wrong sign</a:t>
            </a:r>
          </a:p>
        </p:txBody>
      </p:sp>
      <p:sp>
        <p:nvSpPr>
          <p:cNvPr id="9" name="TextBox 8"/>
          <p:cNvSpPr txBox="1"/>
          <p:nvPr/>
        </p:nvSpPr>
        <p:spPr>
          <a:xfrm>
            <a:off x="7498079" y="4160520"/>
            <a:ext cx="3840480" cy="822960"/>
          </a:xfrm>
          <a:prstGeom prst="rect">
            <a:avLst/>
          </a:prstGeom>
          <a:noFill/>
        </p:spPr>
        <p:txBody>
          <a:bodyPr wrap="square" lIns="0" rIns="0" tIns="0" bIns="0" anchor="t">
            <a:spAutoFit/>
          </a:bodyPr>
          <a:lstStyle/>
          <a:p>
            <a:pPr algn="l">
              <a:spcAft>
                <a:spcPts val="0"/>
              </a:spcAft>
            </a:pPr>
            <a:r>
              <a:rPr sz="4200" b="1" i="0">
                <a:solidFill>
                  <a:srgbClr val="B5471E"/>
                </a:solidFill>
                <a:latin typeface="Arial"/>
              </a:rPr>
              <a:t>68 %</a:t>
            </a:r>
          </a:p>
        </p:txBody>
      </p:sp>
      <p:sp>
        <p:nvSpPr>
          <p:cNvPr id="10" name="TextBox 9"/>
          <p:cNvSpPr txBox="1"/>
          <p:nvPr/>
        </p:nvSpPr>
        <p:spPr>
          <a:xfrm>
            <a:off x="7498079" y="4937760"/>
            <a:ext cx="3840480" cy="5486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of the best reward is all α = 0 reaches in p4, the most uneven set</a:t>
            </a:r>
          </a:p>
        </p:txBody>
      </p:sp>
      <p:sp>
        <p:nvSpPr>
          <p:cNvPr id="11" name="TextBox 10"/>
          <p:cNvSpPr txBox="1"/>
          <p:nvPr/>
        </p:nvSpPr>
        <p:spPr>
          <a:xfrm>
            <a:off x="822960" y="5806440"/>
            <a:ext cx="10543032" cy="411480"/>
          </a:xfrm>
          <a:prstGeom prst="rect">
            <a:avLst/>
          </a:prstGeom>
          <a:noFill/>
        </p:spPr>
        <p:txBody>
          <a:bodyPr wrap="square" lIns="0" rIns="0" tIns="0" bIns="0" anchor="t">
            <a:spAutoFit/>
          </a:bodyPr>
          <a:lstStyle/>
          <a:p>
            <a:pPr algn="l">
              <a:spcAft>
                <a:spcPts val="0"/>
              </a:spcAft>
            </a:pPr>
            <a:r>
              <a:rPr sz="1800" b="1" i="0">
                <a:solidFill>
                  <a:srgbClr val="1F7A6D"/>
                </a:solidFill>
                <a:latin typeface="Calibri"/>
              </a:rPr>
              <a:t>So we run all 21 values α = 0, 0.05, …, 1 and keep the best per instance.</a:t>
            </a:r>
          </a:p>
        </p:txBody>
      </p:sp>
      <p:sp>
        <p:nvSpPr>
          <p:cNvPr id="12" name="TextBox 11"/>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Deterministic PJS. The 68 instances where all α tie are left out. Rewards are fixed per set, so there are only 7 distinct CVs.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GRASP: the same heuristic, slightly random</a:t>
            </a:r>
          </a:p>
        </p:txBody>
      </p:sp>
      <p:sp>
        <p:nvSpPr>
          <p:cNvPr id="3" name="TextBox 2"/>
          <p:cNvSpPr txBox="1"/>
          <p:nvPr/>
        </p:nvSpPr>
        <p:spPr>
          <a:xfrm>
            <a:off x="822960" y="1508760"/>
            <a:ext cx="10543032" cy="731520"/>
          </a:xfrm>
          <a:prstGeom prst="rect">
            <a:avLst/>
          </a:prstGeom>
          <a:noFill/>
        </p:spPr>
        <p:txBody>
          <a:bodyPr wrap="square" lIns="0" rIns="0" tIns="0" bIns="0" anchor="t">
            <a:spAutoFit/>
          </a:bodyPr>
          <a:lstStyle/>
          <a:p>
            <a:pPr algn="l">
              <a:spcAft>
                <a:spcPts val="0"/>
              </a:spcAft>
            </a:pPr>
            <a:r>
              <a:rPr sz="1800" b="0" i="0">
                <a:solidFill>
                  <a:srgbClr val="4A5568"/>
                </a:solidFill>
                <a:latin typeface="Calibri"/>
              </a:rPr>
              <a:t>Instead of always taking the arc with the highest saving, pick one at random, biased towards the top of the list. Repeat the construction many times and keep the best solution.</a:t>
            </a:r>
          </a:p>
        </p:txBody>
      </p:sp>
      <p:sp>
        <p:nvSpPr>
          <p:cNvPr id="4" name="Rectangle 3"/>
          <p:cNvSpPr/>
          <p:nvPr/>
        </p:nvSpPr>
        <p:spPr>
          <a:xfrm>
            <a:off x="822960" y="2514600"/>
            <a:ext cx="5120640" cy="182880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2697480"/>
            <a:ext cx="4572000" cy="365760"/>
          </a:xfrm>
          <a:prstGeom prst="rect">
            <a:avLst/>
          </a:prstGeom>
          <a:noFill/>
        </p:spPr>
        <p:txBody>
          <a:bodyPr wrap="square" lIns="0" rIns="0" tIns="0" bIns="0" anchor="t">
            <a:spAutoFit/>
          </a:bodyPr>
          <a:lstStyle/>
          <a:p>
            <a:pPr algn="l">
              <a:spcAft>
                <a:spcPts val="0"/>
              </a:spcAft>
            </a:pPr>
            <a:r>
              <a:rPr sz="2000" b="1" i="0">
                <a:solidFill>
                  <a:srgbClr val="1F7A6D"/>
                </a:solidFill>
                <a:latin typeface="Calibri"/>
              </a:rPr>
              <a:t>Geometric (Panadero)</a:t>
            </a:r>
          </a:p>
        </p:txBody>
      </p:sp>
      <p:sp>
        <p:nvSpPr>
          <p:cNvPr id="6" name="TextBox 5"/>
          <p:cNvSpPr txBox="1"/>
          <p:nvPr/>
        </p:nvSpPr>
        <p:spPr>
          <a:xfrm>
            <a:off x="1097280" y="3154680"/>
            <a:ext cx="4572000" cy="411480"/>
          </a:xfrm>
          <a:prstGeom prst="rect">
            <a:avLst/>
          </a:prstGeom>
          <a:noFill/>
        </p:spPr>
        <p:txBody>
          <a:bodyPr wrap="square" lIns="0" rIns="0" tIns="0" bIns="0" anchor="t">
            <a:spAutoFit/>
          </a:bodyPr>
          <a:lstStyle/>
          <a:p>
            <a:pPr algn="l">
              <a:spcAft>
                <a:spcPts val="0"/>
              </a:spcAft>
            </a:pPr>
            <a:r>
              <a:rPr sz="1800" b="0" i="0">
                <a:solidFill>
                  <a:srgbClr val="12212B"/>
                </a:solidFill>
                <a:latin typeface="Arial"/>
              </a:rPr>
              <a:t>k ~ Geom(β),  β = 0.3</a:t>
            </a:r>
          </a:p>
        </p:txBody>
      </p:sp>
      <p:sp>
        <p:nvSpPr>
          <p:cNvPr id="7" name="TextBox 6"/>
          <p:cNvSpPr txBox="1"/>
          <p:nvPr/>
        </p:nvSpPr>
        <p:spPr>
          <a:xfrm>
            <a:off x="1097280" y="3611880"/>
            <a:ext cx="4572000" cy="68580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Take the k-th remaining arc. Rank matters, the size of the gap between savings does not.</a:t>
            </a:r>
          </a:p>
        </p:txBody>
      </p:sp>
      <p:sp>
        <p:nvSpPr>
          <p:cNvPr id="8" name="Rectangle 7"/>
          <p:cNvSpPr/>
          <p:nvPr/>
        </p:nvSpPr>
        <p:spPr>
          <a:xfrm>
            <a:off x="6245352" y="2514600"/>
            <a:ext cx="5120640" cy="182880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2697480"/>
            <a:ext cx="4572000" cy="365760"/>
          </a:xfrm>
          <a:prstGeom prst="rect">
            <a:avLst/>
          </a:prstGeom>
          <a:noFill/>
        </p:spPr>
        <p:txBody>
          <a:bodyPr wrap="square" lIns="0" rIns="0" tIns="0" bIns="0" anchor="t">
            <a:spAutoFit/>
          </a:bodyPr>
          <a:lstStyle/>
          <a:p>
            <a:pPr algn="l">
              <a:spcAft>
                <a:spcPts val="0"/>
              </a:spcAft>
            </a:pPr>
            <a:r>
              <a:rPr sz="2000" b="1" i="0">
                <a:solidFill>
                  <a:srgbClr val="B5471E"/>
                </a:solidFill>
                <a:latin typeface="Calibri"/>
              </a:rPr>
              <a:t>Softmax (our proposal)</a:t>
            </a:r>
          </a:p>
        </p:txBody>
      </p:sp>
      <p:sp>
        <p:nvSpPr>
          <p:cNvPr id="10" name="TextBox 9"/>
          <p:cNvSpPr txBox="1"/>
          <p:nvPr/>
        </p:nvSpPr>
        <p:spPr>
          <a:xfrm>
            <a:off x="6519672" y="3154680"/>
            <a:ext cx="4572000" cy="411480"/>
          </a:xfrm>
          <a:prstGeom prst="rect">
            <a:avLst/>
          </a:prstGeom>
          <a:noFill/>
        </p:spPr>
        <p:txBody>
          <a:bodyPr wrap="square" lIns="0" rIns="0" tIns="0" bIns="0" anchor="t">
            <a:spAutoFit/>
          </a:bodyPr>
          <a:lstStyle/>
          <a:p>
            <a:pPr algn="l">
              <a:spcAft>
                <a:spcPts val="0"/>
              </a:spcAft>
            </a:pPr>
            <a:r>
              <a:rPr sz="1800" b="0" i="0">
                <a:solidFill>
                  <a:srgbClr val="12212B"/>
                </a:solidFill>
                <a:latin typeface="Arial"/>
              </a:rPr>
              <a:t>P(arc) ∝ exp(s′ / τ),  τ = 1</a:t>
            </a:r>
          </a:p>
        </p:txBody>
      </p:sp>
      <p:sp>
        <p:nvSpPr>
          <p:cNvPr id="11" name="TextBox 10"/>
          <p:cNvSpPr txBox="1"/>
          <p:nvPr/>
        </p:nvSpPr>
        <p:spPr>
          <a:xfrm>
            <a:off x="6519672" y="3611880"/>
            <a:ext cx="4572000" cy="68580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Each arc in proportion to its saving. Close savings get close chances.</a:t>
            </a:r>
          </a:p>
        </p:txBody>
      </p:sp>
      <p:sp>
        <p:nvSpPr>
          <p:cNvPr id="12" name="TextBox 11"/>
          <p:cNvSpPr txBox="1"/>
          <p:nvPr/>
        </p:nvSpPr>
        <p:spPr>
          <a:xfrm>
            <a:off x="822960" y="4617720"/>
            <a:ext cx="10543032"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BUDGETS TESTED, PER RUN (ONE RUN = ONE THREAD OF PANADERO'S ALGORITHM 1)</a:t>
            </a:r>
          </a:p>
        </p:txBody>
      </p:sp>
      <p:sp>
        <p:nvSpPr>
          <p:cNvPr id="13" name="Rectangle 12"/>
          <p:cNvSpPr/>
          <p:nvPr/>
        </p:nvSpPr>
        <p:spPr>
          <a:xfrm>
            <a:off x="822960" y="4937760"/>
            <a:ext cx="3319272" cy="109728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029200"/>
            <a:ext cx="3017520" cy="41148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10 iterations</a:t>
            </a:r>
          </a:p>
        </p:txBody>
      </p:sp>
      <p:sp>
        <p:nvSpPr>
          <p:cNvPr id="15" name="TextBox 14"/>
          <p:cNvSpPr txBox="1"/>
          <p:nvPr/>
        </p:nvSpPr>
        <p:spPr>
          <a:xfrm>
            <a:off x="1005840" y="5468112"/>
            <a:ext cx="3017520" cy="45720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main grid: 21 α × 20 runs</a:t>
            </a:r>
          </a:p>
        </p:txBody>
      </p:sp>
      <p:sp>
        <p:nvSpPr>
          <p:cNvPr id="16" name="Rectangle 15"/>
          <p:cNvSpPr/>
          <p:nvPr/>
        </p:nvSpPr>
        <p:spPr>
          <a:xfrm>
            <a:off x="4434840" y="4937760"/>
            <a:ext cx="3319272" cy="109728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5029200"/>
            <a:ext cx="3017520" cy="41148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100 iterations</a:t>
            </a:r>
          </a:p>
        </p:txBody>
      </p:sp>
      <p:sp>
        <p:nvSpPr>
          <p:cNvPr id="18" name="TextBox 17"/>
          <p:cNvSpPr txBox="1"/>
          <p:nvPr/>
        </p:nvSpPr>
        <p:spPr>
          <a:xfrm>
            <a:off x="4617720" y="5468112"/>
            <a:ext cx="3017520" cy="45720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same seeds, 10× longer</a:t>
            </a:r>
          </a:p>
        </p:txBody>
      </p:sp>
      <p:sp>
        <p:nvSpPr>
          <p:cNvPr id="19" name="Rectangle 18"/>
          <p:cNvSpPr/>
          <p:nvPr/>
        </p:nvSpPr>
        <p:spPr>
          <a:xfrm>
            <a:off x="8046720" y="4937760"/>
            <a:ext cx="3319272" cy="109728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0" y="5029200"/>
            <a:ext cx="3017520" cy="41148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1 second</a:t>
            </a:r>
          </a:p>
        </p:txBody>
      </p:sp>
      <p:sp>
        <p:nvSpPr>
          <p:cNvPr id="21" name="TextBox 20"/>
          <p:cNvSpPr txBox="1"/>
          <p:nvPr/>
        </p:nvSpPr>
        <p:spPr>
          <a:xfrm>
            <a:off x="8229600" y="5468112"/>
            <a:ext cx="3017520" cy="45720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like the paper: ~40,000–56,000 iterations</a:t>
            </a:r>
          </a:p>
        </p:txBody>
      </p:sp>
      <p:sp>
        <p:nvSpPr>
          <p:cNvPr id="22" name="TextBox 21"/>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Every run starts from the deterministic solution and is seeded once, so results are reproducible (except the 1 s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EEBE3"/>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Local search, applied to the elite at the end</a:t>
            </a:r>
          </a:p>
        </p:txBody>
      </p:sp>
      <p:sp>
        <p:nvSpPr>
          <p:cNvPr id="3" name="Rectangle 2"/>
          <p:cNvSpPr/>
          <p:nvPr/>
        </p:nvSpPr>
        <p:spPr>
          <a:xfrm>
            <a:off x="822960" y="1600200"/>
            <a:ext cx="5120640" cy="361188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4572000" cy="36576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Which solutions get it</a:t>
            </a:r>
          </a:p>
        </p:txBody>
      </p:sp>
      <p:sp>
        <p:nvSpPr>
          <p:cNvPr id="5" name="TextBox 4"/>
          <p:cNvSpPr txBox="1"/>
          <p:nvPr/>
        </p:nvSpPr>
        <p:spPr>
          <a:xfrm>
            <a:off x="1097280" y="2286000"/>
            <a:ext cx="4572000" cy="3200400"/>
          </a:xfrm>
          <a:prstGeom prst="rect">
            <a:avLst/>
          </a:prstGeom>
          <a:noFill/>
        </p:spPr>
        <p:txBody>
          <a:bodyPr wrap="square" lIns="0" rIns="0" tIns="0" bIns="0" anchor="t">
            <a:spAutoFit/>
          </a:bodyPr>
          <a:lstStyle/>
          <a:p>
            <a:pPr algn="l">
              <a:spcAft>
                <a:spcPts val="1000"/>
              </a:spcAft>
            </a:pPr>
            <a:r>
              <a:rPr sz="1500" b="0" i="0">
                <a:solidFill>
                  <a:srgbClr val="4A5568"/>
                </a:solidFill>
                <a:latin typeface="Calibri"/>
              </a:rPr>
              <a:t>The deterministic solutions of the 3 best α.</a:t>
            </a:r>
          </a:p>
          <a:p>
            <a:pPr algn="l">
              <a:spcAft>
                <a:spcPts val="1000"/>
              </a:spcAft>
            </a:pPr>
            <a:r>
              <a:rPr sz="1500" b="0" i="0">
                <a:solidFill>
                  <a:srgbClr val="4A5568"/>
                </a:solidFill>
                <a:latin typeface="Calibri"/>
              </a:rPr>
              <a:t>For each α and randomisation, the best solution of the 3 best runs.</a:t>
            </a:r>
          </a:p>
          <a:p>
            <a:pPr algn="l">
              <a:spcAft>
                <a:spcPts val="1000"/>
              </a:spcAft>
            </a:pPr>
            <a:r>
              <a:rPr sz="1500" b="0" i="0">
                <a:solidFill>
                  <a:srgbClr val="4A5568"/>
                </a:solidFill>
                <a:latin typeface="Calibri"/>
              </a:rPr>
              <a:t>Ties at third place all enter. Duplicates (same set of customers) are dropped.</a:t>
            </a:r>
          </a:p>
          <a:p>
            <a:pPr algn="l">
              <a:spcAft>
                <a:spcPts val="1000"/>
              </a:spcAft>
            </a:pPr>
            <a:r>
              <a:rPr sz="1500" b="0" i="0">
                <a:solidFill>
                  <a:srgbClr val="4A5568"/>
                </a:solidFill>
                <a:latin typeface="Calibri"/>
              </a:rPr>
              <a:t>About 53 elite per instance; all 18,757 take 0.4 s in total.</a:t>
            </a:r>
          </a:p>
        </p:txBody>
      </p:sp>
      <p:sp>
        <p:nvSpPr>
          <p:cNvPr id="6" name="Rectangle 5"/>
          <p:cNvSpPr/>
          <p:nvPr/>
        </p:nvSpPr>
        <p:spPr>
          <a:xfrm>
            <a:off x="6245352" y="1600200"/>
            <a:ext cx="5120640" cy="361188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783080"/>
            <a:ext cx="4572000" cy="36576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What it does, in a loop</a:t>
            </a:r>
          </a:p>
        </p:txBody>
      </p:sp>
      <p:sp>
        <p:nvSpPr>
          <p:cNvPr id="8" name="Rectangle 7"/>
          <p:cNvSpPr/>
          <p:nvPr/>
        </p:nvSpPr>
        <p:spPr>
          <a:xfrm>
            <a:off x="6519672" y="2377440"/>
            <a:ext cx="2103120" cy="1143000"/>
          </a:xfrm>
          <a:prstGeom prst="rect">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9400" y="2377440"/>
            <a:ext cx="1883664" cy="1143000"/>
          </a:xfrm>
          <a:prstGeom prst="rect">
            <a:avLst/>
          </a:prstGeom>
          <a:noFill/>
        </p:spPr>
        <p:txBody>
          <a:bodyPr wrap="square" lIns="0" rIns="0" tIns="0" bIns="0" anchor="ctr">
            <a:spAutoFit/>
          </a:bodyPr>
          <a:lstStyle/>
          <a:p>
            <a:pPr algn="ctr">
              <a:spcAft>
                <a:spcPts val="0"/>
              </a:spcAft>
            </a:pPr>
            <a:r>
              <a:rPr sz="1600" b="1" i="0">
                <a:solidFill>
                  <a:srgbClr val="12212B"/>
                </a:solidFill>
                <a:latin typeface="Calibri"/>
              </a:rPr>
              <a:t>2-opt</a:t>
            </a:r>
          </a:p>
          <a:p>
            <a:pPr algn="ctr">
              <a:spcAft>
                <a:spcPts val="0"/>
              </a:spcAft>
            </a:pPr>
            <a:r>
              <a:rPr sz="1300" b="0" i="0">
                <a:solidFill>
                  <a:srgbClr val="4A5568"/>
                </a:solidFill>
                <a:latin typeface="Calibri"/>
              </a:rPr>
              <a:t>shorten every route</a:t>
            </a:r>
          </a:p>
        </p:txBody>
      </p:sp>
      <p:cxnSp>
        <p:nvCxnSpPr>
          <p:cNvPr id="10" name="Connector 9"/>
          <p:cNvCxnSpPr/>
          <p:nvPr/>
        </p:nvCxnSpPr>
        <p:spPr>
          <a:xfrm>
            <a:off x="8641080" y="2944368"/>
            <a:ext cx="347472" cy="0"/>
          </a:xfrm>
          <a:prstGeom prst="line">
            <a:avLst/>
          </a:prstGeom>
          <a:ln w="19050">
            <a:solidFill>
              <a:srgbClr val="6B75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9006840" y="2377440"/>
            <a:ext cx="2103120" cy="1143000"/>
          </a:xfrm>
          <a:prstGeom prst="rect">
            <a:avLst/>
          </a:prstGeom>
          <a:solidFill>
            <a:srgbClr val="E4F1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16568" y="2377440"/>
            <a:ext cx="1883664" cy="1143000"/>
          </a:xfrm>
          <a:prstGeom prst="rect">
            <a:avLst/>
          </a:prstGeom>
          <a:noFill/>
        </p:spPr>
        <p:txBody>
          <a:bodyPr wrap="square" lIns="0" rIns="0" tIns="0" bIns="0" anchor="ctr">
            <a:spAutoFit/>
          </a:bodyPr>
          <a:lstStyle/>
          <a:p>
            <a:pPr algn="ctr">
              <a:spcAft>
                <a:spcPts val="0"/>
              </a:spcAft>
            </a:pPr>
            <a:r>
              <a:rPr sz="1600" b="1" i="0">
                <a:solidFill>
                  <a:srgbClr val="12212B"/>
                </a:solidFill>
                <a:latin typeface="Calibri"/>
              </a:rPr>
              <a:t>Insert</a:t>
            </a:r>
          </a:p>
          <a:p>
            <a:pPr algn="ctr">
              <a:spcAft>
                <a:spcPts val="0"/>
              </a:spcAft>
            </a:pPr>
            <a:r>
              <a:rPr sz="1300" b="0" i="0">
                <a:solidFill>
                  <a:srgbClr val="4A5568"/>
                </a:solidFill>
                <a:latin typeface="Calibri"/>
              </a:rPr>
              <a:t>highest-reward customer that fits</a:t>
            </a:r>
          </a:p>
        </p:txBody>
      </p:sp>
      <p:cxnSp>
        <p:nvCxnSpPr>
          <p:cNvPr id="13" name="Connector 12"/>
          <p:cNvCxnSpPr/>
          <p:nvPr/>
        </p:nvCxnSpPr>
        <p:spPr>
          <a:xfrm>
            <a:off x="10058400" y="3520440"/>
            <a:ext cx="0" cy="365760"/>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7571231" y="3886200"/>
            <a:ext cx="2487169" cy="0"/>
          </a:xfrm>
          <a:prstGeom prst="line">
            <a:avLst/>
          </a:prstGeom>
          <a:ln w="19050">
            <a:solidFill>
              <a:srgbClr val="1F7A6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7571231" y="3538728"/>
            <a:ext cx="0" cy="347472"/>
          </a:xfrm>
          <a:prstGeom prst="line">
            <a:avLst/>
          </a:prstGeom>
          <a:ln w="19050">
            <a:solidFill>
              <a:srgbClr val="1F7A6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19672" y="3977639"/>
            <a:ext cx="4572000" cy="274320"/>
          </a:xfrm>
          <a:prstGeom prst="rect">
            <a:avLst/>
          </a:prstGeom>
          <a:noFill/>
        </p:spPr>
        <p:txBody>
          <a:bodyPr wrap="square" lIns="0" rIns="0" tIns="0" bIns="0" anchor="t">
            <a:spAutoFit/>
          </a:bodyPr>
          <a:lstStyle/>
          <a:p>
            <a:pPr algn="ctr">
              <a:spcAft>
                <a:spcPts val="0"/>
              </a:spcAft>
            </a:pPr>
            <a:r>
              <a:rPr sz="1300" b="0" i="0">
                <a:solidFill>
                  <a:srgbClr val="1F7A6D"/>
                </a:solidFill>
                <a:latin typeface="Calibri"/>
              </a:rPr>
              <a:t>while a customer was inserted</a:t>
            </a:r>
          </a:p>
        </p:txBody>
      </p:sp>
      <p:sp>
        <p:nvSpPr>
          <p:cNvPr id="17" name="TextBox 16"/>
          <p:cNvSpPr txBox="1"/>
          <p:nvPr/>
        </p:nvSpPr>
        <p:spPr>
          <a:xfrm>
            <a:off x="6519672" y="4343400"/>
            <a:ext cx="4572000" cy="7772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The time 2-opt frees is spent on the next insertion. Neither move can lose reward, so there is no acceptance rule.</a:t>
            </a:r>
          </a:p>
        </p:txBody>
      </p:sp>
      <p:sp>
        <p:nvSpPr>
          <p:cNvPr id="18" name="TextBox 17"/>
          <p:cNvSpPr txBox="1"/>
          <p:nvPr/>
        </p:nvSpPr>
        <p:spPr>
          <a:xfrm>
            <a:off x="822960" y="5486400"/>
            <a:ext cx="10543032" cy="411480"/>
          </a:xfrm>
          <a:prstGeom prst="rect">
            <a:avLst/>
          </a:prstGeom>
          <a:noFill/>
        </p:spPr>
        <p:txBody>
          <a:bodyPr wrap="square" lIns="0" rIns="0" tIns="0" bIns="0" anchor="t">
            <a:spAutoFit/>
          </a:bodyPr>
          <a:lstStyle/>
          <a:p>
            <a:pPr algn="l">
              <a:spcAft>
                <a:spcPts val="0"/>
              </a:spcAft>
            </a:pPr>
            <a:r>
              <a:rPr sz="1800" b="1" i="0">
                <a:solidFill>
                  <a:srgbClr val="1F7A6D"/>
                </a:solidFill>
                <a:latin typeface="Calibri"/>
              </a:rPr>
              <a:t>Every elite is kept as a starting point: the best one before local search is often not the best after it.</a:t>
            </a:r>
          </a:p>
        </p:txBody>
      </p:sp>
      <p:sp>
        <p:nvSpPr>
          <p:cNvPr id="19" name="TextBox 18"/>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Insertion: cheapest position in any route; ties in reward go to the smallest added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The whole method, per instance</a:t>
            </a:r>
          </a:p>
        </p:txBody>
      </p:sp>
      <p:sp>
        <p:nvSpPr>
          <p:cNvPr id="3" name="Rectangle 2"/>
          <p:cNvSpPr/>
          <p:nvPr/>
        </p:nvSpPr>
        <p:spPr>
          <a:xfrm>
            <a:off x="822960" y="1463040"/>
            <a:ext cx="6400800" cy="452628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600200"/>
            <a:ext cx="5943600"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PER INSTANCE · EACH RUN AND EACH ELITE IS A PARALLEL TASK</a:t>
            </a:r>
          </a:p>
        </p:txBody>
      </p:sp>
      <p:sp>
        <p:nvSpPr>
          <p:cNvPr id="5" name="TextBox 4"/>
          <p:cNvSpPr txBox="1"/>
          <p:nvPr/>
        </p:nvSpPr>
        <p:spPr>
          <a:xfrm>
            <a:off x="1051560" y="1965960"/>
            <a:ext cx="6035040" cy="3931920"/>
          </a:xfrm>
          <a:prstGeom prst="rect">
            <a:avLst/>
          </a:prstGeom>
          <a:noFill/>
        </p:spPr>
        <p:txBody>
          <a:bodyPr wrap="square" lIns="0" rIns="0" tIns="0" bIns="0" anchor="t">
            <a:spAutoFit/>
          </a:bodyPr>
          <a:lstStyle/>
          <a:p>
            <a:pPr algn="l">
              <a:spcAft>
                <a:spcPts val="0"/>
              </a:spcAft>
            </a:pPr>
            <a:r>
              <a:rPr sz="1350" b="0" i="0">
                <a:solidFill>
                  <a:srgbClr val="12212B"/>
                </a:solidFill>
                <a:latin typeface="Courier New"/>
              </a:rPr>
              <a:t>for α in 0, 0.05, …, 1:              </a:t>
            </a:r>
            <a:r>
              <a:rPr sz="1350" b="0" i="0">
                <a:solidFill>
                  <a:srgbClr val="6B7580"/>
                </a:solidFill>
                <a:latin typeface="Courier New"/>
              </a:rPr>
              <a:t>// 21 values</a:t>
            </a:r>
          </a:p>
          <a:p>
            <a:pPr algn="l">
              <a:spcAft>
                <a:spcPts val="0"/>
              </a:spcAft>
            </a:pPr>
            <a:r>
              <a:rPr sz="1350" b="0" i="0">
                <a:solidFill>
                  <a:srgbClr val="12212B"/>
                </a:solidFill>
                <a:latin typeface="Courier New"/>
              </a:rPr>
              <a:t>    det[α] ← PJS(α)                  </a:t>
            </a:r>
            <a:r>
              <a:rPr sz="1350" b="0" i="0">
                <a:solidFill>
                  <a:srgbClr val="6B7580"/>
                </a:solidFill>
                <a:latin typeface="Courier New"/>
              </a:rPr>
              <a:t>// greedy</a:t>
            </a:r>
          </a:p>
          <a:p>
            <a:pPr algn="l">
              <a:spcAft>
                <a:spcPts val="0"/>
              </a:spcAft>
            </a:pPr>
            <a:r>
              <a:rPr sz="1350" b="0" i="0">
                <a:solidFill>
                  <a:srgbClr val="12212B"/>
                </a:solidFill>
                <a:latin typeface="Courier New"/>
              </a:rPr>
              <a:t>    for rule in {geometric, softmax}:</a:t>
            </a:r>
          </a:p>
          <a:p>
            <a:pPr algn="l">
              <a:spcAft>
                <a:spcPts val="0"/>
              </a:spcAft>
            </a:pPr>
            <a:r>
              <a:rPr sz="1350" b="0" i="0">
                <a:solidFill>
                  <a:srgbClr val="12212B"/>
                </a:solidFill>
                <a:latin typeface="Courier New"/>
              </a:rPr>
              <a:t>        for r in 1 … 10:             </a:t>
            </a:r>
            <a:r>
              <a:rPr sz="1350" b="0" i="0">
                <a:solidFill>
                  <a:srgbClr val="6B7580"/>
                </a:solidFill>
                <a:latin typeface="Courier New"/>
              </a:rPr>
              <a:t>// 1 run = 1 task</a:t>
            </a:r>
          </a:p>
          <a:p>
            <a:pPr algn="l">
              <a:spcAft>
                <a:spcPts val="0"/>
              </a:spcAft>
            </a:pPr>
            <a:r>
              <a:rPr sz="1350" b="0" i="0">
                <a:solidFill>
                  <a:srgbClr val="12212B"/>
                </a:solidFill>
                <a:latin typeface="Courier New"/>
              </a:rPr>
              <a:t>            rng ← seed(α, rule, r)   </a:t>
            </a:r>
            <a:r>
              <a:rPr sz="1350" b="0" i="0">
                <a:solidFill>
                  <a:srgbClr val="6B7580"/>
                </a:solidFill>
                <a:latin typeface="Courier New"/>
              </a:rPr>
              <a:t>// once per run</a:t>
            </a:r>
          </a:p>
          <a:p>
            <a:pPr algn="l">
              <a:spcAft>
                <a:spcPts val="0"/>
              </a:spcAft>
            </a:pPr>
            <a:r>
              <a:rPr sz="1350" b="0" i="0">
                <a:solidFill>
                  <a:srgbClr val="12212B"/>
                </a:solidFill>
                <a:latin typeface="Courier New"/>
              </a:rPr>
              <a:t>            best ← det[α]</a:t>
            </a:r>
          </a:p>
          <a:p>
            <a:pPr algn="l">
              <a:spcAft>
                <a:spcPts val="0"/>
              </a:spcAft>
            </a:pPr>
            <a:r>
              <a:rPr sz="1350" b="0" i="0">
                <a:solidFill>
                  <a:srgbClr val="12212B"/>
                </a:solidFill>
                <a:latin typeface="Courier New"/>
              </a:rPr>
              <a:t>            repeat 10 times:         </a:t>
            </a:r>
            <a:r>
              <a:rPr sz="1350" b="0" i="0">
                <a:solidFill>
                  <a:srgbClr val="6B7580"/>
                </a:solidFill>
                <a:latin typeface="Courier New"/>
              </a:rPr>
              <a:t>// in series</a:t>
            </a:r>
          </a:p>
          <a:p>
            <a:pPr algn="l">
              <a:spcAft>
                <a:spcPts val="0"/>
              </a:spcAft>
            </a:pPr>
            <a:r>
              <a:rPr sz="1350" b="0" i="0">
                <a:solidFill>
                  <a:srgbClr val="12212B"/>
                </a:solidFill>
                <a:latin typeface="Courier New"/>
              </a:rPr>
              <a:t>                S ← PJS(α, rule, rng)</a:t>
            </a:r>
          </a:p>
          <a:p>
            <a:pPr algn="l">
              <a:spcAft>
                <a:spcPts val="0"/>
              </a:spcAft>
            </a:pPr>
            <a:r>
              <a:rPr sz="1350" b="0" i="0">
                <a:solidFill>
                  <a:srgbClr val="12212B"/>
                </a:solidFill>
                <a:latin typeface="Courier New"/>
              </a:rPr>
              <a:t>                if u(S) &gt; u(best): best ← S</a:t>
            </a:r>
          </a:p>
          <a:p>
            <a:pPr algn="l">
              <a:spcAft>
                <a:spcPts val="0"/>
              </a:spcAft>
            </a:pPr>
            <a:r>
              <a:rPr sz="1350" b="0" i="0">
                <a:solidFill>
                  <a:srgbClr val="12212B"/>
                </a:solidFill>
                <a:latin typeface="Courier New"/>
              </a:rPr>
              <a:t>            run[α, rule, r] ← best</a:t>
            </a:r>
          </a:p>
          <a:p>
            <a:pPr algn="l">
              <a:spcAft>
                <a:spcPts val="0"/>
              </a:spcAft>
            </a:pPr>
            <a:r>
              <a:rPr sz="1350" b="0" i="0">
                <a:solidFill>
                  <a:srgbClr val="12212B"/>
                </a:solidFill>
                <a:latin typeface="Courier New"/>
              </a:rPr>
              <a:t/>
            </a:r>
          </a:p>
          <a:p>
            <a:pPr algn="l">
              <a:spcAft>
                <a:spcPts val="0"/>
              </a:spcAft>
            </a:pPr>
            <a:r>
              <a:rPr sz="1350" b="0" i="0">
                <a:solidFill>
                  <a:srgbClr val="12212B"/>
                </a:solidFill>
                <a:latin typeface="Courier New"/>
              </a:rPr>
              <a:t>elite ← det of the 3 best α</a:t>
            </a:r>
          </a:p>
          <a:p>
            <a:pPr algn="l">
              <a:spcAft>
                <a:spcPts val="0"/>
              </a:spcAft>
            </a:pPr>
            <a:r>
              <a:rPr sz="1350" b="0" i="0">
                <a:solidFill>
                  <a:srgbClr val="12212B"/>
                </a:solidFill>
                <a:latin typeface="Courier New"/>
              </a:rPr>
              <a:t>      ∪ 3 best runs per (α, rule)</a:t>
            </a:r>
          </a:p>
          <a:p>
            <a:pPr algn="l">
              <a:spcAft>
                <a:spcPts val="0"/>
              </a:spcAft>
            </a:pPr>
            <a:r>
              <a:rPr sz="1350" b="0" i="0">
                <a:solidFill>
                  <a:srgbClr val="12212B"/>
                </a:solidFill>
                <a:latin typeface="Courier New"/>
              </a:rPr>
              <a:t>      − duplicates                   </a:t>
            </a:r>
            <a:r>
              <a:rPr sz="1350" b="0" i="0">
                <a:solidFill>
                  <a:srgbClr val="6B7580"/>
                </a:solidFill>
                <a:latin typeface="Courier New"/>
              </a:rPr>
              <a:t>// same customers</a:t>
            </a:r>
          </a:p>
          <a:p>
            <a:pPr algn="l">
              <a:spcAft>
                <a:spcPts val="0"/>
              </a:spcAft>
            </a:pPr>
            <a:r>
              <a:rPr sz="1350" b="0" i="0">
                <a:solidFill>
                  <a:srgbClr val="12212B"/>
                </a:solidFill>
                <a:latin typeface="Courier New"/>
              </a:rPr>
              <a:t>for e in elite: e ← LOCAL_SEARCH(e)  </a:t>
            </a:r>
            <a:r>
              <a:rPr sz="1350" b="0" i="0">
                <a:solidFill>
                  <a:srgbClr val="6B7580"/>
                </a:solidFill>
                <a:latin typeface="Courier New"/>
              </a:rPr>
              <a:t>// parallel</a:t>
            </a:r>
          </a:p>
          <a:p>
            <a:pPr algn="l">
              <a:spcAft>
                <a:spcPts val="0"/>
              </a:spcAft>
            </a:pPr>
            <a:r>
              <a:rPr sz="1350" b="0" i="0">
                <a:solidFill>
                  <a:srgbClr val="12212B"/>
                </a:solidFill>
                <a:latin typeface="Courier New"/>
              </a:rPr>
              <a:t>return the elite with the most reward</a:t>
            </a:r>
          </a:p>
        </p:txBody>
      </p:sp>
      <p:sp>
        <p:nvSpPr>
          <p:cNvPr id="6" name="Rectangle 5"/>
          <p:cNvSpPr/>
          <p:nvPr/>
        </p:nvSpPr>
        <p:spPr>
          <a:xfrm>
            <a:off x="7498079" y="1463040"/>
            <a:ext cx="3867912" cy="452628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26679" y="1600200"/>
            <a:ext cx="3474720" cy="274320"/>
          </a:xfrm>
          <a:prstGeom prst="rect">
            <a:avLst/>
          </a:prstGeom>
          <a:noFill/>
        </p:spPr>
        <p:txBody>
          <a:bodyPr wrap="square" lIns="0" rIns="0" tIns="0" bIns="0" anchor="t">
            <a:spAutoFit/>
          </a:bodyPr>
          <a:lstStyle/>
          <a:p>
            <a:pPr algn="l">
              <a:spcAft>
                <a:spcPts val="0"/>
              </a:spcAft>
            </a:pPr>
            <a:r>
              <a:rPr sz="1100" b="1" i="0">
                <a:solidFill>
                  <a:srgbClr val="1F7A6D"/>
                </a:solidFill>
                <a:latin typeface="Calibri"/>
              </a:rPr>
              <a:t>LOCAL_SEARCH(S)</a:t>
            </a:r>
          </a:p>
        </p:txBody>
      </p:sp>
      <p:sp>
        <p:nvSpPr>
          <p:cNvPr id="8" name="TextBox 7"/>
          <p:cNvSpPr txBox="1"/>
          <p:nvPr/>
        </p:nvSpPr>
        <p:spPr>
          <a:xfrm>
            <a:off x="7726679" y="1965960"/>
            <a:ext cx="3520440" cy="3931920"/>
          </a:xfrm>
          <a:prstGeom prst="rect">
            <a:avLst/>
          </a:prstGeom>
          <a:noFill/>
        </p:spPr>
        <p:txBody>
          <a:bodyPr wrap="square" lIns="0" rIns="0" tIns="0" bIns="0" anchor="t">
            <a:spAutoFit/>
          </a:bodyPr>
          <a:lstStyle/>
          <a:p>
            <a:pPr algn="l">
              <a:spcAft>
                <a:spcPts val="0"/>
              </a:spcAft>
            </a:pPr>
            <a:r>
              <a:rPr sz="1350" b="0" i="0">
                <a:solidFill>
                  <a:srgbClr val="12212B"/>
                </a:solidFill>
                <a:latin typeface="Courier New"/>
              </a:rPr>
              <a:t>repeat:</a:t>
            </a:r>
          </a:p>
          <a:p>
            <a:pPr algn="l">
              <a:spcAft>
                <a:spcPts val="0"/>
              </a:spcAft>
            </a:pPr>
            <a:r>
              <a:rPr sz="1350" b="0" i="0">
                <a:solidFill>
                  <a:srgbClr val="12212B"/>
                </a:solidFill>
                <a:latin typeface="Courier New"/>
              </a:rPr>
              <a:t>  for each route R of S:</a:t>
            </a:r>
          </a:p>
          <a:p>
            <a:pPr algn="l">
              <a:spcAft>
                <a:spcPts val="0"/>
              </a:spcAft>
            </a:pPr>
            <a:r>
              <a:rPr sz="1350" b="0" i="0">
                <a:solidFill>
                  <a:srgbClr val="12212B"/>
                </a:solidFill>
                <a:latin typeface="Courier New"/>
              </a:rPr>
              <a:t>    2-OPT(R)</a:t>
            </a:r>
          </a:p>
          <a:p>
            <a:pPr algn="l">
              <a:spcAft>
                <a:spcPts val="0"/>
              </a:spcAft>
            </a:pPr>
            <a:r>
              <a:rPr sz="1350" b="0" i="0">
                <a:solidFill>
                  <a:srgbClr val="12212B"/>
                </a:solidFill>
                <a:latin typeface="Courier New"/>
              </a:rPr>
              <a:t>    </a:t>
            </a:r>
            <a:r>
              <a:rPr sz="1350" b="0" i="0">
                <a:solidFill>
                  <a:srgbClr val="6B7580"/>
                </a:solidFill>
                <a:latin typeface="Courier New"/>
              </a:rPr>
              <a:t>// reverse a segment</a:t>
            </a:r>
          </a:p>
          <a:p>
            <a:pPr algn="l">
              <a:spcAft>
                <a:spcPts val="0"/>
              </a:spcAft>
            </a:pPr>
            <a:r>
              <a:rPr sz="1350" b="0" i="0">
                <a:solidFill>
                  <a:srgbClr val="12212B"/>
                </a:solidFill>
                <a:latin typeface="Courier New"/>
              </a:rPr>
              <a:t>    </a:t>
            </a:r>
            <a:r>
              <a:rPr sz="1350" b="0" i="0">
                <a:solidFill>
                  <a:srgbClr val="6B7580"/>
                </a:solidFill>
                <a:latin typeface="Courier New"/>
              </a:rPr>
              <a:t>// while R gets shorter</a:t>
            </a:r>
          </a:p>
          <a:p>
            <a:pPr algn="l">
              <a:spcAft>
                <a:spcPts val="0"/>
              </a:spcAft>
            </a:pPr>
            <a:r>
              <a:rPr sz="1350" b="0" i="0">
                <a:solidFill>
                  <a:srgbClr val="12212B"/>
                </a:solidFill>
                <a:latin typeface="Courier New"/>
              </a:rPr>
              <a:t>  k ← unvisited customer</a:t>
            </a:r>
          </a:p>
          <a:p>
            <a:pPr algn="l">
              <a:spcAft>
                <a:spcPts val="0"/>
              </a:spcAft>
            </a:pPr>
            <a:r>
              <a:rPr sz="1350" b="0" i="0">
                <a:solidFill>
                  <a:srgbClr val="12212B"/>
                </a:solidFill>
                <a:latin typeface="Courier New"/>
              </a:rPr>
              <a:t>      with most reward</a:t>
            </a:r>
          </a:p>
          <a:p>
            <a:pPr algn="l">
              <a:spcAft>
                <a:spcPts val="0"/>
              </a:spcAft>
            </a:pPr>
            <a:r>
              <a:rPr sz="1350" b="0" i="0">
                <a:solidFill>
                  <a:srgbClr val="12212B"/>
                </a:solidFill>
                <a:latin typeface="Courier New"/>
              </a:rPr>
              <a:t>      that fits in a route</a:t>
            </a:r>
          </a:p>
          <a:p>
            <a:pPr algn="l">
              <a:spcAft>
                <a:spcPts val="0"/>
              </a:spcAft>
            </a:pPr>
            <a:r>
              <a:rPr sz="1350" b="0" i="0">
                <a:solidFill>
                  <a:srgbClr val="12212B"/>
                </a:solidFill>
                <a:latin typeface="Courier New"/>
              </a:rPr>
              <a:t>      </a:t>
            </a:r>
            <a:r>
              <a:rPr sz="1350" b="0" i="0">
                <a:solidFill>
                  <a:srgbClr val="6B7580"/>
                </a:solidFill>
                <a:latin typeface="Courier New"/>
              </a:rPr>
              <a:t>// tie: least time added</a:t>
            </a:r>
          </a:p>
          <a:p>
            <a:pPr algn="l">
              <a:spcAft>
                <a:spcPts val="0"/>
              </a:spcAft>
            </a:pPr>
            <a:r>
              <a:rPr sz="1350" b="0" i="0">
                <a:solidFill>
                  <a:srgbClr val="12212B"/>
                </a:solidFill>
                <a:latin typeface="Courier New"/>
              </a:rPr>
              <a:t>  if no k: return S</a:t>
            </a:r>
          </a:p>
          <a:p>
            <a:pPr algn="l">
              <a:spcAft>
                <a:spcPts val="0"/>
              </a:spcAft>
            </a:pPr>
            <a:r>
              <a:rPr sz="1350" b="0" i="0">
                <a:solidFill>
                  <a:srgbClr val="12212B"/>
                </a:solidFill>
                <a:latin typeface="Courier New"/>
              </a:rPr>
              <a:t>  insert k at its</a:t>
            </a:r>
          </a:p>
          <a:p>
            <a:pPr algn="l">
              <a:spcAft>
                <a:spcPts val="0"/>
              </a:spcAft>
            </a:pPr>
            <a:r>
              <a:rPr sz="1350" b="0" i="0">
                <a:solidFill>
                  <a:srgbClr val="12212B"/>
                </a:solidFill>
                <a:latin typeface="Courier New"/>
              </a:rPr>
              <a:t>      cheapest position</a:t>
            </a:r>
          </a:p>
        </p:txBody>
      </p:sp>
      <p:sp>
        <p:nvSpPr>
          <p:cNvPr id="9" name="TextBox 8"/>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u(S) = total reward. rayon spreads the tasks (21 per instance and α) over 12 threads; the iterations of a run go in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EEBE3"/>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Why Rust and not Python</a:t>
            </a:r>
          </a:p>
        </p:txBody>
      </p:sp>
      <p:sp>
        <p:nvSpPr>
          <p:cNvPr id="3" name="Rectangle 2"/>
          <p:cNvSpPr/>
          <p:nvPr/>
        </p:nvSpPr>
        <p:spPr>
          <a:xfrm>
            <a:off x="822960" y="1463040"/>
            <a:ext cx="5120640" cy="1874519"/>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645920"/>
            <a:ext cx="4572000" cy="365760"/>
          </a:xfrm>
          <a:prstGeom prst="rect">
            <a:avLst/>
          </a:prstGeom>
          <a:noFill/>
        </p:spPr>
        <p:txBody>
          <a:bodyPr wrap="square" lIns="0" rIns="0" tIns="0" bIns="0" anchor="t">
            <a:spAutoFit/>
          </a:bodyPr>
          <a:lstStyle/>
          <a:p>
            <a:pPr algn="l">
              <a:spcAft>
                <a:spcPts val="0"/>
              </a:spcAft>
            </a:pPr>
            <a:r>
              <a:rPr sz="2000" b="1" i="0">
                <a:solidFill>
                  <a:srgbClr val="1F7A6D"/>
                </a:solidFill>
                <a:latin typeface="Calibri"/>
              </a:rPr>
              <a:t>Compute speed</a:t>
            </a:r>
          </a:p>
        </p:txBody>
      </p:sp>
      <p:sp>
        <p:nvSpPr>
          <p:cNvPr id="5" name="TextBox 4"/>
          <p:cNvSpPr txBox="1"/>
          <p:nvPr/>
        </p:nvSpPr>
        <p:spPr>
          <a:xfrm>
            <a:off x="1097280" y="2103120"/>
            <a:ext cx="4572000" cy="132588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Compiled to native code, no interpreter in the inner loop. We did not time a Python version, but the main grid, about 1.6 million constructions plus local search, runs in 140 s.</a:t>
            </a:r>
          </a:p>
        </p:txBody>
      </p:sp>
      <p:sp>
        <p:nvSpPr>
          <p:cNvPr id="6" name="Rectangle 5"/>
          <p:cNvSpPr/>
          <p:nvPr/>
        </p:nvSpPr>
        <p:spPr>
          <a:xfrm>
            <a:off x="6245352" y="1463040"/>
            <a:ext cx="5120640" cy="1874519"/>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19672" y="1645920"/>
            <a:ext cx="4572000" cy="365760"/>
          </a:xfrm>
          <a:prstGeom prst="rect">
            <a:avLst/>
          </a:prstGeom>
          <a:noFill/>
        </p:spPr>
        <p:txBody>
          <a:bodyPr wrap="square" lIns="0" rIns="0" tIns="0" bIns="0" anchor="t">
            <a:spAutoFit/>
          </a:bodyPr>
          <a:lstStyle/>
          <a:p>
            <a:pPr algn="l">
              <a:spcAft>
                <a:spcPts val="0"/>
              </a:spcAft>
            </a:pPr>
            <a:r>
              <a:rPr sz="2000" b="1" i="0">
                <a:solidFill>
                  <a:srgbClr val="1F7A6D"/>
                </a:solidFill>
                <a:latin typeface="Calibri"/>
              </a:rPr>
              <a:t>Parallelism with rayon</a:t>
            </a:r>
          </a:p>
        </p:txBody>
      </p:sp>
      <p:sp>
        <p:nvSpPr>
          <p:cNvPr id="8" name="TextBox 7"/>
          <p:cNvSpPr txBox="1"/>
          <p:nvPr/>
        </p:nvSpPr>
        <p:spPr>
          <a:xfrm>
            <a:off x="6519672" y="2103120"/>
            <a:ext cx="4572000" cy="5486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Going parallel is a one-word change, and the compiler rejects data races:</a:t>
            </a:r>
          </a:p>
        </p:txBody>
      </p:sp>
      <p:sp>
        <p:nvSpPr>
          <p:cNvPr id="9" name="Rectangle 8"/>
          <p:cNvSpPr/>
          <p:nvPr/>
        </p:nvSpPr>
        <p:spPr>
          <a:xfrm>
            <a:off x="6519672" y="2606040"/>
            <a:ext cx="4572000" cy="548640"/>
          </a:xfrm>
          <a:prstGeom prst="rect">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56832" y="2651760"/>
            <a:ext cx="4389120" cy="457200"/>
          </a:xfrm>
          <a:prstGeom prst="rect">
            <a:avLst/>
          </a:prstGeom>
          <a:noFill/>
        </p:spPr>
        <p:txBody>
          <a:bodyPr wrap="square" lIns="0" rIns="0" tIns="0" bIns="0" anchor="t">
            <a:spAutoFit/>
          </a:bodyPr>
          <a:lstStyle/>
          <a:p>
            <a:pPr algn="l">
              <a:spcAft>
                <a:spcPts val="0"/>
              </a:spcAft>
            </a:pPr>
            <a:r>
              <a:rPr sz="1200" b="0" i="0">
                <a:solidFill>
                  <a:srgbClr val="12212B"/>
                </a:solidFill>
                <a:latin typeface="Courier New"/>
              </a:rPr>
              <a:t>files.iter().map(load)      </a:t>
            </a:r>
            <a:r>
              <a:rPr sz="1200" b="0" i="0">
                <a:solidFill>
                  <a:srgbClr val="6B7580"/>
                </a:solidFill>
                <a:latin typeface="Courier New"/>
              </a:rPr>
              <a:t>// 1 thread</a:t>
            </a:r>
          </a:p>
          <a:p>
            <a:pPr algn="l">
              <a:spcAft>
                <a:spcPts val="0"/>
              </a:spcAft>
            </a:pPr>
            <a:r>
              <a:rPr sz="1200" b="0" i="0">
                <a:solidFill>
                  <a:srgbClr val="12212B"/>
                </a:solidFill>
                <a:latin typeface="Courier New"/>
              </a:rPr>
              <a:t>files.par_iter().map(load)  </a:t>
            </a:r>
            <a:r>
              <a:rPr sz="1200" b="0" i="0">
                <a:solidFill>
                  <a:srgbClr val="6B7580"/>
                </a:solidFill>
                <a:latin typeface="Courier New"/>
              </a:rPr>
              <a:t>// all 12</a:t>
            </a:r>
          </a:p>
        </p:txBody>
      </p:sp>
      <p:sp>
        <p:nvSpPr>
          <p:cNvPr id="11" name="Rectangle 10"/>
          <p:cNvSpPr/>
          <p:nvPr/>
        </p:nvSpPr>
        <p:spPr>
          <a:xfrm>
            <a:off x="822960" y="3566160"/>
            <a:ext cx="5120640" cy="1874519"/>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749039"/>
            <a:ext cx="4572000" cy="365760"/>
          </a:xfrm>
          <a:prstGeom prst="rect">
            <a:avLst/>
          </a:prstGeom>
          <a:noFill/>
        </p:spPr>
        <p:txBody>
          <a:bodyPr wrap="square" lIns="0" rIns="0" tIns="0" bIns="0" anchor="t">
            <a:spAutoFit/>
          </a:bodyPr>
          <a:lstStyle/>
          <a:p>
            <a:pPr algn="l">
              <a:spcAft>
                <a:spcPts val="0"/>
              </a:spcAft>
            </a:pPr>
            <a:r>
              <a:rPr sz="2000" b="1" i="0">
                <a:solidFill>
                  <a:srgbClr val="B5471E"/>
                </a:solidFill>
                <a:latin typeface="Calibri"/>
              </a:rPr>
              <a:t>The code is written mostly by AI</a:t>
            </a:r>
          </a:p>
        </p:txBody>
      </p:sp>
      <p:sp>
        <p:nvSpPr>
          <p:cNvPr id="13" name="TextBox 12"/>
          <p:cNvSpPr txBox="1"/>
          <p:nvPr/>
        </p:nvSpPr>
        <p:spPr>
          <a:xfrm>
            <a:off x="1097280" y="4206240"/>
            <a:ext cx="4572000" cy="132588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Python's big advantage is that people write it faster. When an AI writes most of the code, that advantage mostly disappears, and the faster language costs nothing extra.</a:t>
            </a:r>
          </a:p>
        </p:txBody>
      </p:sp>
      <p:sp>
        <p:nvSpPr>
          <p:cNvPr id="14" name="Rectangle 13"/>
          <p:cNvSpPr/>
          <p:nvPr/>
        </p:nvSpPr>
        <p:spPr>
          <a:xfrm>
            <a:off x="6245352" y="3566160"/>
            <a:ext cx="5120640" cy="1874519"/>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19672" y="3749039"/>
            <a:ext cx="4572000" cy="365760"/>
          </a:xfrm>
          <a:prstGeom prst="rect">
            <a:avLst/>
          </a:prstGeom>
          <a:noFill/>
        </p:spPr>
        <p:txBody>
          <a:bodyPr wrap="square" lIns="0" rIns="0" tIns="0" bIns="0" anchor="t">
            <a:spAutoFit/>
          </a:bodyPr>
          <a:lstStyle/>
          <a:p>
            <a:pPr algn="l">
              <a:spcAft>
                <a:spcPts val="0"/>
              </a:spcAft>
            </a:pPr>
            <a:r>
              <a:rPr sz="2000" b="1" i="0">
                <a:solidFill>
                  <a:srgbClr val="B5471E"/>
                </a:solidFill>
                <a:latin typeface="Calibri"/>
              </a:rPr>
              <a:t>The compiler guides the AI</a:t>
            </a:r>
          </a:p>
        </p:txBody>
      </p:sp>
      <p:sp>
        <p:nvSpPr>
          <p:cNvPr id="16" name="TextBox 15"/>
          <p:cNvSpPr txBox="1"/>
          <p:nvPr/>
        </p:nvSpPr>
        <p:spPr>
          <a:xfrm>
            <a:off x="6519672" y="4206240"/>
            <a:ext cx="4572000" cy="132588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rustc names the exact line, explains the error and often suggests the fix. Type and ownership errors show up at compile time, not halfway through a two-minute run.</a:t>
            </a:r>
          </a:p>
        </p:txBody>
      </p:sp>
      <p:sp>
        <p:nvSpPr>
          <p:cNvPr id="17" name="TextBox 16"/>
          <p:cNvSpPr txBox="1"/>
          <p:nvPr/>
        </p:nvSpPr>
        <p:spPr>
          <a:xfrm>
            <a:off x="822960" y="5715000"/>
            <a:ext cx="10543032" cy="411480"/>
          </a:xfrm>
          <a:prstGeom prst="rect">
            <a:avLst/>
          </a:prstGeom>
          <a:noFill/>
        </p:spPr>
        <p:txBody>
          <a:bodyPr wrap="square" lIns="0" rIns="0" tIns="0" bIns="0" anchor="t">
            <a:spAutoFit/>
          </a:bodyPr>
          <a:lstStyle/>
          <a:p>
            <a:pPr algn="l">
              <a:spcAft>
                <a:spcPts val="0"/>
              </a:spcAft>
            </a:pPr>
            <a:r>
              <a:rPr sz="1800" b="1" i="0">
                <a:solidFill>
                  <a:srgbClr val="1F7A6D"/>
                </a:solidFill>
                <a:latin typeface="Calibri"/>
              </a:rPr>
              <a:t>Fast enough to run every α, every run and every elite on all 387 instances in about two minutes.</a:t>
            </a:r>
          </a:p>
        </p:txBody>
      </p:sp>
      <p:sp>
        <p:nvSpPr>
          <p:cNvPr id="18" name="TextBox 17"/>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Release build: fat LTO, one codegen unit, target-cpu=native. Python was used once, as an independent check: 0 differences in 38,700 runs.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Each layer adds reward: +20 % over plain PJS</a:t>
            </a:r>
          </a:p>
        </p:txBody>
      </p:sp>
      <p:sp>
        <p:nvSpPr>
          <p:cNvPr id="3" name="TextBox 2"/>
          <p:cNvSpPr txBox="1"/>
          <p:nvPr/>
        </p:nvSpPr>
        <p:spPr>
          <a:xfrm>
            <a:off x="1097280" y="1600200"/>
            <a:ext cx="5943600"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TOTAL REWARD, 353 FEASIBLE INSTANCES</a:t>
            </a:r>
          </a:p>
        </p:txBody>
      </p:sp>
      <p:graphicFrame>
        <p:nvGraphicFramePr>
          <p:cNvPr id="4" name="Chart 3"/>
          <p:cNvGraphicFramePr>
            <a:graphicFrameLocks noGrp="1"/>
          </p:cNvGraphicFramePr>
          <p:nvPr/>
        </p:nvGraphicFramePr>
        <p:xfrm>
          <a:off x="914400" y="1920240"/>
          <a:ext cx="6309360" cy="3566160"/>
        </p:xfrm>
        <a:graphic>
          <a:graphicData uri="http://schemas.openxmlformats.org/drawingml/2006/chart">
            <c:chart xmlns:c="http://schemas.openxmlformats.org/drawingml/2006/chart" r:id="rId2"/>
          </a:graphicData>
        </a:graphic>
      </p:graphicFrame>
      <p:sp>
        <p:nvSpPr>
          <p:cNvPr id="5" name="TextBox 4"/>
          <p:cNvSpPr txBox="1"/>
          <p:nvPr/>
        </p:nvSpPr>
        <p:spPr>
          <a:xfrm>
            <a:off x="1097280" y="5486400"/>
            <a:ext cx="5486400" cy="274320"/>
          </a:xfrm>
          <a:prstGeom prst="rect">
            <a:avLst/>
          </a:prstGeom>
          <a:noFill/>
        </p:spPr>
        <p:txBody>
          <a:bodyPr wrap="square" lIns="0" rIns="0" tIns="0" bIns="0" anchor="t">
            <a:spAutoFit/>
          </a:bodyPr>
          <a:lstStyle/>
          <a:p>
            <a:pPr algn="l">
              <a:spcAft>
                <a:spcPts val="0"/>
              </a:spcAft>
            </a:pPr>
            <a:r>
              <a:rPr sz="1100" b="0" i="0">
                <a:solidFill>
                  <a:srgbClr val="6B7580"/>
                </a:solidFill>
                <a:latin typeface="Calibri"/>
              </a:rPr>
              <a:t>Axis starts at 140,000</a:t>
            </a:r>
          </a:p>
        </p:txBody>
      </p:sp>
      <p:sp>
        <p:nvSpPr>
          <p:cNvPr id="6" name="TextBox 5"/>
          <p:cNvSpPr txBox="1"/>
          <p:nvPr/>
        </p:nvSpPr>
        <p:spPr>
          <a:xfrm>
            <a:off x="7680960" y="1691640"/>
            <a:ext cx="3657600" cy="640080"/>
          </a:xfrm>
          <a:prstGeom prst="rect">
            <a:avLst/>
          </a:prstGeom>
          <a:noFill/>
        </p:spPr>
        <p:txBody>
          <a:bodyPr wrap="square" lIns="0" rIns="0" tIns="0" bIns="0" anchor="t">
            <a:spAutoFit/>
          </a:bodyPr>
          <a:lstStyle/>
          <a:p>
            <a:pPr algn="l">
              <a:spcAft>
                <a:spcPts val="0"/>
              </a:spcAft>
            </a:pPr>
            <a:r>
              <a:rPr sz="3600" b="1" i="0">
                <a:solidFill>
                  <a:srgbClr val="1F7A6D"/>
                </a:solidFill>
                <a:latin typeface="Arial"/>
              </a:rPr>
              <a:t>+8.0 %</a:t>
            </a:r>
          </a:p>
        </p:txBody>
      </p:sp>
      <p:sp>
        <p:nvSpPr>
          <p:cNvPr id="7" name="TextBox 6"/>
          <p:cNvSpPr txBox="1"/>
          <p:nvPr/>
        </p:nvSpPr>
        <p:spPr>
          <a:xfrm>
            <a:off x="7680960" y="2313432"/>
            <a:ext cx="3657600" cy="59436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GRASP alone over the best deterministic α</a:t>
            </a:r>
          </a:p>
        </p:txBody>
      </p:sp>
      <p:sp>
        <p:nvSpPr>
          <p:cNvPr id="8" name="TextBox 7"/>
          <p:cNvSpPr txBox="1"/>
          <p:nvPr/>
        </p:nvSpPr>
        <p:spPr>
          <a:xfrm>
            <a:off x="7680960" y="3017520"/>
            <a:ext cx="3657600" cy="640080"/>
          </a:xfrm>
          <a:prstGeom prst="rect">
            <a:avLst/>
          </a:prstGeom>
          <a:noFill/>
        </p:spPr>
        <p:txBody>
          <a:bodyPr wrap="square" lIns="0" rIns="0" tIns="0" bIns="0" anchor="t">
            <a:spAutoFit/>
          </a:bodyPr>
          <a:lstStyle/>
          <a:p>
            <a:pPr algn="l">
              <a:spcAft>
                <a:spcPts val="0"/>
              </a:spcAft>
            </a:pPr>
            <a:r>
              <a:rPr sz="3600" b="1" i="0">
                <a:solidFill>
                  <a:srgbClr val="1F7A6D"/>
                </a:solidFill>
                <a:latin typeface="Arial"/>
              </a:rPr>
              <a:t>93.6 %</a:t>
            </a:r>
          </a:p>
        </p:txBody>
      </p:sp>
      <p:sp>
        <p:nvSpPr>
          <p:cNvPr id="9" name="TextBox 8"/>
          <p:cNvSpPr txBox="1"/>
          <p:nvPr/>
        </p:nvSpPr>
        <p:spPr>
          <a:xfrm>
            <a:off x="7680960" y="3639312"/>
            <a:ext cx="3657600" cy="59436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of the elite improve with local search, +18 % on average</a:t>
            </a:r>
          </a:p>
        </p:txBody>
      </p:sp>
      <p:sp>
        <p:nvSpPr>
          <p:cNvPr id="10" name="TextBox 9"/>
          <p:cNvSpPr txBox="1"/>
          <p:nvPr/>
        </p:nvSpPr>
        <p:spPr>
          <a:xfrm>
            <a:off x="7680960" y="4343400"/>
            <a:ext cx="3657600" cy="640080"/>
          </a:xfrm>
          <a:prstGeom prst="rect">
            <a:avLst/>
          </a:prstGeom>
          <a:noFill/>
        </p:spPr>
        <p:txBody>
          <a:bodyPr wrap="square" lIns="0" rIns="0" tIns="0" bIns="0" anchor="t">
            <a:spAutoFit/>
          </a:bodyPr>
          <a:lstStyle/>
          <a:p>
            <a:pPr algn="l">
              <a:spcAft>
                <a:spcPts val="0"/>
              </a:spcAft>
            </a:pPr>
            <a:r>
              <a:rPr sz="3600" b="1" i="0">
                <a:solidFill>
                  <a:srgbClr val="B5471E"/>
                </a:solidFill>
                <a:latin typeface="Arial"/>
              </a:rPr>
              <a:t>163 / 353</a:t>
            </a:r>
          </a:p>
        </p:txBody>
      </p:sp>
      <p:sp>
        <p:nvSpPr>
          <p:cNvPr id="11" name="TextBox 10"/>
          <p:cNvSpPr txBox="1"/>
          <p:nvPr/>
        </p:nvSpPr>
        <p:spPr>
          <a:xfrm>
            <a:off x="7680960" y="4965192"/>
            <a:ext cx="3657600" cy="59436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instances where the winner was not the best solution before local search</a:t>
            </a:r>
          </a:p>
        </p:txBody>
      </p:sp>
      <p:sp>
        <p:nvSpPr>
          <p:cNvPr id="12" name="TextBox 11"/>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Grid: 21 α × (1 deterministic + 10 geometric + 10 softmax runs of 10 iterations) per instance, then elite and local search. 140 s for all 387 instances on 12 threads.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One instance, before and after: p4.3.k</a:t>
            </a:r>
          </a:p>
        </p:txBody>
      </p:sp>
      <p:sp>
        <p:nvSpPr>
          <p:cNvPr id="3" name="TextBox 2"/>
          <p:cNvSpPr txBox="1"/>
          <p:nvPr/>
        </p:nvSpPr>
        <p:spPr>
          <a:xfrm>
            <a:off x="822960" y="1417320"/>
            <a:ext cx="5029200" cy="36576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PJS, best α = 0.40</a:t>
            </a:r>
          </a:p>
        </p:txBody>
      </p:sp>
      <p:sp>
        <p:nvSpPr>
          <p:cNvPr id="4" name="TextBox 3"/>
          <p:cNvSpPr txBox="1"/>
          <p:nvPr/>
        </p:nvSpPr>
        <p:spPr>
          <a:xfrm>
            <a:off x="822960" y="1783080"/>
            <a:ext cx="5029200" cy="3200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reward 614 · 32 of 98 customers</a:t>
            </a:r>
          </a:p>
        </p:txBody>
      </p:sp>
      <p:pic>
        <p:nvPicPr>
          <p:cNvPr id="5" name="Picture 4" descr="p4.3.k_det.png"/>
          <p:cNvPicPr>
            <a:picLocks noChangeAspect="1"/>
          </p:cNvPicPr>
          <p:nvPr/>
        </p:nvPicPr>
        <p:blipFill>
          <a:blip r:embed="rId2"/>
          <a:stretch>
            <a:fillRect/>
          </a:stretch>
        </p:blipFill>
        <p:spPr>
          <a:xfrm>
            <a:off x="1234440" y="2194560"/>
            <a:ext cx="3936106" cy="3429000"/>
          </a:xfrm>
          <a:prstGeom prst="rect">
            <a:avLst/>
          </a:prstGeom>
        </p:spPr>
      </p:pic>
      <p:sp>
        <p:nvSpPr>
          <p:cNvPr id="6" name="TextBox 5"/>
          <p:cNvSpPr txBox="1"/>
          <p:nvPr/>
        </p:nvSpPr>
        <p:spPr>
          <a:xfrm>
            <a:off x="6309360" y="1417320"/>
            <a:ext cx="5029200" cy="365760"/>
          </a:xfrm>
          <a:prstGeom prst="rect">
            <a:avLst/>
          </a:prstGeom>
          <a:noFill/>
        </p:spPr>
        <p:txBody>
          <a:bodyPr wrap="square" lIns="0" rIns="0" tIns="0" bIns="0" anchor="t">
            <a:spAutoFit/>
          </a:bodyPr>
          <a:lstStyle/>
          <a:p>
            <a:pPr algn="l">
              <a:spcAft>
                <a:spcPts val="0"/>
              </a:spcAft>
            </a:pPr>
            <a:r>
              <a:rPr sz="2000" b="1" i="0">
                <a:solidFill>
                  <a:srgbClr val="1F7A6D"/>
                </a:solidFill>
                <a:latin typeface="Calibri"/>
              </a:rPr>
              <a:t>GRASP + local search</a:t>
            </a:r>
          </a:p>
        </p:txBody>
      </p:sp>
      <p:sp>
        <p:nvSpPr>
          <p:cNvPr id="7" name="TextBox 6"/>
          <p:cNvSpPr txBox="1"/>
          <p:nvPr/>
        </p:nvSpPr>
        <p:spPr>
          <a:xfrm>
            <a:off x="6309360" y="1783080"/>
            <a:ext cx="5029200" cy="3200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reward 874 · 54 of 98 customers</a:t>
            </a:r>
          </a:p>
        </p:txBody>
      </p:sp>
      <p:pic>
        <p:nvPicPr>
          <p:cNvPr id="8" name="Picture 7" descr="p4.3.k_ls.png"/>
          <p:cNvPicPr>
            <a:picLocks noChangeAspect="1"/>
          </p:cNvPicPr>
          <p:nvPr/>
        </p:nvPicPr>
        <p:blipFill>
          <a:blip r:embed="rId3"/>
          <a:stretch>
            <a:fillRect/>
          </a:stretch>
        </p:blipFill>
        <p:spPr>
          <a:xfrm>
            <a:off x="6720840" y="2194560"/>
            <a:ext cx="3936106" cy="3429000"/>
          </a:xfrm>
          <a:prstGeom prst="rect">
            <a:avLst/>
          </a:prstGeom>
        </p:spPr>
      </p:pic>
      <p:sp>
        <p:nvSpPr>
          <p:cNvPr id="9" name="TextBox 8"/>
          <p:cNvSpPr txBox="1"/>
          <p:nvPr/>
        </p:nvSpPr>
        <p:spPr>
          <a:xfrm>
            <a:off x="822960" y="5806440"/>
            <a:ext cx="10543032" cy="411480"/>
          </a:xfrm>
          <a:prstGeom prst="rect">
            <a:avLst/>
          </a:prstGeom>
          <a:noFill/>
        </p:spPr>
        <p:txBody>
          <a:bodyPr wrap="square" lIns="0" rIns="0" tIns="0" bIns="0" anchor="t">
            <a:spAutoFit/>
          </a:bodyPr>
          <a:lstStyle/>
          <a:p>
            <a:pPr algn="l">
              <a:spcAft>
                <a:spcPts val="0"/>
              </a:spcAft>
            </a:pPr>
            <a:r>
              <a:rPr sz="1800" b="1" i="0">
                <a:solidFill>
                  <a:srgbClr val="1F7A6D"/>
                </a:solidFill>
                <a:latin typeface="Calibri"/>
              </a:rPr>
              <a:t>+42 %: same three vehicles, same time limit, 22 more customers.</a:t>
            </a:r>
          </a:p>
        </p:txBody>
      </p:sp>
      <p:sp>
        <p:nvSpPr>
          <p:cNvPr id="10" name="TextBox 9"/>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m = 3, tmax = 50. Final solution from a geometric run with α = 0.45: reward 625 before local search, 19 customers inserted. Marker area ∝ reward.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EBE3"/>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The gain grows with the instance</a:t>
            </a:r>
          </a:p>
        </p:txBody>
      </p:sp>
      <p:sp>
        <p:nvSpPr>
          <p:cNvPr id="3" name="TextBox 2"/>
          <p:cNvSpPr txBox="1"/>
          <p:nvPr/>
        </p:nvSpPr>
        <p:spPr>
          <a:xfrm>
            <a:off x="1097280" y="1600200"/>
            <a:ext cx="6400800"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FINAL SOLUTION OVER PLAIN PJS, TOTAL REWARD PER SET</a:t>
            </a:r>
          </a:p>
        </p:txBody>
      </p:sp>
      <p:graphicFrame>
        <p:nvGraphicFramePr>
          <p:cNvPr id="4" name="Chart 3"/>
          <p:cNvGraphicFramePr>
            <a:graphicFrameLocks noGrp="1"/>
          </p:cNvGraphicFramePr>
          <p:nvPr/>
        </p:nvGraphicFramePr>
        <p:xfrm>
          <a:off x="914400" y="1920240"/>
          <a:ext cx="6583680" cy="3840480"/>
        </p:xfrm>
        <a:graphic>
          <a:graphicData uri="http://schemas.openxmlformats.org/drawingml/2006/chart">
            <c:chart xmlns:c="http://schemas.openxmlformats.org/drawingml/2006/chart" r:id="rId2"/>
          </a:graphicData>
        </a:graphic>
      </p:graphicFrame>
      <p:sp>
        <p:nvSpPr>
          <p:cNvPr id="5" name="TextBox 4"/>
          <p:cNvSpPr txBox="1"/>
          <p:nvPr/>
        </p:nvSpPr>
        <p:spPr>
          <a:xfrm>
            <a:off x="7955279" y="2011680"/>
            <a:ext cx="3410712" cy="36576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Small sets: little room</a:t>
            </a:r>
          </a:p>
        </p:txBody>
      </p:sp>
      <p:sp>
        <p:nvSpPr>
          <p:cNvPr id="6" name="TextBox 5"/>
          <p:cNvSpPr txBox="1"/>
          <p:nvPr/>
        </p:nvSpPr>
        <p:spPr>
          <a:xfrm>
            <a:off x="7955279" y="2423160"/>
            <a:ext cx="3410712" cy="118872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p1–p3 have 21 to 33 nodes, so few customers are left to insert.</a:t>
            </a:r>
          </a:p>
        </p:txBody>
      </p:sp>
      <p:sp>
        <p:nvSpPr>
          <p:cNvPr id="7" name="TextBox 6"/>
          <p:cNvSpPr txBox="1"/>
          <p:nvPr/>
        </p:nvSpPr>
        <p:spPr>
          <a:xfrm>
            <a:off x="7955279" y="3611880"/>
            <a:ext cx="3410712" cy="365760"/>
          </a:xfrm>
          <a:prstGeom prst="rect">
            <a:avLst/>
          </a:prstGeom>
          <a:noFill/>
        </p:spPr>
        <p:txBody>
          <a:bodyPr wrap="square" lIns="0" rIns="0" tIns="0" bIns="0" anchor="t">
            <a:spAutoFit/>
          </a:bodyPr>
          <a:lstStyle/>
          <a:p>
            <a:pPr algn="l">
              <a:spcAft>
                <a:spcPts val="0"/>
              </a:spcAft>
            </a:pPr>
            <a:r>
              <a:rPr sz="2000" b="1" i="0">
                <a:solidFill>
                  <a:srgbClr val="B5471E"/>
                </a:solidFill>
                <a:latin typeface="Calibri"/>
              </a:rPr>
              <a:t>p4 and p7: about 100 nodes</a:t>
            </a:r>
          </a:p>
        </p:txBody>
      </p:sp>
      <p:sp>
        <p:nvSpPr>
          <p:cNvPr id="8" name="TextBox 7"/>
          <p:cNvSpPr txBox="1"/>
          <p:nvPr/>
        </p:nvSpPr>
        <p:spPr>
          <a:xfrm>
            <a:off x="7955279" y="4023360"/>
            <a:ext cx="3410712" cy="1463040"/>
          </a:xfrm>
          <a:prstGeom prst="rect">
            <a:avLst/>
          </a:prstGeom>
          <a:noFill/>
        </p:spPr>
        <p:txBody>
          <a:bodyPr wrap="square" lIns="0" rIns="0" tIns="0" bIns="0" anchor="t">
            <a:spAutoFit/>
          </a:bodyPr>
          <a:lstStyle/>
          <a:p>
            <a:pPr algn="l">
              <a:spcAft>
                <a:spcPts val="0"/>
              </a:spcAft>
            </a:pPr>
            <a:r>
              <a:rPr sz="1500" b="0" i="0">
                <a:solidFill>
                  <a:srgbClr val="4A5568"/>
                </a:solidFill>
                <a:latin typeface="Calibri"/>
              </a:rPr>
              <a:t>Long routes, many customers left out. Local search inserts up to 49 customers in one solution.</a:t>
            </a:r>
          </a:p>
        </p:txBody>
      </p:sp>
      <p:sp>
        <p:nvSpPr>
          <p:cNvPr id="9" name="TextBox 8"/>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Panadero et al. tabulate instance by instance only p1 and p2, where the margin is smallest; for p3–p7 they give set means.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p1 and p2, instance by instance: ahead of Panadero</a:t>
            </a:r>
          </a:p>
        </p:txBody>
      </p:sp>
      <p:sp>
        <p:nvSpPr>
          <p:cNvPr id="3" name="TextBox 2"/>
          <p:cNvSpPr txBox="1"/>
          <p:nvPr/>
        </p:nvSpPr>
        <p:spPr>
          <a:xfrm>
            <a:off x="1097280" y="1554480"/>
            <a:ext cx="6858000"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MEAN GAP TO THE BEST KNOWN SOLUTION, 81 INSTANCES OF p1–p2, LOWER IS BETTER</a:t>
            </a:r>
          </a:p>
        </p:txBody>
      </p:sp>
      <p:graphicFrame>
        <p:nvGraphicFramePr>
          <p:cNvPr id="4" name="Chart 3"/>
          <p:cNvGraphicFramePr>
            <a:graphicFrameLocks noGrp="1"/>
          </p:cNvGraphicFramePr>
          <p:nvPr/>
        </p:nvGraphicFramePr>
        <p:xfrm>
          <a:off x="914400" y="1828800"/>
          <a:ext cx="6949440" cy="4114800"/>
        </p:xfrm>
        <a:graphic>
          <a:graphicData uri="http://schemas.openxmlformats.org/drawingml/2006/chart">
            <c:chart xmlns:c="http://schemas.openxmlformats.org/drawingml/2006/chart" r:id="rId2"/>
          </a:graphicData>
        </a:graphic>
      </p:graphicFrame>
      <p:sp>
        <p:nvSpPr>
          <p:cNvPr id="5" name="TextBox 4"/>
          <p:cNvSpPr txBox="1"/>
          <p:nvPr/>
        </p:nvSpPr>
        <p:spPr>
          <a:xfrm>
            <a:off x="8229600" y="1874519"/>
            <a:ext cx="3136392"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BEST KNOWN SOLUTION REACHED</a:t>
            </a:r>
          </a:p>
        </p:txBody>
      </p:sp>
      <p:sp>
        <p:nvSpPr>
          <p:cNvPr id="6" name="TextBox 5"/>
          <p:cNvSpPr txBox="1"/>
          <p:nvPr/>
        </p:nvSpPr>
        <p:spPr>
          <a:xfrm>
            <a:off x="8229600" y="2240280"/>
            <a:ext cx="3136392" cy="502920"/>
          </a:xfrm>
          <a:prstGeom prst="rect">
            <a:avLst/>
          </a:prstGeom>
          <a:noFill/>
        </p:spPr>
        <p:txBody>
          <a:bodyPr wrap="square" lIns="0" rIns="0" tIns="0" bIns="0" anchor="t">
            <a:spAutoFit/>
          </a:bodyPr>
          <a:lstStyle/>
          <a:p>
            <a:pPr algn="l">
              <a:spcAft>
                <a:spcPts val="0"/>
              </a:spcAft>
            </a:pPr>
            <a:r>
              <a:rPr sz="3000" b="1" i="0">
                <a:solidFill>
                  <a:srgbClr val="B5471E"/>
                </a:solidFill>
                <a:latin typeface="Arial"/>
              </a:rPr>
              <a:t>69 / 81</a:t>
            </a:r>
          </a:p>
        </p:txBody>
      </p:sp>
      <p:sp>
        <p:nvSpPr>
          <p:cNvPr id="7" name="TextBox 6"/>
          <p:cNvSpPr txBox="1"/>
          <p:nvPr/>
        </p:nvSpPr>
        <p:spPr>
          <a:xfrm>
            <a:off x="8229600" y="2743200"/>
            <a:ext cx="3136392" cy="3200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Panadero, 128 threads</a:t>
            </a:r>
          </a:p>
        </p:txBody>
      </p:sp>
      <p:sp>
        <p:nvSpPr>
          <p:cNvPr id="8" name="TextBox 7"/>
          <p:cNvSpPr txBox="1"/>
          <p:nvPr/>
        </p:nvSpPr>
        <p:spPr>
          <a:xfrm>
            <a:off x="8229600" y="3200400"/>
            <a:ext cx="3136392" cy="502920"/>
          </a:xfrm>
          <a:prstGeom prst="rect">
            <a:avLst/>
          </a:prstGeom>
          <a:noFill/>
        </p:spPr>
        <p:txBody>
          <a:bodyPr wrap="square" lIns="0" rIns="0" tIns="0" bIns="0" anchor="t">
            <a:spAutoFit/>
          </a:bodyPr>
          <a:lstStyle/>
          <a:p>
            <a:pPr algn="l">
              <a:spcAft>
                <a:spcPts val="0"/>
              </a:spcAft>
            </a:pPr>
            <a:r>
              <a:rPr sz="3000" b="1" i="0">
                <a:solidFill>
                  <a:srgbClr val="1F7A6D"/>
                </a:solidFill>
                <a:latin typeface="Arial"/>
              </a:rPr>
              <a:t>73 / 81</a:t>
            </a:r>
          </a:p>
        </p:txBody>
      </p:sp>
      <p:sp>
        <p:nvSpPr>
          <p:cNvPr id="9" name="TextBox 8"/>
          <p:cNvSpPr txBox="1"/>
          <p:nvPr/>
        </p:nvSpPr>
        <p:spPr>
          <a:xfrm>
            <a:off x="8229600" y="3703320"/>
            <a:ext cx="3136392" cy="3200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Ours, 10 it + local search</a:t>
            </a:r>
          </a:p>
        </p:txBody>
      </p:sp>
      <p:sp>
        <p:nvSpPr>
          <p:cNvPr id="10" name="TextBox 9"/>
          <p:cNvSpPr txBox="1"/>
          <p:nvPr/>
        </p:nvSpPr>
        <p:spPr>
          <a:xfrm>
            <a:off x="8229600" y="4160520"/>
            <a:ext cx="3136392" cy="502920"/>
          </a:xfrm>
          <a:prstGeom prst="rect">
            <a:avLst/>
          </a:prstGeom>
          <a:noFill/>
        </p:spPr>
        <p:txBody>
          <a:bodyPr wrap="square" lIns="0" rIns="0" tIns="0" bIns="0" anchor="t">
            <a:spAutoFit/>
          </a:bodyPr>
          <a:lstStyle/>
          <a:p>
            <a:pPr algn="l">
              <a:spcAft>
                <a:spcPts val="0"/>
              </a:spcAft>
            </a:pPr>
            <a:r>
              <a:rPr sz="3000" b="1" i="0">
                <a:solidFill>
                  <a:srgbClr val="1F7A6D"/>
                </a:solidFill>
                <a:latin typeface="Arial"/>
              </a:rPr>
              <a:t>77 / 81</a:t>
            </a:r>
          </a:p>
        </p:txBody>
      </p:sp>
      <p:sp>
        <p:nvSpPr>
          <p:cNvPr id="11" name="TextBox 10"/>
          <p:cNvSpPr txBox="1"/>
          <p:nvPr/>
        </p:nvSpPr>
        <p:spPr>
          <a:xfrm>
            <a:off x="8229600" y="4663440"/>
            <a:ext cx="3136392" cy="32004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Ours, 1 s + local search</a:t>
            </a:r>
          </a:p>
        </p:txBody>
      </p:sp>
      <p:sp>
        <p:nvSpPr>
          <p:cNvPr id="12" name="TextBox 11"/>
          <p:cNvSpPr txBox="1"/>
          <p:nvPr/>
        </p:nvSpPr>
        <p:spPr>
          <a:xfrm>
            <a:off x="8229600" y="5212080"/>
            <a:ext cx="3136392" cy="731520"/>
          </a:xfrm>
          <a:prstGeom prst="rect">
            <a:avLst/>
          </a:prstGeom>
          <a:noFill/>
        </p:spPr>
        <p:txBody>
          <a:bodyPr wrap="square" lIns="0" rIns="0" tIns="0" bIns="0" anchor="t">
            <a:spAutoFit/>
          </a:bodyPr>
          <a:lstStyle/>
          <a:p>
            <a:pPr algn="l">
              <a:spcAft>
                <a:spcPts val="0"/>
              </a:spcAft>
            </a:pPr>
            <a:r>
              <a:rPr sz="1500" b="1" i="0">
                <a:solidFill>
                  <a:srgbClr val="12212B"/>
                </a:solidFill>
                <a:latin typeface="Calibri"/>
              </a:rPr>
              <a:t>None of our solutions beats a best known value.</a:t>
            </a:r>
          </a:p>
        </p:txBody>
      </p:sp>
      <p:sp>
        <p:nvSpPr>
          <p:cNvPr id="13" name="TextBox 12"/>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Gap = 100 · (BKS − ours) / BKS, averaged over instances, as in the paper's Tables 3 and 4 (p2.4.a is printed there as “p2.4.1”).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EBE3"/>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All seven sets: below Panadero's gap in every one</a:t>
            </a:r>
          </a:p>
        </p:txBody>
      </p:sp>
      <p:sp>
        <p:nvSpPr>
          <p:cNvPr id="3" name="TextBox 2"/>
          <p:cNvSpPr txBox="1"/>
          <p:nvPr/>
        </p:nvSpPr>
        <p:spPr>
          <a:xfrm>
            <a:off x="1097280" y="1554480"/>
            <a:ext cx="6858000" cy="274320"/>
          </a:xfrm>
          <a:prstGeom prst="rect">
            <a:avLst/>
          </a:prstGeom>
          <a:noFill/>
        </p:spPr>
        <p:txBody>
          <a:bodyPr wrap="square" lIns="0" rIns="0" tIns="0" bIns="0" anchor="t">
            <a:spAutoFit/>
          </a:bodyPr>
          <a:lstStyle/>
          <a:p>
            <a:pPr algn="l">
              <a:spcAft>
                <a:spcPts val="0"/>
              </a:spcAft>
            </a:pPr>
            <a:r>
              <a:rPr sz="1100" b="1" i="0">
                <a:solidFill>
                  <a:srgbClr val="6B7580"/>
                </a:solidFill>
                <a:latin typeface="Calibri"/>
              </a:rPr>
              <a:t>MEAN GAP TO THE BEST KNOWN SOLUTION PER SET, LOWER IS BETTER</a:t>
            </a:r>
          </a:p>
        </p:txBody>
      </p:sp>
      <p:graphicFrame>
        <p:nvGraphicFramePr>
          <p:cNvPr id="4" name="Chart 3"/>
          <p:cNvGraphicFramePr>
            <a:graphicFrameLocks noGrp="1"/>
          </p:cNvGraphicFramePr>
          <p:nvPr/>
        </p:nvGraphicFramePr>
        <p:xfrm>
          <a:off x="914400" y="1828800"/>
          <a:ext cx="7040880" cy="4023360"/>
        </p:xfrm>
        <a:graphic>
          <a:graphicData uri="http://schemas.openxmlformats.org/drawingml/2006/chart">
            <c:chart xmlns:c="http://schemas.openxmlformats.org/drawingml/2006/chart" r:id="rId2"/>
          </a:graphicData>
        </a:graphic>
      </p:graphicFrame>
      <p:sp>
        <p:nvSpPr>
          <p:cNvPr id="5" name="TextBox 4"/>
          <p:cNvSpPr txBox="1"/>
          <p:nvPr/>
        </p:nvSpPr>
        <p:spPr>
          <a:xfrm>
            <a:off x="8321040" y="1691640"/>
            <a:ext cx="3044952" cy="594360"/>
          </a:xfrm>
          <a:prstGeom prst="rect">
            <a:avLst/>
          </a:prstGeom>
          <a:noFill/>
        </p:spPr>
        <p:txBody>
          <a:bodyPr wrap="square" lIns="0" rIns="0" tIns="0" bIns="0" anchor="t">
            <a:spAutoFit/>
          </a:bodyPr>
          <a:lstStyle/>
          <a:p>
            <a:pPr algn="l">
              <a:spcAft>
                <a:spcPts val="0"/>
              </a:spcAft>
            </a:pPr>
            <a:r>
              <a:rPr sz="3200" b="1" i="0">
                <a:solidFill>
                  <a:srgbClr val="1F7A6D"/>
                </a:solidFill>
                <a:latin typeface="Arial"/>
              </a:rPr>
              <a:t>2.04 %</a:t>
            </a:r>
          </a:p>
        </p:txBody>
      </p:sp>
      <p:sp>
        <p:nvSpPr>
          <p:cNvPr id="6" name="TextBox 5"/>
          <p:cNvSpPr txBox="1"/>
          <p:nvPr/>
        </p:nvSpPr>
        <p:spPr>
          <a:xfrm>
            <a:off x="8321040" y="2258568"/>
            <a:ext cx="3044952" cy="73152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our mean gap over the 353 instances, against 2.85 % for Panadero with 128 threads</a:t>
            </a:r>
          </a:p>
        </p:txBody>
      </p:sp>
      <p:sp>
        <p:nvSpPr>
          <p:cNvPr id="7" name="TextBox 6"/>
          <p:cNvSpPr txBox="1"/>
          <p:nvPr/>
        </p:nvSpPr>
        <p:spPr>
          <a:xfrm>
            <a:off x="8321040" y="3063240"/>
            <a:ext cx="3044952" cy="59436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0 / 353</a:t>
            </a:r>
          </a:p>
        </p:txBody>
      </p:sp>
      <p:sp>
        <p:nvSpPr>
          <p:cNvPr id="8" name="TextBox 7"/>
          <p:cNvSpPr txBox="1"/>
          <p:nvPr/>
        </p:nvSpPr>
        <p:spPr>
          <a:xfrm>
            <a:off x="8321040" y="3630168"/>
            <a:ext cx="3044952" cy="73152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final solutions above the best known value: no sign of an infeasible route in any set</a:t>
            </a:r>
          </a:p>
        </p:txBody>
      </p:sp>
      <p:sp>
        <p:nvSpPr>
          <p:cNvPr id="9" name="TextBox 8"/>
          <p:cNvSpPr txBox="1"/>
          <p:nvPr/>
        </p:nvSpPr>
        <p:spPr>
          <a:xfrm>
            <a:off x="8321040" y="4434840"/>
            <a:ext cx="3044952" cy="594360"/>
          </a:xfrm>
          <a:prstGeom prst="rect">
            <a:avLst/>
          </a:prstGeom>
          <a:noFill/>
        </p:spPr>
        <p:txBody>
          <a:bodyPr wrap="square" lIns="0" rIns="0" tIns="0" bIns="0" anchor="t">
            <a:spAutoFit/>
          </a:bodyPr>
          <a:lstStyle/>
          <a:p>
            <a:pPr algn="l">
              <a:spcAft>
                <a:spcPts val="0"/>
              </a:spcAft>
            </a:pPr>
            <a:r>
              <a:rPr sz="3200" b="1" i="0">
                <a:solidFill>
                  <a:srgbClr val="1F7A6D"/>
                </a:solidFill>
                <a:latin typeface="Arial"/>
              </a:rPr>
              <a:t>189 / 353</a:t>
            </a:r>
          </a:p>
        </p:txBody>
      </p:sp>
      <p:sp>
        <p:nvSpPr>
          <p:cNvPr id="10" name="TextBox 9"/>
          <p:cNvSpPr txBox="1"/>
          <p:nvPr/>
        </p:nvSpPr>
        <p:spPr>
          <a:xfrm>
            <a:off x="8321040" y="5001768"/>
            <a:ext cx="3044952" cy="73152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best known value reached, 33 of 33 in p2, 5 of 56 in p4</a:t>
            </a:r>
          </a:p>
        </p:txBody>
      </p:sp>
      <p:sp>
        <p:nvSpPr>
          <p:cNvPr id="11" name="TextBox 10"/>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BKS from the PSOiA results of Dang, Guibadj and Moukrim (equal to Panadero's on p1–p2). Panadero's “All”: Figure 4 weighted by instances.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EEBE3"/>
        </a:solidFill>
        <a:effectLst/>
      </p:bgPr>
    </p:bg>
    <p:spTree>
      <p:nvGrpSpPr>
        <p:cNvPr id="1" name=""/>
        <p:cNvGrpSpPr/>
        <p:nvPr/>
      </p:nvGrpSpPr>
      <p:grpSpPr/>
      <p:sp>
        <p:nvSpPr>
          <p:cNvPr id="2" name="TextBox 1"/>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Trying many α beats iterating longer with one</a:t>
            </a:r>
          </a:p>
        </p:txBody>
      </p:sp>
      <p:sp>
        <p:nvSpPr>
          <p:cNvPr id="3" name="Rectangle 2"/>
          <p:cNvSpPr/>
          <p:nvPr/>
        </p:nvSpPr>
        <p:spPr>
          <a:xfrm>
            <a:off x="822960" y="1600200"/>
            <a:ext cx="5120640" cy="292608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783080"/>
            <a:ext cx="4572000" cy="365760"/>
          </a:xfrm>
          <a:prstGeom prst="rect">
            <a:avLst/>
          </a:prstGeom>
          <a:noFill/>
        </p:spPr>
        <p:txBody>
          <a:bodyPr wrap="square" lIns="0" rIns="0" tIns="0" bIns="0" anchor="t">
            <a:spAutoFit/>
          </a:bodyPr>
          <a:lstStyle/>
          <a:p>
            <a:pPr algn="l">
              <a:spcAft>
                <a:spcPts val="0"/>
              </a:spcAft>
            </a:pPr>
            <a:r>
              <a:rPr sz="2000" b="1" i="0">
                <a:solidFill>
                  <a:srgbClr val="12212B"/>
                </a:solidFill>
                <a:latin typeface="Calibri"/>
              </a:rPr>
              <a:t>1 s with the single best α</a:t>
            </a:r>
          </a:p>
        </p:txBody>
      </p:sp>
      <p:sp>
        <p:nvSpPr>
          <p:cNvPr id="5" name="TextBox 4"/>
          <p:cNvSpPr txBox="1"/>
          <p:nvPr/>
        </p:nvSpPr>
        <p:spPr>
          <a:xfrm>
            <a:off x="1097280" y="2286000"/>
            <a:ext cx="4572000" cy="731520"/>
          </a:xfrm>
          <a:prstGeom prst="rect">
            <a:avLst/>
          </a:prstGeom>
          <a:noFill/>
        </p:spPr>
        <p:txBody>
          <a:bodyPr wrap="square" lIns="0" rIns="0" tIns="0" bIns="0" anchor="t">
            <a:spAutoFit/>
          </a:bodyPr>
          <a:lstStyle/>
          <a:p>
            <a:pPr algn="l">
              <a:spcAft>
                <a:spcPts val="0"/>
              </a:spcAft>
            </a:pPr>
            <a:r>
              <a:rPr sz="4000" b="1" i="0">
                <a:solidFill>
                  <a:srgbClr val="12212B"/>
                </a:solidFill>
                <a:latin typeface="Arial"/>
              </a:rPr>
              <a:t>≈ 900,000</a:t>
            </a:r>
          </a:p>
        </p:txBody>
      </p:sp>
      <p:sp>
        <p:nvSpPr>
          <p:cNvPr id="6" name="TextBox 5"/>
          <p:cNvSpPr txBox="1"/>
          <p:nvPr/>
        </p:nvSpPr>
        <p:spPr>
          <a:xfrm>
            <a:off x="1097280" y="3017520"/>
            <a:ext cx="4572000" cy="64008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constructions per instance
20 runs × ~45,000 iterations</a:t>
            </a:r>
          </a:p>
        </p:txBody>
      </p:sp>
      <p:sp>
        <p:nvSpPr>
          <p:cNvPr id="7" name="TextBox 6"/>
          <p:cNvSpPr txBox="1"/>
          <p:nvPr/>
        </p:nvSpPr>
        <p:spPr>
          <a:xfrm>
            <a:off x="1097280" y="3794760"/>
            <a:ext cx="4572000" cy="548640"/>
          </a:xfrm>
          <a:prstGeom prst="rect">
            <a:avLst/>
          </a:prstGeom>
          <a:noFill/>
        </p:spPr>
        <p:txBody>
          <a:bodyPr wrap="square" lIns="0" rIns="0" tIns="0" bIns="0" anchor="t">
            <a:spAutoFit/>
          </a:bodyPr>
          <a:lstStyle/>
          <a:p>
            <a:pPr algn="l">
              <a:spcAft>
                <a:spcPts val="0"/>
              </a:spcAft>
            </a:pPr>
            <a:r>
              <a:rPr sz="1600" b="0" i="0">
                <a:solidFill>
                  <a:srgbClr val="4A5568"/>
                </a:solidFill>
                <a:latin typeface="Calibri"/>
              </a:rPr>
              <a:t>Mean gap to BKS, no local search: </a:t>
            </a:r>
            <a:r>
              <a:rPr sz="1600" b="1" i="0">
                <a:solidFill>
                  <a:srgbClr val="12212B"/>
                </a:solidFill>
                <a:latin typeface="Calibri"/>
              </a:rPr>
              <a:t>1.49 %</a:t>
            </a:r>
          </a:p>
        </p:txBody>
      </p:sp>
      <p:sp>
        <p:nvSpPr>
          <p:cNvPr id="8" name="Rectangle 7"/>
          <p:cNvSpPr/>
          <p:nvPr/>
        </p:nvSpPr>
        <p:spPr>
          <a:xfrm>
            <a:off x="6245352" y="1600200"/>
            <a:ext cx="5120640" cy="2926080"/>
          </a:xfrm>
          <a:prstGeom prst="rect">
            <a:avLst/>
          </a:prstGeom>
          <a:solidFill>
            <a:srgbClr val="FDF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19672" y="1783080"/>
            <a:ext cx="4572000" cy="365760"/>
          </a:xfrm>
          <a:prstGeom prst="rect">
            <a:avLst/>
          </a:prstGeom>
          <a:noFill/>
        </p:spPr>
        <p:txBody>
          <a:bodyPr wrap="square" lIns="0" rIns="0" tIns="0" bIns="0" anchor="t">
            <a:spAutoFit/>
          </a:bodyPr>
          <a:lstStyle/>
          <a:p>
            <a:pPr algn="l">
              <a:spcAft>
                <a:spcPts val="0"/>
              </a:spcAft>
            </a:pPr>
            <a:r>
              <a:rPr sz="2000" b="1" i="0">
                <a:solidFill>
                  <a:srgbClr val="1F7A6D"/>
                </a:solidFill>
                <a:latin typeface="Calibri"/>
              </a:rPr>
              <a:t>100 iterations on the α grid</a:t>
            </a:r>
          </a:p>
        </p:txBody>
      </p:sp>
      <p:sp>
        <p:nvSpPr>
          <p:cNvPr id="10" name="TextBox 9"/>
          <p:cNvSpPr txBox="1"/>
          <p:nvPr/>
        </p:nvSpPr>
        <p:spPr>
          <a:xfrm>
            <a:off x="6519672" y="2286000"/>
            <a:ext cx="4572000" cy="731520"/>
          </a:xfrm>
          <a:prstGeom prst="rect">
            <a:avLst/>
          </a:prstGeom>
          <a:noFill/>
        </p:spPr>
        <p:txBody>
          <a:bodyPr wrap="square" lIns="0" rIns="0" tIns="0" bIns="0" anchor="t">
            <a:spAutoFit/>
          </a:bodyPr>
          <a:lstStyle/>
          <a:p>
            <a:pPr algn="l">
              <a:spcAft>
                <a:spcPts val="0"/>
              </a:spcAft>
            </a:pPr>
            <a:r>
              <a:rPr sz="4000" b="1" i="0">
                <a:solidFill>
                  <a:srgbClr val="1F7A6D"/>
                </a:solidFill>
                <a:latin typeface="Arial"/>
              </a:rPr>
              <a:t>42,000</a:t>
            </a:r>
          </a:p>
        </p:txBody>
      </p:sp>
      <p:sp>
        <p:nvSpPr>
          <p:cNvPr id="11" name="TextBox 10"/>
          <p:cNvSpPr txBox="1"/>
          <p:nvPr/>
        </p:nvSpPr>
        <p:spPr>
          <a:xfrm>
            <a:off x="6519672" y="3017520"/>
            <a:ext cx="4572000" cy="640080"/>
          </a:xfrm>
          <a:prstGeom prst="rect">
            <a:avLst/>
          </a:prstGeom>
          <a:noFill/>
        </p:spPr>
        <p:txBody>
          <a:bodyPr wrap="square" lIns="0" rIns="0" tIns="0" bIns="0" anchor="t">
            <a:spAutoFit/>
          </a:bodyPr>
          <a:lstStyle/>
          <a:p>
            <a:pPr algn="l">
              <a:spcAft>
                <a:spcPts val="0"/>
              </a:spcAft>
            </a:pPr>
            <a:r>
              <a:rPr sz="1400" b="0" i="0">
                <a:solidFill>
                  <a:srgbClr val="4A5568"/>
                </a:solidFill>
                <a:latin typeface="Calibri"/>
              </a:rPr>
              <a:t>constructions per instance
21 α × 20 runs × 100 iterations</a:t>
            </a:r>
          </a:p>
        </p:txBody>
      </p:sp>
      <p:sp>
        <p:nvSpPr>
          <p:cNvPr id="12" name="TextBox 11"/>
          <p:cNvSpPr txBox="1"/>
          <p:nvPr/>
        </p:nvSpPr>
        <p:spPr>
          <a:xfrm>
            <a:off x="6519672" y="3794760"/>
            <a:ext cx="4572000" cy="548640"/>
          </a:xfrm>
          <a:prstGeom prst="rect">
            <a:avLst/>
          </a:prstGeom>
          <a:noFill/>
        </p:spPr>
        <p:txBody>
          <a:bodyPr wrap="square" lIns="0" rIns="0" tIns="0" bIns="0" anchor="t">
            <a:spAutoFit/>
          </a:bodyPr>
          <a:lstStyle/>
          <a:p>
            <a:pPr algn="l">
              <a:spcAft>
                <a:spcPts val="0"/>
              </a:spcAft>
            </a:pPr>
            <a:r>
              <a:rPr sz="1600" b="0" i="0">
                <a:solidFill>
                  <a:srgbClr val="4A5568"/>
                </a:solidFill>
                <a:latin typeface="Calibri"/>
              </a:rPr>
              <a:t>Mean gap to BKS, no local search: </a:t>
            </a:r>
            <a:r>
              <a:rPr sz="1600" b="1" i="0">
                <a:solidFill>
                  <a:srgbClr val="1F7A6D"/>
                </a:solidFill>
                <a:latin typeface="Calibri"/>
              </a:rPr>
              <a:t>1.45 %</a:t>
            </a:r>
          </a:p>
        </p:txBody>
      </p:sp>
      <p:sp>
        <p:nvSpPr>
          <p:cNvPr id="13" name="TextBox 12"/>
          <p:cNvSpPr txBox="1"/>
          <p:nvPr/>
        </p:nvSpPr>
        <p:spPr>
          <a:xfrm>
            <a:off x="822960" y="4846320"/>
            <a:ext cx="10543032" cy="457200"/>
          </a:xfrm>
          <a:prstGeom prst="rect">
            <a:avLst/>
          </a:prstGeom>
          <a:noFill/>
        </p:spPr>
        <p:txBody>
          <a:bodyPr wrap="square" lIns="0" rIns="0" tIns="0" bIns="0" anchor="t">
            <a:spAutoFit/>
          </a:bodyPr>
          <a:lstStyle/>
          <a:p>
            <a:pPr algn="l">
              <a:spcAft>
                <a:spcPts val="0"/>
              </a:spcAft>
            </a:pPr>
            <a:r>
              <a:rPr sz="2200" b="1" i="0">
                <a:solidFill>
                  <a:srgbClr val="1F7A6D"/>
                </a:solidFill>
                <a:latin typeface="Calibri"/>
              </a:rPr>
              <a:t>Same quality with about 20 times less work.</a:t>
            </a:r>
          </a:p>
        </p:txBody>
      </p:sp>
      <p:sp>
        <p:nvSpPr>
          <p:cNvPr id="14" name="TextBox 13"/>
          <p:cNvSpPr txBox="1"/>
          <p:nvPr/>
        </p:nvSpPr>
        <p:spPr>
          <a:xfrm>
            <a:off x="822960" y="5349240"/>
            <a:ext cx="10543032" cy="731520"/>
          </a:xfrm>
          <a:prstGeom prst="rect">
            <a:avLst/>
          </a:prstGeom>
          <a:noFill/>
        </p:spPr>
        <p:txBody>
          <a:bodyPr wrap="square" lIns="0" rIns="0" tIns="0" bIns="0" anchor="t">
            <a:spAutoFit/>
          </a:bodyPr>
          <a:lstStyle/>
          <a:p>
            <a:pPr algn="l">
              <a:spcAft>
                <a:spcPts val="0"/>
              </a:spcAft>
            </a:pPr>
            <a:r>
              <a:rPr sz="1600" b="0" i="0">
                <a:solidFill>
                  <a:srgbClr val="4A5568"/>
                </a:solidFill>
                <a:latin typeface="Calibri"/>
              </a:rPr>
              <a:t>A small change in α reorders the savings list and the greedy merge builds different routes. Spreading the budget over α explores more than spending it on one.</a:t>
            </a:r>
          </a:p>
        </p:txBody>
      </p:sp>
      <p:sp>
        <p:nvSpPr>
          <p:cNvPr id="15" name="TextBox 14"/>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One 1 s run of ours alone averages 2.3–2.4 % against 1.73 % for one thread of Panadero.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212B"/>
        </a:solidFill>
        <a:effectLst/>
      </p:bgPr>
    </p:bg>
    <p:spTree>
      <p:nvGrpSpPr>
        <p:cNvPr id="1" name=""/>
        <p:cNvGrpSpPr/>
        <p:nvPr/>
      </p:nvGrpSpPr>
      <p:grpSpPr/>
      <p:sp>
        <p:nvSpPr>
          <p:cNvPr id="2" name="TextBox 1"/>
          <p:cNvSpPr txBox="1"/>
          <p:nvPr/>
        </p:nvSpPr>
        <p:spPr>
          <a:xfrm>
            <a:off x="822960" y="685800"/>
            <a:ext cx="9144000" cy="274320"/>
          </a:xfrm>
          <a:prstGeom prst="rect">
            <a:avLst/>
          </a:prstGeom>
          <a:noFill/>
        </p:spPr>
        <p:txBody>
          <a:bodyPr wrap="square" lIns="0" rIns="0" tIns="0" bIns="0" anchor="t">
            <a:spAutoFit/>
          </a:bodyPr>
          <a:lstStyle/>
          <a:p>
            <a:pPr algn="l">
              <a:spcAft>
                <a:spcPts val="0"/>
              </a:spcAft>
            </a:pPr>
            <a:r>
              <a:rPr sz="1400" b="1" i="0">
                <a:solidFill>
                  <a:srgbClr val="2A9D8F"/>
                </a:solidFill>
                <a:latin typeface="Calibri"/>
              </a:rPr>
              <a:t>TAKEAWAY</a:t>
            </a:r>
          </a:p>
        </p:txBody>
      </p:sp>
      <p:sp>
        <p:nvSpPr>
          <p:cNvPr id="3" name="TextBox 2"/>
          <p:cNvSpPr txBox="1"/>
          <p:nvPr/>
        </p:nvSpPr>
        <p:spPr>
          <a:xfrm>
            <a:off x="822960" y="1143000"/>
            <a:ext cx="10543032" cy="1463040"/>
          </a:xfrm>
          <a:prstGeom prst="rect">
            <a:avLst/>
          </a:prstGeom>
          <a:noFill/>
        </p:spPr>
        <p:txBody>
          <a:bodyPr wrap="square" lIns="0" rIns="0" tIns="0" bIns="0" anchor="t">
            <a:spAutoFit/>
          </a:bodyPr>
          <a:lstStyle/>
          <a:p>
            <a:pPr algn="l">
              <a:spcAft>
                <a:spcPts val="0"/>
              </a:spcAft>
            </a:pPr>
            <a:r>
              <a:rPr sz="3800" b="1" i="0">
                <a:solidFill>
                  <a:srgbClr val="F7F5EF"/>
                </a:solidFill>
                <a:latin typeface="Arial"/>
              </a:rPr>
              <a:t>Diversity first, then local search.</a:t>
            </a:r>
          </a:p>
        </p:txBody>
      </p:sp>
      <p:sp>
        <p:nvSpPr>
          <p:cNvPr id="4" name="TextBox 3"/>
          <p:cNvSpPr txBox="1"/>
          <p:nvPr/>
        </p:nvSpPr>
        <p:spPr>
          <a:xfrm>
            <a:off x="822960" y="2240280"/>
            <a:ext cx="10543032" cy="548640"/>
          </a:xfrm>
          <a:prstGeom prst="rect">
            <a:avLst/>
          </a:prstGeom>
          <a:noFill/>
        </p:spPr>
        <p:txBody>
          <a:bodyPr wrap="square" lIns="0" rIns="0" tIns="0" bIns="0" anchor="t">
            <a:spAutoFit/>
          </a:bodyPr>
          <a:lstStyle/>
          <a:p>
            <a:pPr algn="l">
              <a:spcAft>
                <a:spcPts val="0"/>
              </a:spcAft>
            </a:pPr>
            <a:r>
              <a:rPr sz="1800" b="0" i="0">
                <a:solidFill>
                  <a:srgbClr val="C9D6DA"/>
                </a:solidFill>
                <a:latin typeface="Calibri"/>
              </a:rPr>
              <a:t>21 α and two randomisations give the elite; 2-opt and insertion turn them into the final routes.</a:t>
            </a:r>
          </a:p>
        </p:txBody>
      </p:sp>
      <p:sp>
        <p:nvSpPr>
          <p:cNvPr id="5" name="TextBox 4"/>
          <p:cNvSpPr txBox="1"/>
          <p:nvPr/>
        </p:nvSpPr>
        <p:spPr>
          <a:xfrm>
            <a:off x="822960" y="3108960"/>
            <a:ext cx="7315200" cy="274320"/>
          </a:xfrm>
          <a:prstGeom prst="rect">
            <a:avLst/>
          </a:prstGeom>
          <a:noFill/>
        </p:spPr>
        <p:txBody>
          <a:bodyPr wrap="square" lIns="0" rIns="0" tIns="0" bIns="0" anchor="t">
            <a:spAutoFit/>
          </a:bodyPr>
          <a:lstStyle/>
          <a:p>
            <a:pPr algn="l">
              <a:spcAft>
                <a:spcPts val="0"/>
              </a:spcAft>
            </a:pPr>
            <a:r>
              <a:rPr sz="1200" b="1" i="0">
                <a:solidFill>
                  <a:srgbClr val="8FA0A8"/>
                </a:solidFill>
                <a:latin typeface="Calibri"/>
              </a:rPr>
              <a:t>WHAT WE FOUND</a:t>
            </a:r>
          </a:p>
        </p:txBody>
      </p:sp>
      <p:sp>
        <p:nvSpPr>
          <p:cNvPr id="6" name="TextBox 5"/>
          <p:cNvSpPr txBox="1"/>
          <p:nvPr/>
        </p:nvSpPr>
        <p:spPr>
          <a:xfrm>
            <a:off x="822960" y="3474720"/>
            <a:ext cx="3291840" cy="1005840"/>
          </a:xfrm>
          <a:prstGeom prst="rect">
            <a:avLst/>
          </a:prstGeom>
          <a:noFill/>
        </p:spPr>
        <p:txBody>
          <a:bodyPr wrap="square" lIns="0" rIns="0" tIns="0" bIns="0" anchor="t">
            <a:spAutoFit/>
          </a:bodyPr>
          <a:lstStyle/>
          <a:p>
            <a:pPr algn="l">
              <a:spcAft>
                <a:spcPts val="0"/>
              </a:spcAft>
            </a:pPr>
            <a:r>
              <a:rPr sz="1600" b="0" i="0">
                <a:solidFill>
                  <a:srgbClr val="C9D6DA"/>
                </a:solidFill>
                <a:latin typeface="Calibri"/>
              </a:rPr>
              <a:t>+20 % reward over plain PJS on all 353 feasible instances.</a:t>
            </a:r>
          </a:p>
        </p:txBody>
      </p:sp>
      <p:sp>
        <p:nvSpPr>
          <p:cNvPr id="7" name="TextBox 6"/>
          <p:cNvSpPr txBox="1"/>
          <p:nvPr/>
        </p:nvSpPr>
        <p:spPr>
          <a:xfrm>
            <a:off x="4434840" y="3474720"/>
            <a:ext cx="3291840" cy="1005840"/>
          </a:xfrm>
          <a:prstGeom prst="rect">
            <a:avLst/>
          </a:prstGeom>
          <a:noFill/>
        </p:spPr>
        <p:txBody>
          <a:bodyPr wrap="square" lIns="0" rIns="0" tIns="0" bIns="0" anchor="t">
            <a:spAutoFit/>
          </a:bodyPr>
          <a:lstStyle/>
          <a:p>
            <a:pPr algn="l">
              <a:spcAft>
                <a:spcPts val="0"/>
              </a:spcAft>
            </a:pPr>
            <a:r>
              <a:rPr sz="1600" b="0" i="0">
                <a:solidFill>
                  <a:srgbClr val="C9D6DA"/>
                </a:solidFill>
                <a:latin typeface="Calibri"/>
              </a:rPr>
              <a:t>Below Panadero with 128 threads in all 7 sets: 2.04 % from the best known values, against 2.85 %.</a:t>
            </a:r>
          </a:p>
        </p:txBody>
      </p:sp>
      <p:sp>
        <p:nvSpPr>
          <p:cNvPr id="8" name="TextBox 7"/>
          <p:cNvSpPr txBox="1"/>
          <p:nvPr/>
        </p:nvSpPr>
        <p:spPr>
          <a:xfrm>
            <a:off x="8046720" y="3474720"/>
            <a:ext cx="3291840" cy="1005840"/>
          </a:xfrm>
          <a:prstGeom prst="rect">
            <a:avLst/>
          </a:prstGeom>
          <a:noFill/>
        </p:spPr>
        <p:txBody>
          <a:bodyPr wrap="square" lIns="0" rIns="0" tIns="0" bIns="0" anchor="t">
            <a:spAutoFit/>
          </a:bodyPr>
          <a:lstStyle/>
          <a:p>
            <a:pPr algn="l">
              <a:spcAft>
                <a:spcPts val="0"/>
              </a:spcAft>
            </a:pPr>
            <a:r>
              <a:rPr sz="1600" b="0" i="0">
                <a:solidFill>
                  <a:srgbClr val="C9D6DA"/>
                </a:solidFill>
                <a:latin typeface="Calibri"/>
              </a:rPr>
              <a:t>The paper's rule for α does not hold on these sets.</a:t>
            </a:r>
          </a:p>
        </p:txBody>
      </p:sp>
      <p:sp>
        <p:nvSpPr>
          <p:cNvPr id="9" name="TextBox 8"/>
          <p:cNvSpPr txBox="1"/>
          <p:nvPr/>
        </p:nvSpPr>
        <p:spPr>
          <a:xfrm>
            <a:off x="822960" y="4572000"/>
            <a:ext cx="7315200" cy="274320"/>
          </a:xfrm>
          <a:prstGeom prst="rect">
            <a:avLst/>
          </a:prstGeom>
          <a:noFill/>
        </p:spPr>
        <p:txBody>
          <a:bodyPr wrap="square" lIns="0" rIns="0" tIns="0" bIns="0" anchor="t">
            <a:spAutoFit/>
          </a:bodyPr>
          <a:lstStyle/>
          <a:p>
            <a:pPr algn="l">
              <a:spcAft>
                <a:spcPts val="0"/>
              </a:spcAft>
            </a:pPr>
            <a:r>
              <a:rPr sz="1200" b="1" i="0">
                <a:solidFill>
                  <a:srgbClr val="8FA0A8"/>
                </a:solidFill>
                <a:latin typeface="Calibri"/>
              </a:rPr>
              <a:t>WORTH ASKING ABOUT</a:t>
            </a:r>
          </a:p>
        </p:txBody>
      </p:sp>
      <p:sp>
        <p:nvSpPr>
          <p:cNvPr id="10" name="TextBox 9"/>
          <p:cNvSpPr txBox="1"/>
          <p:nvPr/>
        </p:nvSpPr>
        <p:spPr>
          <a:xfrm>
            <a:off x="822960" y="4937760"/>
            <a:ext cx="3291840" cy="1097280"/>
          </a:xfrm>
          <a:prstGeom prst="rect">
            <a:avLst/>
          </a:prstGeom>
          <a:noFill/>
        </p:spPr>
        <p:txBody>
          <a:bodyPr wrap="square" lIns="0" rIns="0" tIns="0" bIns="0" anchor="t">
            <a:spAutoFit/>
          </a:bodyPr>
          <a:lstStyle/>
          <a:p>
            <a:pPr algn="l">
              <a:spcAft>
                <a:spcPts val="0"/>
              </a:spcAft>
            </a:pPr>
            <a:r>
              <a:rPr sz="1500" b="0" i="0">
                <a:solidFill>
                  <a:srgbClr val="C9D6DA"/>
                </a:solidFill>
                <a:latin typeface="Calibri"/>
              </a:rPr>
              <a:t>Not equal compute: the 1 s grid spends ~420 CPU-seconds per instance, more than Panadero's 128.</a:t>
            </a:r>
          </a:p>
        </p:txBody>
      </p:sp>
      <p:sp>
        <p:nvSpPr>
          <p:cNvPr id="11" name="TextBox 10"/>
          <p:cNvSpPr txBox="1"/>
          <p:nvPr/>
        </p:nvSpPr>
        <p:spPr>
          <a:xfrm>
            <a:off x="4434840" y="4937760"/>
            <a:ext cx="3291840" cy="1097280"/>
          </a:xfrm>
          <a:prstGeom prst="rect">
            <a:avLst/>
          </a:prstGeom>
          <a:noFill/>
        </p:spPr>
        <p:txBody>
          <a:bodyPr wrap="square" lIns="0" rIns="0" tIns="0" bIns="0" anchor="t">
            <a:spAutoFit/>
          </a:bodyPr>
          <a:lstStyle/>
          <a:p>
            <a:pPr algn="l">
              <a:spcAft>
                <a:spcPts val="0"/>
              </a:spcAft>
            </a:pPr>
            <a:r>
              <a:rPr sz="1500" b="0" i="0">
                <a:solidFill>
                  <a:srgbClr val="C9D6DA"/>
                </a:solidFill>
                <a:latin typeface="Calibri"/>
              </a:rPr>
              <a:t>1 s runs depend on the machine's load, so they are not exactly reproducible.</a:t>
            </a:r>
          </a:p>
        </p:txBody>
      </p:sp>
      <p:sp>
        <p:nvSpPr>
          <p:cNvPr id="12" name="TextBox 11"/>
          <p:cNvSpPr txBox="1"/>
          <p:nvPr/>
        </p:nvSpPr>
        <p:spPr>
          <a:xfrm>
            <a:off x="8046720" y="4937760"/>
            <a:ext cx="3291840" cy="1097280"/>
          </a:xfrm>
          <a:prstGeom prst="rect">
            <a:avLst/>
          </a:prstGeom>
          <a:noFill/>
        </p:spPr>
        <p:txBody>
          <a:bodyPr wrap="square" lIns="0" rIns="0" tIns="0" bIns="0" anchor="t">
            <a:spAutoFit/>
          </a:bodyPr>
          <a:lstStyle/>
          <a:p>
            <a:pPr algn="l">
              <a:spcAft>
                <a:spcPts val="0"/>
              </a:spcAft>
            </a:pPr>
            <a:r>
              <a:rPr sz="1500" b="0" i="0">
                <a:solidFill>
                  <a:srgbClr val="C9D6DA"/>
                </a:solidFill>
                <a:latin typeface="Calibri"/>
              </a:rPr>
              <a:t>Moves between routes and swaps are still open. For p3–p7 the paper only publishes set means.</a:t>
            </a:r>
          </a:p>
        </p:txBody>
      </p:sp>
      <p:sp>
        <p:nvSpPr>
          <p:cNvPr id="13" name="TextBox 12"/>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300" b="0" i="0">
                <a:solidFill>
                  <a:srgbClr val="8FA0A8"/>
                </a:solidFill>
                <a:latin typeface="Calibri"/>
              </a:rPr>
              <a:t>Thank you — questions?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822960" y="274320"/>
            <a:ext cx="2743200" cy="274320"/>
          </a:xfrm>
          <a:prstGeom prst="rect">
            <a:avLst/>
          </a:prstGeom>
          <a:noFill/>
        </p:spPr>
        <p:txBody>
          <a:bodyPr wrap="square" lIns="0" rIns="0" tIns="0" bIns="0" anchor="t">
            <a:spAutoFit/>
          </a:bodyPr>
          <a:lstStyle/>
          <a:p>
            <a:pPr algn="l">
              <a:spcAft>
                <a:spcPts val="0"/>
              </a:spcAft>
            </a:pPr>
            <a:r>
              <a:rPr sz="1100" b="1" i="0">
                <a:solidFill>
                  <a:srgbClr val="1F7A6D"/>
                </a:solidFill>
                <a:latin typeface="Calibri"/>
              </a:rPr>
              <a:t>BACKUP</a:t>
            </a:r>
          </a:p>
        </p:txBody>
      </p:sp>
      <p:sp>
        <p:nvSpPr>
          <p:cNvPr id="3" name="TextBox 2"/>
          <p:cNvSpPr txBox="1"/>
          <p:nvPr/>
        </p:nvSpPr>
        <p:spPr>
          <a:xfrm>
            <a:off x="822960" y="502920"/>
            <a:ext cx="10543032" cy="731520"/>
          </a:xfrm>
          <a:prstGeom prst="rect">
            <a:avLst/>
          </a:prstGeom>
          <a:noFill/>
        </p:spPr>
        <p:txBody>
          <a:bodyPr wrap="square" lIns="0" rIns="0" tIns="0" bIns="0" anchor="t">
            <a:spAutoFit/>
          </a:bodyPr>
          <a:lstStyle/>
          <a:p>
            <a:pPr algn="l">
              <a:spcAft>
                <a:spcPts val="0"/>
              </a:spcAft>
            </a:pPr>
            <a:r>
              <a:rPr sz="3200" b="1" i="0">
                <a:solidFill>
                  <a:srgbClr val="12212B"/>
                </a:solidFill>
                <a:latin typeface="Arial"/>
              </a:rPr>
              <a:t>All variants against Panadero et al.</a:t>
            </a:r>
          </a:p>
        </p:txBody>
      </p:sp>
      <p:graphicFrame>
        <p:nvGraphicFramePr>
          <p:cNvPr id="4" name="Table 3"/>
          <p:cNvGraphicFramePr>
            <a:graphicFrameLocks noGrp="1"/>
          </p:cNvGraphicFramePr>
          <p:nvPr/>
        </p:nvGraphicFramePr>
        <p:xfrm>
          <a:off x="822960" y="1463040"/>
          <a:ext cx="10543032" cy="4480560"/>
        </p:xfrm>
        <a:graphic>
          <a:graphicData uri="http://schemas.openxmlformats.org/drawingml/2006/table">
            <a:tbl>
              <a:tblPr firstRow="1" bandRow="1">
                <a:tableStyleId>{5C22544A-7EE6-4342-B048-85BDC9FD1C3A}</a:tableStyleId>
              </a:tblPr>
              <a:tblGrid>
                <a:gridCol w="4206240"/>
                <a:gridCol w="1554480"/>
                <a:gridCol w="1554480"/>
                <a:gridCol w="3227832"/>
              </a:tblGrid>
              <a:tr h="373380">
                <a:tc>
                  <a:txBody>
                    <a:bodyPr/>
                    <a:lstStyle/>
                    <a:p>
                      <a:pPr algn="l"/>
                      <a:r>
                        <a:rPr sz="1300" b="1">
                          <a:solidFill>
                            <a:srgbClr val="F7F5EF"/>
                          </a:solidFill>
                          <a:latin typeface="Calibri"/>
                        </a:rPr>
                        <a:t>Method</a:t>
                      </a:r>
                    </a:p>
                  </a:txBody>
                  <a:tcPr marL="91440" marR="91440" marT="27432" marB="27432">
                    <a:solidFill>
                      <a:srgbClr val="12212B"/>
                    </a:solidFill>
                  </a:tcPr>
                </a:tc>
                <a:tc>
                  <a:txBody>
                    <a:bodyPr/>
                    <a:lstStyle/>
                    <a:p>
                      <a:pPr algn="ctr"/>
                      <a:r>
                        <a:rPr sz="1300" b="1">
                          <a:solidFill>
                            <a:srgbClr val="F7F5EF"/>
                          </a:solidFill>
                          <a:latin typeface="Calibri"/>
                        </a:rPr>
                        <a:t>Mean gap</a:t>
                      </a:r>
                    </a:p>
                  </a:txBody>
                  <a:tcPr marL="91440" marR="91440" marT="27432" marB="27432">
                    <a:solidFill>
                      <a:srgbClr val="12212B"/>
                    </a:solidFill>
                  </a:tcPr>
                </a:tc>
                <a:tc>
                  <a:txBody>
                    <a:bodyPr/>
                    <a:lstStyle/>
                    <a:p>
                      <a:pPr algn="ctr"/>
                      <a:r>
                        <a:rPr sz="1300" b="1">
                          <a:solidFill>
                            <a:srgbClr val="F7F5EF"/>
                          </a:solidFill>
                          <a:latin typeface="Calibri"/>
                        </a:rPr>
                        <a:t>BKS reached</a:t>
                      </a:r>
                    </a:p>
                  </a:txBody>
                  <a:tcPr marL="91440" marR="91440" marT="27432" marB="27432">
                    <a:solidFill>
                      <a:srgbClr val="12212B"/>
                    </a:solidFill>
                  </a:tcPr>
                </a:tc>
                <a:tc>
                  <a:txBody>
                    <a:bodyPr/>
                    <a:lstStyle/>
                    <a:p>
                      <a:pPr algn="ctr"/>
                      <a:r>
                        <a:rPr sz="1300" b="1">
                          <a:solidFill>
                            <a:srgbClr val="F7F5EF"/>
                          </a:solidFill>
                          <a:latin typeface="Calibri"/>
                        </a:rPr>
                        <a:t>vs Panadero 128 (better / equal / worse)</a:t>
                      </a:r>
                    </a:p>
                  </a:txBody>
                  <a:tcPr marL="91440" marR="91440" marT="27432" marB="27432">
                    <a:solidFill>
                      <a:srgbClr val="12212B"/>
                    </a:solidFill>
                  </a:tcPr>
                </a:tc>
              </a:tr>
              <a:tr h="373380">
                <a:tc>
                  <a:txBody>
                    <a:bodyPr/>
                    <a:lstStyle/>
                    <a:p>
                      <a:pPr algn="l"/>
                      <a:r>
                        <a:rPr sz="1300" b="0">
                          <a:solidFill>
                            <a:srgbClr val="12212B"/>
                          </a:solidFill>
                          <a:latin typeface="Calibri"/>
                        </a:rPr>
                        <a:t>PJS, best α</a:t>
                      </a:r>
                    </a:p>
                  </a:txBody>
                  <a:tcPr marL="91440" marR="91440" marT="27432" marB="27432">
                    <a:solidFill>
                      <a:srgbClr val="FDFCF8"/>
                    </a:solidFill>
                  </a:tcPr>
                </a:tc>
                <a:tc>
                  <a:txBody>
                    <a:bodyPr/>
                    <a:lstStyle/>
                    <a:p>
                      <a:pPr algn="ctr"/>
                      <a:r>
                        <a:rPr sz="1300" b="0">
                          <a:solidFill>
                            <a:srgbClr val="12212B"/>
                          </a:solidFill>
                          <a:latin typeface="Calibri"/>
                        </a:rPr>
                        <a:t>4.82 %</a:t>
                      </a:r>
                    </a:p>
                  </a:txBody>
                  <a:tcPr marL="91440" marR="91440" marT="27432" marB="27432">
                    <a:solidFill>
                      <a:srgbClr val="FDFCF8"/>
                    </a:solidFill>
                  </a:tcPr>
                </a:tc>
                <a:tc>
                  <a:txBody>
                    <a:bodyPr/>
                    <a:lstStyle/>
                    <a:p>
                      <a:pPr algn="ctr"/>
                      <a:r>
                        <a:rPr sz="1300" b="0">
                          <a:solidFill>
                            <a:srgbClr val="12212B"/>
                          </a:solidFill>
                          <a:latin typeface="Calibri"/>
                        </a:rPr>
                        <a:t>44</a:t>
                      </a:r>
                    </a:p>
                  </a:txBody>
                  <a:tcPr marL="91440" marR="91440" marT="27432" marB="27432">
                    <a:solidFill>
                      <a:srgbClr val="FDFCF8"/>
                    </a:solidFill>
                  </a:tcPr>
                </a:tc>
                <a:tc>
                  <a:txBody>
                    <a:bodyPr/>
                    <a:lstStyle/>
                    <a:p>
                      <a:pPr algn="ctr"/>
                      <a:r>
                        <a:rPr sz="1300" b="0">
                          <a:solidFill>
                            <a:srgbClr val="12212B"/>
                          </a:solidFill>
                          <a:latin typeface="Calibri"/>
                        </a:rPr>
                        <a:t>0 / 45 / 36</a:t>
                      </a:r>
                    </a:p>
                  </a:txBody>
                  <a:tcPr marL="91440" marR="91440" marT="27432" marB="27432">
                    <a:solidFill>
                      <a:srgbClr val="FDFCF8"/>
                    </a:solidFill>
                  </a:tcPr>
                </a:tc>
              </a:tr>
              <a:tr h="373380">
                <a:tc>
                  <a:txBody>
                    <a:bodyPr/>
                    <a:lstStyle/>
                    <a:p>
                      <a:pPr algn="l"/>
                      <a:r>
                        <a:rPr sz="1300" b="0">
                          <a:solidFill>
                            <a:srgbClr val="12212B"/>
                          </a:solidFill>
                          <a:latin typeface="Calibri"/>
                        </a:rPr>
                        <a:t>GRASP 10 it, α grid</a:t>
                      </a:r>
                    </a:p>
                  </a:txBody>
                  <a:tcPr marL="91440" marR="91440" marT="27432" marB="27432">
                    <a:solidFill>
                      <a:srgbClr val="F1EFE6"/>
                    </a:solidFill>
                  </a:tcPr>
                </a:tc>
                <a:tc>
                  <a:txBody>
                    <a:bodyPr/>
                    <a:lstStyle/>
                    <a:p>
                      <a:pPr algn="ctr"/>
                      <a:r>
                        <a:rPr sz="1300" b="0">
                          <a:solidFill>
                            <a:srgbClr val="12212B"/>
                          </a:solidFill>
                          <a:latin typeface="Calibri"/>
                        </a:rPr>
                        <a:t>1.99 %</a:t>
                      </a:r>
                    </a:p>
                  </a:txBody>
                  <a:tcPr marL="91440" marR="91440" marT="27432" marB="27432">
                    <a:solidFill>
                      <a:srgbClr val="F1EFE6"/>
                    </a:solidFill>
                  </a:tcPr>
                </a:tc>
                <a:tc>
                  <a:txBody>
                    <a:bodyPr/>
                    <a:lstStyle/>
                    <a:p>
                      <a:pPr algn="ctr"/>
                      <a:r>
                        <a:rPr sz="1300" b="0">
                          <a:solidFill>
                            <a:srgbClr val="12212B"/>
                          </a:solidFill>
                          <a:latin typeface="Calibri"/>
                        </a:rPr>
                        <a:t>53</a:t>
                      </a:r>
                    </a:p>
                  </a:txBody>
                  <a:tcPr marL="91440" marR="91440" marT="27432" marB="27432">
                    <a:solidFill>
                      <a:srgbClr val="F1EFE6"/>
                    </a:solidFill>
                  </a:tcPr>
                </a:tc>
                <a:tc>
                  <a:txBody>
                    <a:bodyPr/>
                    <a:lstStyle/>
                    <a:p>
                      <a:pPr algn="ctr"/>
                      <a:r>
                        <a:rPr sz="1300" b="0">
                          <a:solidFill>
                            <a:srgbClr val="12212B"/>
                          </a:solidFill>
                          <a:latin typeface="Calibri"/>
                        </a:rPr>
                        <a:t>1 / 56 / 24</a:t>
                      </a:r>
                    </a:p>
                  </a:txBody>
                  <a:tcPr marL="91440" marR="91440" marT="27432" marB="27432">
                    <a:solidFill>
                      <a:srgbClr val="F1EFE6"/>
                    </a:solidFill>
                  </a:tcPr>
                </a:tc>
              </a:tr>
              <a:tr h="373380">
                <a:tc>
                  <a:txBody>
                    <a:bodyPr/>
                    <a:lstStyle/>
                    <a:p>
                      <a:pPr algn="l"/>
                      <a:r>
                        <a:rPr sz="1300" b="0">
                          <a:solidFill>
                            <a:srgbClr val="B5471E"/>
                          </a:solidFill>
                          <a:latin typeface="Calibri"/>
                        </a:rPr>
                        <a:t>Panadero, 1 thread</a:t>
                      </a:r>
                    </a:p>
                  </a:txBody>
                  <a:tcPr marL="91440" marR="91440" marT="27432" marB="27432">
                    <a:solidFill>
                      <a:srgbClr val="FBEDE6"/>
                    </a:solidFill>
                  </a:tcPr>
                </a:tc>
                <a:tc>
                  <a:txBody>
                    <a:bodyPr/>
                    <a:lstStyle/>
                    <a:p>
                      <a:pPr algn="ctr"/>
                      <a:r>
                        <a:rPr sz="1300" b="0">
                          <a:solidFill>
                            <a:srgbClr val="B5471E"/>
                          </a:solidFill>
                          <a:latin typeface="Calibri"/>
                        </a:rPr>
                        <a:t>1.73 %</a:t>
                      </a:r>
                    </a:p>
                  </a:txBody>
                  <a:tcPr marL="91440" marR="91440" marT="27432" marB="27432">
                    <a:solidFill>
                      <a:srgbClr val="FBEDE6"/>
                    </a:solidFill>
                  </a:tcPr>
                </a:tc>
                <a:tc>
                  <a:txBody>
                    <a:bodyPr/>
                    <a:lstStyle/>
                    <a:p>
                      <a:pPr algn="ctr"/>
                      <a:r>
                        <a:rPr sz="1300" b="0">
                          <a:solidFill>
                            <a:srgbClr val="B5471E"/>
                          </a:solidFill>
                          <a:latin typeface="Calibri"/>
                        </a:rPr>
                        <a:t>52</a:t>
                      </a:r>
                    </a:p>
                  </a:txBody>
                  <a:tcPr marL="91440" marR="91440" marT="27432" marB="27432">
                    <a:solidFill>
                      <a:srgbClr val="FBEDE6"/>
                    </a:solidFill>
                  </a:tcPr>
                </a:tc>
                <a:tc>
                  <a:txBody>
                    <a:bodyPr/>
                    <a:lstStyle/>
                    <a:p>
                      <a:pPr algn="ctr"/>
                      <a:r>
                        <a:rPr sz="1300" b="0">
                          <a:solidFill>
                            <a:srgbClr val="B5471E"/>
                          </a:solidFill>
                          <a:latin typeface="Calibri"/>
                        </a:rPr>
                        <a:t>—</a:t>
                      </a:r>
                    </a:p>
                  </a:txBody>
                  <a:tcPr marL="91440" marR="91440" marT="27432" marB="27432">
                    <a:solidFill>
                      <a:srgbClr val="FBEDE6"/>
                    </a:solidFill>
                  </a:tcPr>
                </a:tc>
              </a:tr>
              <a:tr h="373380">
                <a:tc>
                  <a:txBody>
                    <a:bodyPr/>
                    <a:lstStyle/>
                    <a:p>
                      <a:pPr algn="l"/>
                      <a:r>
                        <a:rPr sz="1300" b="0">
                          <a:solidFill>
                            <a:srgbClr val="12212B"/>
                          </a:solidFill>
                          <a:latin typeface="Calibri"/>
                        </a:rPr>
                        <a:t>GRASP 1 s, best α</a:t>
                      </a:r>
                    </a:p>
                  </a:txBody>
                  <a:tcPr marL="91440" marR="91440" marT="27432" marB="27432">
                    <a:solidFill>
                      <a:srgbClr val="F1EFE6"/>
                    </a:solidFill>
                  </a:tcPr>
                </a:tc>
                <a:tc>
                  <a:txBody>
                    <a:bodyPr/>
                    <a:lstStyle/>
                    <a:p>
                      <a:pPr algn="ctr"/>
                      <a:r>
                        <a:rPr sz="1300" b="0">
                          <a:solidFill>
                            <a:srgbClr val="12212B"/>
                          </a:solidFill>
                          <a:latin typeface="Calibri"/>
                        </a:rPr>
                        <a:t>1.49 %</a:t>
                      </a:r>
                    </a:p>
                  </a:txBody>
                  <a:tcPr marL="91440" marR="91440" marT="27432" marB="27432">
                    <a:solidFill>
                      <a:srgbClr val="F1EFE6"/>
                    </a:solidFill>
                  </a:tcPr>
                </a:tc>
                <a:tc>
                  <a:txBody>
                    <a:bodyPr/>
                    <a:lstStyle/>
                    <a:p>
                      <a:pPr algn="ctr"/>
                      <a:r>
                        <a:rPr sz="1300" b="0">
                          <a:solidFill>
                            <a:srgbClr val="12212B"/>
                          </a:solidFill>
                          <a:latin typeface="Calibri"/>
                        </a:rPr>
                        <a:t>56</a:t>
                      </a:r>
                    </a:p>
                  </a:txBody>
                  <a:tcPr marL="91440" marR="91440" marT="27432" marB="27432">
                    <a:solidFill>
                      <a:srgbClr val="F1EFE6"/>
                    </a:solidFill>
                  </a:tcPr>
                </a:tc>
                <a:tc>
                  <a:txBody>
                    <a:bodyPr/>
                    <a:lstStyle/>
                    <a:p>
                      <a:pPr algn="ctr"/>
                      <a:r>
                        <a:rPr sz="1300" b="0">
                          <a:solidFill>
                            <a:srgbClr val="12212B"/>
                          </a:solidFill>
                          <a:latin typeface="Calibri"/>
                        </a:rPr>
                        <a:t>2 / 60 / 19</a:t>
                      </a:r>
                    </a:p>
                  </a:txBody>
                  <a:tcPr marL="91440" marR="91440" marT="27432" marB="27432">
                    <a:solidFill>
                      <a:srgbClr val="F1EFE6"/>
                    </a:solidFill>
                  </a:tcPr>
                </a:tc>
              </a:tr>
              <a:tr h="373380">
                <a:tc>
                  <a:txBody>
                    <a:bodyPr/>
                    <a:lstStyle/>
                    <a:p>
                      <a:pPr algn="l"/>
                      <a:r>
                        <a:rPr sz="1300" b="0">
                          <a:solidFill>
                            <a:srgbClr val="12212B"/>
                          </a:solidFill>
                          <a:latin typeface="Calibri"/>
                        </a:rPr>
                        <a:t>GRASP 100 it, α grid</a:t>
                      </a:r>
                    </a:p>
                  </a:txBody>
                  <a:tcPr marL="91440" marR="91440" marT="27432" marB="27432">
                    <a:solidFill>
                      <a:srgbClr val="FDFCF8"/>
                    </a:solidFill>
                  </a:tcPr>
                </a:tc>
                <a:tc>
                  <a:txBody>
                    <a:bodyPr/>
                    <a:lstStyle/>
                    <a:p>
                      <a:pPr algn="ctr"/>
                      <a:r>
                        <a:rPr sz="1300" b="0">
                          <a:solidFill>
                            <a:srgbClr val="12212B"/>
                          </a:solidFill>
                          <a:latin typeface="Calibri"/>
                        </a:rPr>
                        <a:t>1.45 %</a:t>
                      </a:r>
                    </a:p>
                  </a:txBody>
                  <a:tcPr marL="91440" marR="91440" marT="27432" marB="27432">
                    <a:solidFill>
                      <a:srgbClr val="FDFCF8"/>
                    </a:solidFill>
                  </a:tcPr>
                </a:tc>
                <a:tc>
                  <a:txBody>
                    <a:bodyPr/>
                    <a:lstStyle/>
                    <a:p>
                      <a:pPr algn="ctr"/>
                      <a:r>
                        <a:rPr sz="1300" b="0">
                          <a:solidFill>
                            <a:srgbClr val="12212B"/>
                          </a:solidFill>
                          <a:latin typeface="Calibri"/>
                        </a:rPr>
                        <a:t>57</a:t>
                      </a:r>
                    </a:p>
                  </a:txBody>
                  <a:tcPr marL="91440" marR="91440" marT="27432" marB="27432">
                    <a:solidFill>
                      <a:srgbClr val="FDFCF8"/>
                    </a:solidFill>
                  </a:tcPr>
                </a:tc>
                <a:tc>
                  <a:txBody>
                    <a:bodyPr/>
                    <a:lstStyle/>
                    <a:p>
                      <a:pPr algn="ctr"/>
                      <a:r>
                        <a:rPr sz="1300" b="0">
                          <a:solidFill>
                            <a:srgbClr val="12212B"/>
                          </a:solidFill>
                          <a:latin typeface="Calibri"/>
                        </a:rPr>
                        <a:t>3 / 57 / 21</a:t>
                      </a:r>
                    </a:p>
                  </a:txBody>
                  <a:tcPr marL="91440" marR="91440" marT="27432" marB="27432">
                    <a:solidFill>
                      <a:srgbClr val="FDFCF8"/>
                    </a:solidFill>
                  </a:tcPr>
                </a:tc>
              </a:tr>
              <a:tr h="373380">
                <a:tc>
                  <a:txBody>
                    <a:bodyPr/>
                    <a:lstStyle/>
                    <a:p>
                      <a:pPr algn="l"/>
                      <a:r>
                        <a:rPr sz="1300" b="0">
                          <a:solidFill>
                            <a:srgbClr val="12212B"/>
                          </a:solidFill>
                          <a:latin typeface="Calibri"/>
                        </a:rPr>
                        <a:t>GRASP 1 s, α grid</a:t>
                      </a:r>
                    </a:p>
                  </a:txBody>
                  <a:tcPr marL="91440" marR="91440" marT="27432" marB="27432">
                    <a:solidFill>
                      <a:srgbClr val="F1EFE6"/>
                    </a:solidFill>
                  </a:tcPr>
                </a:tc>
                <a:tc>
                  <a:txBody>
                    <a:bodyPr/>
                    <a:lstStyle/>
                    <a:p>
                      <a:pPr algn="ctr"/>
                      <a:r>
                        <a:rPr sz="1300" b="0">
                          <a:solidFill>
                            <a:srgbClr val="12212B"/>
                          </a:solidFill>
                          <a:latin typeface="Calibri"/>
                        </a:rPr>
                        <a:t>0.71 %</a:t>
                      </a:r>
                    </a:p>
                  </a:txBody>
                  <a:tcPr marL="91440" marR="91440" marT="27432" marB="27432">
                    <a:solidFill>
                      <a:srgbClr val="F1EFE6"/>
                    </a:solidFill>
                  </a:tcPr>
                </a:tc>
                <a:tc>
                  <a:txBody>
                    <a:bodyPr/>
                    <a:lstStyle/>
                    <a:p>
                      <a:pPr algn="ctr"/>
                      <a:r>
                        <a:rPr sz="1300" b="0">
                          <a:solidFill>
                            <a:srgbClr val="12212B"/>
                          </a:solidFill>
                          <a:latin typeface="Calibri"/>
                        </a:rPr>
                        <a:t>65</a:t>
                      </a:r>
                    </a:p>
                  </a:txBody>
                  <a:tcPr marL="91440" marR="91440" marT="27432" marB="27432">
                    <a:solidFill>
                      <a:srgbClr val="F1EFE6"/>
                    </a:solidFill>
                  </a:tcPr>
                </a:tc>
                <a:tc>
                  <a:txBody>
                    <a:bodyPr/>
                    <a:lstStyle/>
                    <a:p>
                      <a:pPr algn="ctr"/>
                      <a:r>
                        <a:rPr sz="1300" b="0">
                          <a:solidFill>
                            <a:srgbClr val="12212B"/>
                          </a:solidFill>
                          <a:latin typeface="Calibri"/>
                        </a:rPr>
                        <a:t>4 / 67 / 10</a:t>
                      </a:r>
                    </a:p>
                  </a:txBody>
                  <a:tcPr marL="91440" marR="91440" marT="27432" marB="27432">
                    <a:solidFill>
                      <a:srgbClr val="F1EFE6"/>
                    </a:solidFill>
                  </a:tcPr>
                </a:tc>
              </a:tr>
              <a:tr h="373380">
                <a:tc>
                  <a:txBody>
                    <a:bodyPr/>
                    <a:lstStyle/>
                    <a:p>
                      <a:pPr algn="l"/>
                      <a:r>
                        <a:rPr sz="1300" b="0">
                          <a:solidFill>
                            <a:srgbClr val="12212B"/>
                          </a:solidFill>
                          <a:latin typeface="Calibri"/>
                        </a:rPr>
                        <a:t>GRASP 1 s, best α + local search</a:t>
                      </a:r>
                    </a:p>
                  </a:txBody>
                  <a:tcPr marL="91440" marR="91440" marT="27432" marB="27432">
                    <a:solidFill>
                      <a:srgbClr val="FDFCF8"/>
                    </a:solidFill>
                  </a:tcPr>
                </a:tc>
                <a:tc>
                  <a:txBody>
                    <a:bodyPr/>
                    <a:lstStyle/>
                    <a:p>
                      <a:pPr algn="ctr"/>
                      <a:r>
                        <a:rPr sz="1300" b="0">
                          <a:solidFill>
                            <a:srgbClr val="12212B"/>
                          </a:solidFill>
                          <a:latin typeface="Calibri"/>
                        </a:rPr>
                        <a:t>0.71 %</a:t>
                      </a:r>
                    </a:p>
                  </a:txBody>
                  <a:tcPr marL="91440" marR="91440" marT="27432" marB="27432">
                    <a:solidFill>
                      <a:srgbClr val="FDFCF8"/>
                    </a:solidFill>
                  </a:tcPr>
                </a:tc>
                <a:tc>
                  <a:txBody>
                    <a:bodyPr/>
                    <a:lstStyle/>
                    <a:p>
                      <a:pPr algn="ctr"/>
                      <a:r>
                        <a:rPr sz="1300" b="0">
                          <a:solidFill>
                            <a:srgbClr val="12212B"/>
                          </a:solidFill>
                          <a:latin typeface="Calibri"/>
                        </a:rPr>
                        <a:t>63</a:t>
                      </a:r>
                    </a:p>
                  </a:txBody>
                  <a:tcPr marL="91440" marR="91440" marT="27432" marB="27432">
                    <a:solidFill>
                      <a:srgbClr val="FDFCF8"/>
                    </a:solidFill>
                  </a:tcPr>
                </a:tc>
                <a:tc>
                  <a:txBody>
                    <a:bodyPr/>
                    <a:lstStyle/>
                    <a:p>
                      <a:pPr algn="ctr"/>
                      <a:r>
                        <a:rPr sz="1300" b="0">
                          <a:solidFill>
                            <a:srgbClr val="12212B"/>
                          </a:solidFill>
                          <a:latin typeface="Calibri"/>
                        </a:rPr>
                        <a:t>7 / 62 / 12</a:t>
                      </a:r>
                    </a:p>
                  </a:txBody>
                  <a:tcPr marL="91440" marR="91440" marT="27432" marB="27432">
                    <a:solidFill>
                      <a:srgbClr val="FDFCF8"/>
                    </a:solidFill>
                  </a:tcPr>
                </a:tc>
              </a:tr>
              <a:tr h="373380">
                <a:tc>
                  <a:txBody>
                    <a:bodyPr/>
                    <a:lstStyle/>
                    <a:p>
                      <a:pPr algn="l"/>
                      <a:r>
                        <a:rPr sz="1300" b="0">
                          <a:solidFill>
                            <a:srgbClr val="B5471E"/>
                          </a:solidFill>
                          <a:latin typeface="Calibri"/>
                        </a:rPr>
                        <a:t>Panadero, 128 threads</a:t>
                      </a:r>
                    </a:p>
                  </a:txBody>
                  <a:tcPr marL="91440" marR="91440" marT="27432" marB="27432">
                    <a:solidFill>
                      <a:srgbClr val="FBEDE6"/>
                    </a:solidFill>
                  </a:tcPr>
                </a:tc>
                <a:tc>
                  <a:txBody>
                    <a:bodyPr/>
                    <a:lstStyle/>
                    <a:p>
                      <a:pPr algn="ctr"/>
                      <a:r>
                        <a:rPr sz="1300" b="0">
                          <a:solidFill>
                            <a:srgbClr val="B5471E"/>
                          </a:solidFill>
                          <a:latin typeface="Calibri"/>
                        </a:rPr>
                        <a:t>0.44 %</a:t>
                      </a:r>
                    </a:p>
                  </a:txBody>
                  <a:tcPr marL="91440" marR="91440" marT="27432" marB="27432">
                    <a:solidFill>
                      <a:srgbClr val="FBEDE6"/>
                    </a:solidFill>
                  </a:tcPr>
                </a:tc>
                <a:tc>
                  <a:txBody>
                    <a:bodyPr/>
                    <a:lstStyle/>
                    <a:p>
                      <a:pPr algn="ctr"/>
                      <a:r>
                        <a:rPr sz="1300" b="0">
                          <a:solidFill>
                            <a:srgbClr val="B5471E"/>
                          </a:solidFill>
                          <a:latin typeface="Calibri"/>
                        </a:rPr>
                        <a:t>69</a:t>
                      </a:r>
                    </a:p>
                  </a:txBody>
                  <a:tcPr marL="91440" marR="91440" marT="27432" marB="27432">
                    <a:solidFill>
                      <a:srgbClr val="FBEDE6"/>
                    </a:solidFill>
                  </a:tcPr>
                </a:tc>
                <a:tc>
                  <a:txBody>
                    <a:bodyPr/>
                    <a:lstStyle/>
                    <a:p>
                      <a:pPr algn="ctr"/>
                      <a:r>
                        <a:rPr sz="1300" b="0">
                          <a:solidFill>
                            <a:srgbClr val="B5471E"/>
                          </a:solidFill>
                          <a:latin typeface="Calibri"/>
                        </a:rPr>
                        <a:t>—</a:t>
                      </a:r>
                    </a:p>
                  </a:txBody>
                  <a:tcPr marL="91440" marR="91440" marT="27432" marB="27432">
                    <a:solidFill>
                      <a:srgbClr val="FBEDE6"/>
                    </a:solidFill>
                  </a:tcPr>
                </a:tc>
              </a:tr>
              <a:tr h="373380">
                <a:tc>
                  <a:txBody>
                    <a:bodyPr/>
                    <a:lstStyle/>
                    <a:p>
                      <a:pPr algn="l"/>
                      <a:r>
                        <a:rPr sz="1300" b="0">
                          <a:solidFill>
                            <a:srgbClr val="12212B"/>
                          </a:solidFill>
                          <a:latin typeface="Calibri"/>
                        </a:rPr>
                        <a:t>GRASP 10 it, α grid + local search</a:t>
                      </a:r>
                    </a:p>
                  </a:txBody>
                  <a:tcPr marL="91440" marR="91440" marT="27432" marB="27432">
                    <a:solidFill>
                      <a:srgbClr val="FDFCF8"/>
                    </a:solidFill>
                  </a:tcPr>
                </a:tc>
                <a:tc>
                  <a:txBody>
                    <a:bodyPr/>
                    <a:lstStyle/>
                    <a:p>
                      <a:pPr algn="ctr"/>
                      <a:r>
                        <a:rPr sz="1300" b="0">
                          <a:solidFill>
                            <a:srgbClr val="12212B"/>
                          </a:solidFill>
                          <a:latin typeface="Calibri"/>
                        </a:rPr>
                        <a:t>0.34 %</a:t>
                      </a:r>
                    </a:p>
                  </a:txBody>
                  <a:tcPr marL="91440" marR="91440" marT="27432" marB="27432">
                    <a:solidFill>
                      <a:srgbClr val="FDFCF8"/>
                    </a:solidFill>
                  </a:tcPr>
                </a:tc>
                <a:tc>
                  <a:txBody>
                    <a:bodyPr/>
                    <a:lstStyle/>
                    <a:p>
                      <a:pPr algn="ctr"/>
                      <a:r>
                        <a:rPr sz="1300" b="0">
                          <a:solidFill>
                            <a:srgbClr val="12212B"/>
                          </a:solidFill>
                          <a:latin typeface="Calibri"/>
                        </a:rPr>
                        <a:t>73</a:t>
                      </a:r>
                    </a:p>
                  </a:txBody>
                  <a:tcPr marL="91440" marR="91440" marT="27432" marB="27432">
                    <a:solidFill>
                      <a:srgbClr val="FDFCF8"/>
                    </a:solidFill>
                  </a:tcPr>
                </a:tc>
                <a:tc>
                  <a:txBody>
                    <a:bodyPr/>
                    <a:lstStyle/>
                    <a:p>
                      <a:pPr algn="ctr"/>
                      <a:r>
                        <a:rPr sz="1300" b="0">
                          <a:solidFill>
                            <a:srgbClr val="12212B"/>
                          </a:solidFill>
                          <a:latin typeface="Calibri"/>
                        </a:rPr>
                        <a:t>10 / 65 / 6</a:t>
                      </a:r>
                    </a:p>
                  </a:txBody>
                  <a:tcPr marL="91440" marR="91440" marT="27432" marB="27432">
                    <a:solidFill>
                      <a:srgbClr val="FDFCF8"/>
                    </a:solidFill>
                  </a:tcPr>
                </a:tc>
              </a:tr>
              <a:tr h="373380">
                <a:tc>
                  <a:txBody>
                    <a:bodyPr/>
                    <a:lstStyle/>
                    <a:p>
                      <a:pPr algn="l"/>
                      <a:r>
                        <a:rPr sz="1300" b="0">
                          <a:solidFill>
                            <a:srgbClr val="12212B"/>
                          </a:solidFill>
                          <a:latin typeface="Calibri"/>
                        </a:rPr>
                        <a:t>GRASP 100 it, α grid + local search</a:t>
                      </a:r>
                    </a:p>
                  </a:txBody>
                  <a:tcPr marL="91440" marR="91440" marT="27432" marB="27432">
                    <a:solidFill>
                      <a:srgbClr val="F1EFE6"/>
                    </a:solidFill>
                  </a:tcPr>
                </a:tc>
                <a:tc>
                  <a:txBody>
                    <a:bodyPr/>
                    <a:lstStyle/>
                    <a:p>
                      <a:pPr algn="ctr"/>
                      <a:r>
                        <a:rPr sz="1300" b="0">
                          <a:solidFill>
                            <a:srgbClr val="12212B"/>
                          </a:solidFill>
                          <a:latin typeface="Calibri"/>
                        </a:rPr>
                        <a:t>0.29 %</a:t>
                      </a:r>
                    </a:p>
                  </a:txBody>
                  <a:tcPr marL="91440" marR="91440" marT="27432" marB="27432">
                    <a:solidFill>
                      <a:srgbClr val="F1EFE6"/>
                    </a:solidFill>
                  </a:tcPr>
                </a:tc>
                <a:tc>
                  <a:txBody>
                    <a:bodyPr/>
                    <a:lstStyle/>
                    <a:p>
                      <a:pPr algn="ctr"/>
                      <a:r>
                        <a:rPr sz="1300" b="0">
                          <a:solidFill>
                            <a:srgbClr val="12212B"/>
                          </a:solidFill>
                          <a:latin typeface="Calibri"/>
                        </a:rPr>
                        <a:t>74</a:t>
                      </a:r>
                    </a:p>
                  </a:txBody>
                  <a:tcPr marL="91440" marR="91440" marT="27432" marB="27432">
                    <a:solidFill>
                      <a:srgbClr val="F1EFE6"/>
                    </a:solidFill>
                  </a:tcPr>
                </a:tc>
                <a:tc>
                  <a:txBody>
                    <a:bodyPr/>
                    <a:lstStyle/>
                    <a:p>
                      <a:pPr algn="ctr"/>
                      <a:r>
                        <a:rPr sz="1300" b="0">
                          <a:solidFill>
                            <a:srgbClr val="12212B"/>
                          </a:solidFill>
                          <a:latin typeface="Calibri"/>
                        </a:rPr>
                        <a:t>12 / 62 / 7</a:t>
                      </a:r>
                    </a:p>
                  </a:txBody>
                  <a:tcPr marL="91440" marR="91440" marT="27432" marB="27432">
                    <a:solidFill>
                      <a:srgbClr val="F1EFE6"/>
                    </a:solidFill>
                  </a:tcPr>
                </a:tc>
              </a:tr>
              <a:tr h="373380">
                <a:tc>
                  <a:txBody>
                    <a:bodyPr/>
                    <a:lstStyle/>
                    <a:p>
                      <a:pPr algn="l"/>
                      <a:r>
                        <a:rPr sz="1300" b="1">
                          <a:solidFill>
                            <a:srgbClr val="12212B"/>
                          </a:solidFill>
                          <a:latin typeface="Calibri"/>
                        </a:rPr>
                        <a:t>GRASP 1 s, α grid + local search</a:t>
                      </a:r>
                    </a:p>
                  </a:txBody>
                  <a:tcPr marL="91440" marR="91440" marT="27432" marB="27432">
                    <a:solidFill>
                      <a:srgbClr val="FDFCF8"/>
                    </a:solidFill>
                  </a:tcPr>
                </a:tc>
                <a:tc>
                  <a:txBody>
                    <a:bodyPr/>
                    <a:lstStyle/>
                    <a:p>
                      <a:pPr algn="ctr"/>
                      <a:r>
                        <a:rPr sz="1300" b="1">
                          <a:solidFill>
                            <a:srgbClr val="12212B"/>
                          </a:solidFill>
                          <a:latin typeface="Calibri"/>
                        </a:rPr>
                        <a:t>0.15 %</a:t>
                      </a:r>
                    </a:p>
                  </a:txBody>
                  <a:tcPr marL="91440" marR="91440" marT="27432" marB="27432">
                    <a:solidFill>
                      <a:srgbClr val="FDFCF8"/>
                    </a:solidFill>
                  </a:tcPr>
                </a:tc>
                <a:tc>
                  <a:txBody>
                    <a:bodyPr/>
                    <a:lstStyle/>
                    <a:p>
                      <a:pPr algn="ctr"/>
                      <a:r>
                        <a:rPr sz="1300" b="1">
                          <a:solidFill>
                            <a:srgbClr val="12212B"/>
                          </a:solidFill>
                          <a:latin typeface="Calibri"/>
                        </a:rPr>
                        <a:t>77</a:t>
                      </a:r>
                    </a:p>
                  </a:txBody>
                  <a:tcPr marL="91440" marR="91440" marT="27432" marB="27432">
                    <a:solidFill>
                      <a:srgbClr val="FDFCF8"/>
                    </a:solidFill>
                  </a:tcPr>
                </a:tc>
                <a:tc>
                  <a:txBody>
                    <a:bodyPr/>
                    <a:lstStyle/>
                    <a:p>
                      <a:pPr algn="ctr"/>
                      <a:r>
                        <a:rPr sz="1300" b="1">
                          <a:solidFill>
                            <a:srgbClr val="12212B"/>
                          </a:solidFill>
                          <a:latin typeface="Calibri"/>
                        </a:rPr>
                        <a:t>12 / 65 / 4</a:t>
                      </a:r>
                    </a:p>
                  </a:txBody>
                  <a:tcPr marL="91440" marR="91440" marT="27432" marB="27432">
                    <a:solidFill>
                      <a:srgbClr val="FDFCF8"/>
                    </a:solidFill>
                  </a:tcPr>
                </a:tc>
              </a:tr>
            </a:tbl>
          </a:graphicData>
        </a:graphic>
      </p:graphicFrame>
      <p:sp>
        <p:nvSpPr>
          <p:cNvPr id="5" name="TextBox 4"/>
          <p:cNvSpPr txBox="1"/>
          <p:nvPr/>
        </p:nvSpPr>
        <p:spPr>
          <a:xfrm>
            <a:off x="822960" y="6263640"/>
            <a:ext cx="10543032" cy="274320"/>
          </a:xfrm>
          <a:prstGeom prst="rect">
            <a:avLst/>
          </a:prstGeom>
          <a:noFill/>
        </p:spPr>
        <p:txBody>
          <a:bodyPr wrap="square" lIns="0" rIns="0" tIns="0" bIns="0" anchor="t">
            <a:spAutoFit/>
          </a:bodyPr>
          <a:lstStyle/>
          <a:p>
            <a:pPr algn="l">
              <a:spcAft>
                <a:spcPts val="0"/>
              </a:spcAft>
            </a:pPr>
            <a:r>
              <a:rPr sz="1200" b="0" i="0">
                <a:solidFill>
                  <a:srgbClr val="6B7580"/>
                </a:solidFill>
                <a:latin typeface="Calibri"/>
              </a:rPr>
              <a:t>Sources: docs/comparacion_panadero*.md and results/best_solution.csv. Panadero rows from Tables 3 and 4 of the paper.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