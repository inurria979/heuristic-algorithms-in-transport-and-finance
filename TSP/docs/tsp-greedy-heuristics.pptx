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78D7F"/>
    <a:srgbClr val="48B8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94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3506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problem, two constructive heuristics, the whole TSPLIB benchmark. No local search, on purpose.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subtour elimination constraints are the hard part: exponentially many of them. 51 cities already give about 10^62 tours, so exact methods are out and we go constructive.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111 problems, only 32 with a proven optimum. Sizes run over four orders of magnitude, and five different distance formulas all rounded to integers.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Cheap and intuitive, but greedy in the narrowest sense: it only compares the edges leaving the city it is standing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Multi-fragment: a union-find keeps the accepted edges from closing a premature loop, and degrees are capped at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greedy principle, different menu of candidates at each decision. That is the whole argument of the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Middle panel is the clearest: almost every point sits below 1.0, so greedy is shorter on almost every instance, at every size.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win is structural rather than a size effect: the median ratio stays between 0.93 and 0.96 in all five brackets.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Useful counterexample to have ready: greedy is better on average, not everywhere, and its weak spot is exactly the final fragment joins.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trade-off: better tours for more time, and a clear next step in local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E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ALGORITHMS  ·  TSPLIB 95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25241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7F5EF"/>
                </a:solidFill>
                <a:latin typeface="Aptos Black" panose="020F0502020204030204" pitchFamily="34" charset="0"/>
                <a:ea typeface="Calibri" pitchFamily="34" charset="-122"/>
                <a:cs typeface="Calibri" pitchFamily="34" charset="-120"/>
              </a:rPr>
              <a:t>Two greedy heuristics for the travelling salesman problem</a:t>
            </a:r>
            <a:endParaRPr lang="en-US" sz="4400" dirty="0">
              <a:latin typeface="Aptos Black" panose="020F05020202040302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4042954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93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neighbour against greedy edge, run on all 111 TSPLIB instances.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3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Jesús Inurria Porrero · Javier Salvatierra Corchado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94360"/>
            <a:ext cx="9811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One rule, impossible arithmetic</a:t>
            </a:r>
            <a:endParaRPr lang="en-US" sz="3600" b="1" dirty="0">
              <a:latin typeface="Aptos Black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177272" y="457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511094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02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every city once, come back to the start, and make the round trip as short as possible.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2788920"/>
            <a:ext cx="5394960" cy="1600200"/>
          </a:xfrm>
          <a:prstGeom prst="roundRect">
            <a:avLst>
              <a:gd name="adj" fmla="val 3077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1005840" y="27889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min  Σ dᵢⱼ · xᵢⱼ        total length</a:t>
            </a:r>
            <a:endParaRPr lang="en-US" sz="12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378D7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s.t. </a:t>
            </a:r>
            <a:r>
              <a:rPr lang="en-US" sz="12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each city entered once</a:t>
            </a:r>
            <a:endParaRPr lang="en-US" sz="12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each city left once</a:t>
            </a:r>
            <a:endParaRPr lang="en-US" sz="12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   no subtours          exponentially many</a:t>
            </a:r>
            <a:endParaRPr lang="en-US" sz="12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4602323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last family of constraints is what stops the answer from falling apart into separate loops — and what makes the problem hard.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05749" y="1676243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562B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NP-hard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805749" y="2122477"/>
            <a:ext cx="28514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polynomial algorithm is known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05749" y="2864963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(n−1)!/2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6805749" y="3413603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tours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805749" y="4053683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8A75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10⁶²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805749" y="4503421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them for just 51 cities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31520" y="5532120"/>
            <a:ext cx="10725912" cy="0"/>
          </a:xfrm>
          <a:prstGeom prst="line">
            <a:avLst/>
          </a:prstGeom>
          <a:noFill/>
          <a:ln w="12700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3"/>
          <p:cNvSpPr txBox="1"/>
          <p:nvPr/>
        </p:nvSpPr>
        <p:spPr>
          <a:xfrm>
            <a:off x="731520" y="566928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Constructive</a:t>
            </a:r>
            <a:r>
              <a:rPr lang="en-US" sz="135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build a tour from nothing. Both of ours.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56692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02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improvement</a:t>
            </a:r>
            <a:r>
              <a:rPr lang="en-US" sz="135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2-opt, Lin–Kernighan. Left out on purpose: we want to see what each construction is worth on its own.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96015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TSPLIB 95 — the benchmark</a:t>
            </a:r>
            <a:endParaRPr lang="en-US" sz="3600" dirty="0">
              <a:latin typeface="Aptos Black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177272" y="457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6253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111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790731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.tsp files - the problems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1326253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8A75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291840" y="1790731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.opt.tour files - optima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326253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14 → 85,900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5852160" y="1790731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cities, burma14 to pla85900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1326253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9326880" y="1790731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types, all integer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508068"/>
            <a:ext cx="10725912" cy="2148840"/>
          </a:xfrm>
          <a:prstGeom prst="roundRect">
            <a:avLst>
              <a:gd name="adj" fmla="val 2553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0" descr="/home/claude/img/str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690948"/>
            <a:ext cx="10149840" cy="1307592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005840" y="408998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instance by size. Only the green ones ship a known optimal tour, so they are the only ones where a true gap can be measured.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31520" y="4839787"/>
            <a:ext cx="5166360" cy="1660849"/>
          </a:xfrm>
          <a:prstGeom prst="roundRect">
            <a:avLst>
              <a:gd name="adj" fmla="val 4000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3"/>
          <p:cNvSpPr txBox="1"/>
          <p:nvPr/>
        </p:nvSpPr>
        <p:spPr>
          <a:xfrm>
            <a:off x="1005840" y="49495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.tsp - the problem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05840" y="5278699"/>
            <a:ext cx="4663440" cy="10073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8D7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NAME</a:t>
            </a:r>
            <a:r>
              <a:rPr lang="en-US" sz="10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eil51       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8D7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DIMENSION</a:t>
            </a:r>
            <a:r>
              <a:rPr lang="en-US" sz="10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51</a:t>
            </a:r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8D7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EDGE_WEIGHT_TYPE</a:t>
            </a:r>
            <a:r>
              <a:rPr lang="en-US" sz="10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EUC_2D</a:t>
            </a:r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8D7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NODE_COORD_SECTION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37 52             node, x, y</a:t>
            </a:r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6291072" y="4839788"/>
            <a:ext cx="5166360" cy="1660848"/>
          </a:xfrm>
          <a:prstGeom prst="roundRect">
            <a:avLst>
              <a:gd name="adj" fmla="val 4000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9" name="Text 16"/>
          <p:cNvSpPr txBox="1"/>
          <p:nvPr/>
        </p:nvSpPr>
        <p:spPr>
          <a:xfrm>
            <a:off x="6565392" y="494951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2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400" b="1" dirty="0" err="1">
                <a:solidFill>
                  <a:srgbClr val="102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opt.tour</a:t>
            </a:r>
            <a:r>
              <a:rPr lang="en-US" sz="1400" b="1" dirty="0">
                <a:solidFill>
                  <a:srgbClr val="102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the answer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565392" y="5278700"/>
            <a:ext cx="4663440" cy="10073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8D7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COMMENT </a:t>
            </a:r>
            <a:r>
              <a:rPr lang="en-US" sz="10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: Optimal tour (426)</a:t>
            </a:r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378D7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TOUR_SECTION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1 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22  ...</a:t>
            </a:r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-1                  end of tour</a:t>
            </a:r>
            <a:endParaRPr lang="en-US" sz="105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Nearest neighbour</a:t>
            </a:r>
            <a:endParaRPr lang="en-US" sz="3600" dirty="0">
              <a:latin typeface="Aptos Black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177272" y="457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02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move to the closest city you have not visited yet.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4937760" cy="1783080"/>
          </a:xfrm>
          <a:prstGeom prst="roundRect">
            <a:avLst>
              <a:gd name="adj" fmla="val 3077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" name="Text 4"/>
          <p:cNvSpPr txBox="1"/>
          <p:nvPr/>
        </p:nvSpPr>
        <p:spPr>
          <a:xfrm>
            <a:off x="1005840" y="2468880"/>
            <a:ext cx="4480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022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current ← start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022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n−1 times: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022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next ← nearest unvisited city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022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current ← next</a:t>
            </a:r>
            <a:endParaRPr lang="en-US" sz="12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10222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close the loop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429768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O(n²), near-linear with a sorted candidate list.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only ever looks at the edges leaving one city.</a:t>
            </a:r>
            <a:endParaRPr lang="en-US" sz="14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starting city and the whole tour changes.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309360" y="1325880"/>
            <a:ext cx="5148072" cy="4892040"/>
          </a:xfrm>
          <a:prstGeom prst="roundRect">
            <a:avLst>
              <a:gd name="adj" fmla="val 1121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9" name="Image 0" descr="/home/claude/img/eil_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63040"/>
            <a:ext cx="3063240" cy="34381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583680" y="502920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eil51, 51 cities: one path growing from one end. The long crossings at the top are the cities it walked past and had to come back for.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Greedy edge (multi-fragment)</a:t>
            </a:r>
            <a:endParaRPr lang="en-US" sz="3600" dirty="0">
              <a:latin typeface="Aptos Black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177272" y="457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5148072" cy="4892040"/>
          </a:xfrm>
          <a:prstGeom prst="roundRect">
            <a:avLst>
              <a:gd name="adj" fmla="val 1121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img/eil_greed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3936" y="1591056"/>
            <a:ext cx="3063240" cy="34381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0342" y="5166360"/>
            <a:ext cx="4513217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51 cities: short edges are taken all over the map at once, and the fragments are only joined at the end.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1325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102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 paths. Sort every edge by length and accept the short ones, wherever on the map they happen to be.</a:t>
            </a:r>
            <a:endParaRPr lang="en-US" sz="2100" dirty="0"/>
          </a:p>
        </p:txBody>
      </p:sp>
      <p:sp>
        <p:nvSpPr>
          <p:cNvPr id="8" name="Shape 5"/>
          <p:cNvSpPr/>
          <p:nvPr/>
        </p:nvSpPr>
        <p:spPr>
          <a:xfrm>
            <a:off x="6312408" y="2674620"/>
            <a:ext cx="5148072" cy="1828800"/>
          </a:xfrm>
          <a:prstGeom prst="roundRect">
            <a:avLst>
              <a:gd name="adj" fmla="val 3000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6586728" y="2788920"/>
            <a:ext cx="46634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378D7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for</a:t>
            </a:r>
            <a:r>
              <a:rPr lang="en-US" sz="120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each edge, shortest first:</a:t>
            </a:r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skip if an endpoint has degree 2</a:t>
            </a:r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skip if both ends share a fragment</a:t>
            </a:r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 </a:t>
            </a:r>
            <a:r>
              <a:rPr lang="en-US" sz="1200" dirty="0">
                <a:solidFill>
                  <a:srgbClr val="378D7F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else</a:t>
            </a:r>
            <a:r>
              <a:rPr lang="en-US" sz="120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 accept it and merge</a:t>
            </a:r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02228"/>
                </a:solidFill>
                <a:latin typeface="Cascadia Code" panose="020B0609020000020004" pitchFamily="49" charset="0"/>
                <a:ea typeface="Cascadia Code" panose="020B0609020000020004" pitchFamily="49" charset="0"/>
                <a:cs typeface="Cascadia Code" panose="020B0609020000020004" pitchFamily="49" charset="0"/>
              </a:rPr>
              <a:t>until n−1 edges; close the loop</a:t>
            </a:r>
            <a:endParaRPr lang="en-US" sz="1200" dirty="0">
              <a:latin typeface="Cascadia Code" panose="020B0609020000020004" pitchFamily="49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sp>
        <p:nvSpPr>
          <p:cNvPr id="10" name="Text 7"/>
          <p:cNvSpPr txBox="1"/>
          <p:nvPr/>
        </p:nvSpPr>
        <p:spPr>
          <a:xfrm>
            <a:off x="6309360" y="4617720"/>
            <a:ext cx="51206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O(n² log n) - the sort dominates.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up to n = 2500; above that only the 10 nearest neighbours of each city compete, which is what makes 85,900 cities possible at all.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365760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Same greed, different menu</a:t>
            </a:r>
            <a:endParaRPr lang="en-US" sz="3600" dirty="0">
              <a:latin typeface="Aptos Black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177272" y="457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5166360" cy="4663440"/>
          </a:xfrm>
          <a:prstGeom prst="roundRect">
            <a:avLst>
              <a:gd name="adj" fmla="val 1176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Text 3"/>
          <p:cNvSpPr txBox="1"/>
          <p:nvPr/>
        </p:nvSpPr>
        <p:spPr>
          <a:xfrm>
            <a:off x="1005840" y="13716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neighbour picks a local minimum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78308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only choose among the edges leaving the city it is standing on. A great edge on the other side of the map has to wait its turn — and may be gone by then.</a:t>
            </a:r>
            <a:endParaRPr lang="en-US" sz="1600" dirty="0"/>
          </a:p>
        </p:txBody>
      </p:sp>
      <p:pic>
        <p:nvPicPr>
          <p:cNvPr id="7" name="Image 0" descr="/home/claude/img/menu_loc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0" y="2880360"/>
            <a:ext cx="2834640" cy="2834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291072" y="1234440"/>
            <a:ext cx="5166360" cy="4663440"/>
          </a:xfrm>
          <a:prstGeom prst="roundRect">
            <a:avLst>
              <a:gd name="adj" fmla="val 1176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6565392" y="1371600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edge picks a global minimum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6565392" y="1874520"/>
            <a:ext cx="4617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edge competes against every other edge. Isolated cities get hooked up early, while they still have good neighbours free, and long edges are left for last by construction.</a:t>
            </a:r>
            <a:endParaRPr lang="en-US" sz="1600" dirty="0"/>
          </a:p>
        </p:txBody>
      </p:sp>
      <p:pic>
        <p:nvPicPr>
          <p:cNvPr id="11" name="Image 1" descr="/home/claude/img/menu_glob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9792" y="2880360"/>
            <a:ext cx="2834640" cy="28346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44" y="6080760"/>
            <a:ext cx="10725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worst case does not separate them.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bounded by about ½ log₂ n (Rosenkrantz, Stearns and Lewis, 1977). The difference is empirical — and greedy pays for it by sorting ~n² edges.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AE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What the numbers say</a:t>
            </a:r>
            <a:endParaRPr lang="en-US" sz="3600" dirty="0">
              <a:latin typeface="Aptos Black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177272" y="457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8A75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95 / 111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3152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instances where greedy edge wins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B8A75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338328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gap to the optimum, greedy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C2562B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26.6%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603504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gap, nearest neighbour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8778240" y="13258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0.940</a:t>
            </a:r>
            <a:endParaRPr lang="en-US" sz="3400" dirty="0">
              <a:latin typeface="Aptos Black" panose="020B0004020202020204" pitchFamily="34" charset="0"/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778240" y="187452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length ratio, greedy / NN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3812" y="2649894"/>
            <a:ext cx="10813620" cy="3862873"/>
          </a:xfrm>
          <a:prstGeom prst="roundRect">
            <a:avLst>
              <a:gd name="adj" fmla="val 1493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0" descr="/home/claude/img/res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898649"/>
            <a:ext cx="10241280" cy="307238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960120" y="5971033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against the 31 comparable optima, length ratio on all 111 instances, and time per method — every axis logarithmic in n.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hape 2">
            <a:extLst>
              <a:ext uri="{FF2B5EF4-FFF2-40B4-BE49-F238E27FC236}">
                <a16:creationId xmlns:a16="http://schemas.microsoft.com/office/drawing/2014/main" id="{4CD49338-12FE-6BDA-D6BD-E87CC7EA5C94}"/>
              </a:ext>
            </a:extLst>
          </p:cNvPr>
          <p:cNvSpPr/>
          <p:nvPr/>
        </p:nvSpPr>
        <p:spPr>
          <a:xfrm>
            <a:off x="6248402" y="1254966"/>
            <a:ext cx="5495731" cy="5157029"/>
          </a:xfrm>
          <a:prstGeom prst="roundRect">
            <a:avLst>
              <a:gd name="adj" fmla="val 1121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6" name="Shape 2">
            <a:extLst>
              <a:ext uri="{FF2B5EF4-FFF2-40B4-BE49-F238E27FC236}">
                <a16:creationId xmlns:a16="http://schemas.microsoft.com/office/drawing/2014/main" id="{570C23A3-64B1-EBA0-3A95-436B1FE34B60}"/>
              </a:ext>
            </a:extLst>
          </p:cNvPr>
          <p:cNvSpPr/>
          <p:nvPr/>
        </p:nvSpPr>
        <p:spPr>
          <a:xfrm>
            <a:off x="447869" y="1254967"/>
            <a:ext cx="5495731" cy="5174758"/>
          </a:xfrm>
          <a:prstGeom prst="roundRect">
            <a:avLst>
              <a:gd name="adj" fmla="val 1121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" name="Text 0"/>
          <p:cNvSpPr txBox="1"/>
          <p:nvPr/>
        </p:nvSpPr>
        <p:spPr>
          <a:xfrm>
            <a:off x="731520" y="411480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Head to head by size</a:t>
            </a:r>
            <a:endParaRPr lang="en-US" sz="3600" dirty="0">
              <a:latin typeface="Aptos Black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177272" y="457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325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gap to the optimum, lower is better · 31 instances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88525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nearest neighbour</a:t>
            </a:r>
            <a:endParaRPr lang="en-US" sz="1200" b="1" dirty="0">
              <a:latin typeface="Aptos Black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06040" y="1912682"/>
            <a:ext cx="2377440" cy="219456"/>
          </a:xfrm>
          <a:prstGeom prst="roundRect">
            <a:avLst>
              <a:gd name="adj" fmla="val 12500"/>
            </a:avLst>
          </a:prstGeom>
          <a:solidFill>
            <a:srgbClr val="C2562B"/>
          </a:solidFill>
          <a:ln w="3175">
            <a:solidFill>
              <a:srgbClr val="C2562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 txBox="1"/>
          <p:nvPr/>
        </p:nvSpPr>
        <p:spPr>
          <a:xfrm>
            <a:off x="5074920" y="187610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25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26.6%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3389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greedy edge</a:t>
            </a:r>
            <a:endParaRPr lang="en-US" sz="1200" b="1" dirty="0">
              <a:latin typeface="Aptos Black" panose="020B0004020202020204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606040" y="2468880"/>
            <a:ext cx="2377440" cy="219456"/>
          </a:xfrm>
          <a:prstGeom prst="roundRect">
            <a:avLst>
              <a:gd name="adj" fmla="val 12500"/>
            </a:avLst>
          </a:prstGeom>
          <a:solidFill>
            <a:srgbClr val="E3E0D8"/>
          </a:solidFill>
          <a:ln w="3175">
            <a:solidFill>
              <a:srgbClr val="E3E0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9"/>
          <p:cNvSpPr/>
          <p:nvPr/>
        </p:nvSpPr>
        <p:spPr>
          <a:xfrm>
            <a:off x="2606040" y="2468880"/>
            <a:ext cx="1664208" cy="219456"/>
          </a:xfrm>
          <a:prstGeom prst="roundRect">
            <a:avLst>
              <a:gd name="adj" fmla="val 12500"/>
            </a:avLst>
          </a:prstGeom>
          <a:solidFill>
            <a:srgbClr val="1B8A75"/>
          </a:solidFill>
          <a:ln w="3175">
            <a:solidFill>
              <a:srgbClr val="1B8A7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10"/>
          <p:cNvSpPr txBox="1"/>
          <p:nvPr/>
        </p:nvSpPr>
        <p:spPr>
          <a:xfrm>
            <a:off x="5074920" y="2424746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8A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18.7%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3096457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seconds to build one tour, lower is better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645097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nearest neighbour</a:t>
            </a:r>
            <a:endParaRPr lang="en-US" sz="1200" b="1" dirty="0">
              <a:latin typeface="Aptos Black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06040" y="3653681"/>
            <a:ext cx="2377440" cy="219456"/>
          </a:xfrm>
          <a:prstGeom prst="roundRect">
            <a:avLst>
              <a:gd name="adj" fmla="val 12500"/>
            </a:avLst>
          </a:prstGeom>
          <a:solidFill>
            <a:srgbClr val="E3E0D8"/>
          </a:solidFill>
          <a:ln w="3175">
            <a:solidFill>
              <a:srgbClr val="E3E0D8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4"/>
          <p:cNvSpPr/>
          <p:nvPr/>
        </p:nvSpPr>
        <p:spPr>
          <a:xfrm>
            <a:off x="2606040" y="3645283"/>
            <a:ext cx="427939" cy="219456"/>
          </a:xfrm>
          <a:prstGeom prst="roundRect">
            <a:avLst>
              <a:gd name="adj" fmla="val 12500"/>
            </a:avLst>
          </a:prstGeom>
          <a:solidFill>
            <a:srgbClr val="9AA8AB"/>
          </a:solidFill>
          <a:ln w="3175">
            <a:solidFill>
              <a:srgbClr val="9AA8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5"/>
          <p:cNvSpPr txBox="1"/>
          <p:nvPr/>
        </p:nvSpPr>
        <p:spPr>
          <a:xfrm>
            <a:off x="5074920" y="3635953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0.050 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193737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greedy edge</a:t>
            </a:r>
            <a:endParaRPr lang="en-US" sz="1200" b="1" dirty="0">
              <a:latin typeface="Aptos Black" panose="020B0004020202020204" pitchFamily="34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606040" y="4202321"/>
            <a:ext cx="2377440" cy="219456"/>
          </a:xfrm>
          <a:prstGeom prst="roundRect">
            <a:avLst>
              <a:gd name="adj" fmla="val 12500"/>
            </a:avLst>
          </a:prstGeom>
          <a:solidFill>
            <a:srgbClr val="9AA8AB"/>
          </a:solidFill>
          <a:ln w="3175">
            <a:solidFill>
              <a:srgbClr val="9AA8A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9"/>
          <p:cNvSpPr txBox="1"/>
          <p:nvPr/>
        </p:nvSpPr>
        <p:spPr>
          <a:xfrm>
            <a:off x="5074920" y="4184593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AA8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0.275 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18923" y="4815529"/>
            <a:ext cx="49536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five times slower on average, and still half a second for the 85,900 cities of pla85900.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brg180 is left out of the gap: six distinct weights and thousands of ties send greedy to 37,830 against an optimum of 1,950.</a:t>
            </a:r>
            <a:endParaRPr lang="en-US" sz="1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6141036"/>
              </p:ext>
            </p:extLst>
          </p:nvPr>
        </p:nvGraphicFramePr>
        <p:xfrm>
          <a:off x="6588051" y="1697237"/>
          <a:ext cx="4816432" cy="2921000"/>
        </p:xfrm>
        <a:graphic>
          <a:graphicData uri="http://schemas.openxmlformats.org/drawingml/2006/table">
            <a:tbl>
              <a:tblPr/>
              <a:tblGrid>
                <a:gridCol w="9239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46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8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11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00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8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wins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ratio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NN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greedy time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101–500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501–1000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0.188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1001–5000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0.006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1.122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5000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0.537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5D727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02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02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02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02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02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1022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0.275 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5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4" name="Text 21"/>
          <p:cNvSpPr txBox="1"/>
          <p:nvPr/>
        </p:nvSpPr>
        <p:spPr>
          <a:xfrm>
            <a:off x="6522098" y="4800600"/>
            <a:ext cx="493533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ratio is greedy length over nearest-neighbour length, so 0.940 means a tour 6% shorter at the median. No size bracket escapes it, and above 500 cities greedy wins every single instance.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411480"/>
            <a:ext cx="981151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228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eil51: where nearest neighbour wins</a:t>
            </a:r>
            <a:endParaRPr lang="en-US" sz="3600" dirty="0">
              <a:latin typeface="Aptos Black" panose="020B0004020202020204" pitchFamily="34" charset="0"/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10177272" y="4572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292860"/>
            <a:ext cx="10725912" cy="4251960"/>
          </a:xfrm>
          <a:prstGeom prst="roundRect">
            <a:avLst>
              <a:gd name="adj" fmla="val 1319"/>
            </a:avLst>
          </a:prstGeom>
          <a:solidFill>
            <a:srgbClr val="FFFEFB"/>
          </a:solidFill>
          <a:ln w="9525">
            <a:solidFill>
              <a:srgbClr val="D9D5CB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/home/claude/img/eil_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30020"/>
            <a:ext cx="10360152" cy="36210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14400" y="5087620"/>
            <a:ext cx="10360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51 cities solved three ways. Both heuristics land well above the optimum of 426.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5689600"/>
            <a:ext cx="107259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5D7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neighbour wins 16 of the 111 instances, and this is one of them: 511 against 531. At 51 cities the three long crossings that close greedy’s fragments cost more than the good edges it collected along the way.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022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822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8ED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554480"/>
            <a:ext cx="9692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7F5EF"/>
                </a:solidFill>
                <a:latin typeface="Aptos Black" panose="020B0004020202020204" pitchFamily="34" charset="0"/>
                <a:ea typeface="Calibri" pitchFamily="34" charset="-122"/>
                <a:cs typeface="Calibri" pitchFamily="34" charset="-120"/>
              </a:rPr>
              <a:t>Choosing the globally shortest edge beats choosing the closest neighbour.</a:t>
            </a:r>
            <a:endParaRPr lang="en-US" sz="3800" dirty="0">
              <a:latin typeface="Aptos Black" panose="020B0004020202020204" pitchFamily="34" charset="0"/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731520" y="3561080"/>
            <a:ext cx="9692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3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4 to 7% on every size range, for roughly five times the time. Still half a second at 85,900 cities.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93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Structural, not a size effect: median ratios stay between 0.93 and 0.96 in all five brackets.</a:t>
            </a:r>
            <a:endParaRPr lang="en-US" dirty="0"/>
          </a:p>
        </p:txBody>
      </p:sp>
      <p:sp>
        <p:nvSpPr>
          <p:cNvPr id="6" name="Text 4"/>
          <p:cNvSpPr txBox="1"/>
          <p:nvPr/>
        </p:nvSpPr>
        <p:spPr>
          <a:xfrm>
            <a:off x="4343400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93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 neighbour pays at the end for every city it abandoned along the way.</a:t>
            </a:r>
            <a:endParaRPr lang="en-US" dirty="0"/>
          </a:p>
        </p:txBody>
      </p:sp>
      <p:sp>
        <p:nvSpPr>
          <p:cNvPr id="7" name="Text 5"/>
          <p:cNvSpPr txBox="1"/>
          <p:nvPr/>
        </p:nvSpPr>
        <p:spPr>
          <a:xfrm>
            <a:off x="7955280" y="475488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dirty="0">
                <a:solidFill>
                  <a:srgbClr val="93A7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18% gap is normal for pure construction. 2-opt or Or-opt is the obvious next step.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1329</Words>
  <Application>Microsoft Office PowerPoint</Application>
  <PresentationFormat>Panorámica</PresentationFormat>
  <Paragraphs>172</Paragraphs>
  <Slides>10</Slides>
  <Notes>10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6" baseType="lpstr">
      <vt:lpstr>Aptos Black</vt:lpstr>
      <vt:lpstr>Arial</vt:lpstr>
      <vt:lpstr>Calibri</vt:lpstr>
      <vt:lpstr>Cascadia Code</vt:lpstr>
      <vt:lpstr>Courier New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Two greedy heuristics for the TSP</dc:title>
  <dc:subject>PptxGenJS Presentation</dc:subject>
  <dc:creator>Javi</dc:creator>
  <cp:lastModifiedBy>Javier Salvatierra</cp:lastModifiedBy>
  <cp:revision>3</cp:revision>
  <dcterms:created xsi:type="dcterms:W3CDTF">2026-09-20T17:16:45Z</dcterms:created>
  <dcterms:modified xsi:type="dcterms:W3CDTF">2026-09-20T19:17:16Z</dcterms:modified>
</cp:coreProperties>
</file>