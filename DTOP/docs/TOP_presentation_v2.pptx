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Average reward</c:v>
                </c:pt>
              </c:strCache>
            </c:strRef>
          </c:tx>
          <c:spPr>
            <a:solidFill>
              <a:srgbClr val="9AA4AA"/>
            </a:solidFill>
            <a:effectLst/>
          </c:spPr>
          <c:invertIfNegative val="0"/>
          <c:dPt>
            <c:idx val="0"/>
            <c:invertIfNegative val="0"/>
            <c:bubble3D val="0"/>
            <c:extLst>
              <c:ext xmlns:c16="http://schemas.microsoft.com/office/drawing/2014/chart" uri="{C3380CC4-5D6E-409C-BE32-E72D297353CC}">
                <c16:uniqueId val="{00000001-AA1F-4985-8551-586AB2E07414}"/>
              </c:ext>
            </c:extLst>
          </c:dPt>
          <c:dPt>
            <c:idx val="1"/>
            <c:invertIfNegative val="0"/>
            <c:bubble3D val="0"/>
            <c:spPr>
              <a:solidFill>
                <a:srgbClr val="2A9D8F"/>
              </a:solidFill>
              <a:effectLst/>
            </c:spPr>
            <c:extLst>
              <c:ext xmlns:c16="http://schemas.microsoft.com/office/drawing/2014/chart" uri="{C3380CC4-5D6E-409C-BE32-E72D297353CC}">
                <c16:uniqueId val="{00000003-AA1F-4985-8551-586AB2E07414}"/>
              </c:ext>
            </c:extLst>
          </c:dPt>
          <c:dPt>
            <c:idx val="2"/>
            <c:invertIfNegative val="0"/>
            <c:bubble3D val="0"/>
            <c:spPr>
              <a:solidFill>
                <a:srgbClr val="2A9D8F"/>
              </a:solidFill>
              <a:effectLst/>
            </c:spPr>
            <c:extLst>
              <c:ext xmlns:c16="http://schemas.microsoft.com/office/drawing/2014/chart" uri="{C3380CC4-5D6E-409C-BE32-E72D297353CC}">
                <c16:uniqueId val="{00000005-AA1F-4985-8551-586AB2E07414}"/>
              </c:ext>
            </c:extLst>
          </c:dPt>
          <c:dPt>
            <c:idx val="3"/>
            <c:invertIfNegative val="0"/>
            <c:bubble3D val="0"/>
            <c:spPr>
              <a:solidFill>
                <a:srgbClr val="2A9D8F"/>
              </a:solidFill>
              <a:effectLst/>
            </c:spPr>
            <c:extLst>
              <c:ext xmlns:c16="http://schemas.microsoft.com/office/drawing/2014/chart" uri="{C3380CC4-5D6E-409C-BE32-E72D297353CC}">
                <c16:uniqueId val="{00000007-AA1F-4985-8551-586AB2E07414}"/>
              </c:ext>
            </c:extLst>
          </c:dPt>
          <c:dPt>
            <c:idx val="4"/>
            <c:invertIfNegative val="0"/>
            <c:bubble3D val="0"/>
            <c:spPr>
              <a:solidFill>
                <a:srgbClr val="2A9D8F"/>
              </a:solidFill>
              <a:effectLst/>
            </c:spPr>
            <c:extLst>
              <c:ext xmlns:c16="http://schemas.microsoft.com/office/drawing/2014/chart" uri="{C3380CC4-5D6E-409C-BE32-E72D297353CC}">
                <c16:uniqueId val="{00000009-AA1F-4985-8551-586AB2E07414}"/>
              </c:ext>
            </c:extLst>
          </c:dPt>
          <c:dLbls>
            <c:numFmt formatCode="0.00" sourceLinked="0"/>
            <c:spPr>
              <a:noFill/>
              <a:ln>
                <a:noFill/>
              </a:ln>
              <a:effectLst/>
            </c:spPr>
            <c:txPr>
              <a:bodyPr/>
              <a:lstStyle/>
              <a:p>
                <a:pPr>
                  <a:defRPr sz="1500" b="1" i="0" u="none" strike="noStrike">
                    <a:solidFill>
                      <a:srgbClr val="12212B"/>
                    </a:solidFill>
                    <a:latin typeface="Calibri"/>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VNS</c:v>
                </c:pt>
                <c:pt idx="1">
                  <c:v>M</c:v>
                </c:pt>
                <c:pt idx="2">
                  <c:v>M+</c:v>
                </c:pt>
                <c:pt idx="3">
                  <c:v>MO</c:v>
                </c:pt>
                <c:pt idx="4">
                  <c:v>MO+</c:v>
                </c:pt>
              </c:strCache>
            </c:strRef>
          </c:cat>
          <c:val>
            <c:numRef>
              <c:f>Sheet1!$B$2:$B$6</c:f>
              <c:numCache>
                <c:formatCode>General</c:formatCode>
                <c:ptCount val="5"/>
                <c:pt idx="0">
                  <c:v>11.4</c:v>
                </c:pt>
                <c:pt idx="1">
                  <c:v>11.41</c:v>
                </c:pt>
                <c:pt idx="2">
                  <c:v>11.76</c:v>
                </c:pt>
                <c:pt idx="3">
                  <c:v>11.78</c:v>
                </c:pt>
                <c:pt idx="4">
                  <c:v>11.84</c:v>
                </c:pt>
              </c:numCache>
            </c:numRef>
          </c:val>
          <c:extLst>
            <c:ext xmlns:c16="http://schemas.microsoft.com/office/drawing/2014/chart" uri="{C3380CC4-5D6E-409C-BE32-E72D297353CC}">
              <c16:uniqueId val="{0000000A-AA1F-4985-8551-586AB2E07414}"/>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1" i="0" u="none" strike="noStrike">
                <a:solidFill>
                  <a:srgbClr val="12212B"/>
                </a:solidFill>
                <a:latin typeface="Calibri"/>
              </a:defRPr>
            </a:pPr>
            <a:endParaRPr lang="en-US"/>
          </a:p>
        </c:txPr>
        <c:crossAx val="2094734552"/>
        <c:crosses val="autoZero"/>
        <c:auto val="1"/>
        <c:lblAlgn val="ctr"/>
        <c:lblOffset val="100"/>
        <c:noMultiLvlLbl val="1"/>
      </c:catAx>
      <c:valAx>
        <c:axId val="2094734552"/>
        <c:scaling>
          <c:orientation val="minMax"/>
          <c:max val="12.3"/>
          <c:min val="1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Average reward</c:v>
                </c:pt>
              </c:strCache>
            </c:strRef>
          </c:tx>
          <c:spPr>
            <a:solidFill>
              <a:srgbClr val="E07040"/>
            </a:solidFill>
            <a:effectLst/>
          </c:spPr>
          <c:invertIfNegative val="0"/>
          <c:dPt>
            <c:idx val="0"/>
            <c:invertIfNegative val="0"/>
            <c:bubble3D val="0"/>
            <c:extLst>
              <c:ext xmlns:c16="http://schemas.microsoft.com/office/drawing/2014/chart" uri="{C3380CC4-5D6E-409C-BE32-E72D297353CC}">
                <c16:uniqueId val="{00000001-1280-4D98-9EB8-580CA7708F68}"/>
              </c:ext>
            </c:extLst>
          </c:dPt>
          <c:dPt>
            <c:idx val="1"/>
            <c:invertIfNegative val="0"/>
            <c:bubble3D val="0"/>
            <c:spPr>
              <a:solidFill>
                <a:srgbClr val="2A9D8F"/>
              </a:solidFill>
              <a:effectLst/>
            </c:spPr>
            <c:extLst>
              <c:ext xmlns:c16="http://schemas.microsoft.com/office/drawing/2014/chart" uri="{C3380CC4-5D6E-409C-BE32-E72D297353CC}">
                <c16:uniqueId val="{00000003-1280-4D98-9EB8-580CA7708F68}"/>
              </c:ext>
            </c:extLst>
          </c:dPt>
          <c:dLbls>
            <c:numFmt formatCode="0.00" sourceLinked="0"/>
            <c:spPr>
              <a:noFill/>
              <a:ln>
                <a:noFill/>
              </a:ln>
              <a:effectLst/>
            </c:spPr>
            <c:txPr>
              <a:bodyPr/>
              <a:lstStyle/>
              <a:p>
                <a:pPr>
                  <a:defRPr sz="1600" b="1" i="0" u="none" strike="noStrike">
                    <a:solidFill>
                      <a:srgbClr val="12212B"/>
                    </a:solidFill>
                    <a:latin typeface="Calibri"/>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Ignores delays (M)</c:v>
                </c:pt>
                <c:pt idx="1">
                  <c:v>Predicts delays (MDO+)</c:v>
                </c:pt>
              </c:strCache>
            </c:strRef>
          </c:cat>
          <c:val>
            <c:numRef>
              <c:f>Sheet1!$B$2:$B$3</c:f>
              <c:numCache>
                <c:formatCode>General</c:formatCode>
                <c:ptCount val="2"/>
                <c:pt idx="0">
                  <c:v>2.54</c:v>
                </c:pt>
                <c:pt idx="1">
                  <c:v>11.26</c:v>
                </c:pt>
              </c:numCache>
            </c:numRef>
          </c:val>
          <c:extLst>
            <c:ext xmlns:c16="http://schemas.microsoft.com/office/drawing/2014/chart" uri="{C3380CC4-5D6E-409C-BE32-E72D297353CC}">
              <c16:uniqueId val="{00000004-1280-4D98-9EB8-580CA7708F68}"/>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2212B"/>
                </a:solidFill>
                <a:latin typeface="Calibri"/>
              </a:defRPr>
            </a:pPr>
            <a:endParaRPr lang="en-US"/>
          </a:p>
        </c:txPr>
        <c:crossAx val="2094734552"/>
        <c:crosses val="autoZero"/>
        <c:auto val="1"/>
        <c:lblAlgn val="ctr"/>
        <c:lblOffset val="100"/>
        <c:noMultiLvlLbl val="1"/>
      </c:catAx>
      <c:valAx>
        <c:axId val="2094734552"/>
        <c:scaling>
          <c:orientation val="minMax"/>
          <c:max val="14"/>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108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Guerrero et al., Mathematics 2025, 13, 2313. One-line pitch: a transformer trained with reinforcement learning builds routes for the team orienteering problem, and it keeps them feasible when travel times change. Fill in the name, course and date placeholders.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stop gives a reward and the vehicles have a time budget, so we cannot visit everything: the goal is to maximise reward, not coverage. The paper motivates it with electric vehicles in last-mile delivery, where battery range limits the route. The problem is NP-hard.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case study, the true travel time is the distance inflated by up to 12.5%, depending on traffic and weather (both between 0 and 1). If a route uses its whole budget on paper, any delay makes it infeasible, and an infeasible route scores zero.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VNS searches from scratch for every new instance: it built, destroys and rebuilds routes, and on average it found its best solution after 4.55 s (limit 20 s). The RL model pays its cost once, offline: about 40 hours of training for each dynamic model. Then one plan takes 0.34 s for the best deterministic variant and 0.54 s for the best dynamic 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to the first version: the initial embeddings are computed once, but the model recomputes a contextual embedding at every step with masked multi-head attention (visited stops and finished vehicles are masked). It then adds the current node, the remaining travel budget, the dynamic conditions and its own previous step, and finally applies a feasibility mask before choosing the next stop.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stop is only offered if going there plus getting home fits in the remaining budget. The way there uses the learned cost predictor; the way home cannot be known, so the deterministic distance is multiplied by a learned worst-case factor. Training uses REINFORCE with a baseline (built from augmented instances) plus an MSE term for the predictor, weighted by lambda.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the deterministic problem (Table 1 and Section 6.1). The paper names the variants M+/MO+ in the text and MA/MR/MRA in the tables; here M+ = reflections, MO = rotations, MO+ = both. The 13x comes from MO+ (0.34 s) against the VNS mean time to its best solution (4.55 s). The base model M already ties VNS at 0.0014 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abstract's main claim is generalisation: a single model trained on 18 to 36 stops and 2 to 4 vehicles is evaluated up to 45 stops with no retraining, and quality does not fall off sharply. Per fleet size, the RL advantage over VNS grows with vehicles (0.18, 0.47, 0.69). VNS improves as the number of stops grows and is best at 45 stops with 2 vehicles. The authors read this as RL scaling better with fleet size and VNS being stronger in dense contexts.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dynamic scenario the deterministic model M has the same architecture but no prediction module, and its average reward is 2.54 because many routes exceed the vehicle limit and score zero (the more vehicles, the worse: 3.45, 2.32, 1.86). The dynamic models never broke the limit and reach 11.26 with reflections and rotations, close to the deterministic case. Figure 5: the same model and instance give 10.10 without delays and 0.00 with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is our interpretation, not a quote from the paper: the dynamic model's gain over the deterministic one (11.26 vs 2.54) is far larger than the gains from better solution methods. Limits: same distribution for training and testing, about 40 h of training, and no re-optimisation during execution. Future work in the paper: stochastic travel times and hybridisation with metaheuristics.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constraints (1)-(11) of Section 3, grouped. Objective (1); depot constraints (2)-(5); at-most-once visits (6); flow conservation (7); MTZ subtour elimination (8),(10); time budget (9); binary variables (11).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instance generation from Section 4. Note the paper says 54,000 instances were generated in Section 4, while the abstract and the results refer to 27,000 instances; the deck uses 27,000.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Sections 5.1 to 5.3. Reflections and rotations preserve distances in the unit square, so every version is a valid instance of the same problem.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2B"/>
        </a:solidFill>
        <a:effectLst/>
      </p:bgPr>
    </p:bg>
    <p:spTree>
      <p:nvGrpSpPr>
        <p:cNvPr id="1" name=""/>
        <p:cNvGrpSpPr/>
        <p:nvPr/>
      </p:nvGrpSpPr>
      <p:grpSpPr>
        <a:xfrm>
          <a:off x="0" y="0"/>
          <a:ext cx="0" cy="0"/>
          <a:chOff x="0" y="0"/>
          <a:chExt cx="0" cy="0"/>
        </a:xfrm>
      </p:grpSpPr>
      <p:sp>
        <p:nvSpPr>
          <p:cNvPr id="2" name="Text 0"/>
          <p:cNvSpPr txBox="1"/>
          <p:nvPr/>
        </p:nvSpPr>
        <p:spPr>
          <a:xfrm>
            <a:off x="822960" y="868680"/>
            <a:ext cx="9144000" cy="274320"/>
          </a:xfrm>
          <a:prstGeom prst="rect">
            <a:avLst/>
          </a:prstGeom>
          <a:noFill/>
          <a:ln/>
        </p:spPr>
        <p:txBody>
          <a:bodyPr wrap="square" lIns="0" tIns="0" rIns="0" bIns="0" rtlCol="0" anchor="t"/>
          <a:lstStyle/>
          <a:p>
            <a:pPr marL="0" indent="0">
              <a:buNone/>
            </a:pPr>
            <a:r>
              <a:rPr lang="en-US" sz="1400" b="1" kern="0" spc="200" dirty="0">
                <a:solidFill>
                  <a:srgbClr val="2A9D8F"/>
                </a:solidFill>
                <a:latin typeface="Calibri" pitchFamily="34" charset="0"/>
                <a:ea typeface="Calibri" pitchFamily="34" charset="-122"/>
                <a:cs typeface="Calibri" pitchFamily="34" charset="-120"/>
              </a:rPr>
              <a:t>PAPER PRESENTATION · MATHEMATICS 2025, 13, 2313</a:t>
            </a:r>
            <a:endParaRPr lang="en-US" sz="1400" dirty="0"/>
          </a:p>
        </p:txBody>
      </p:sp>
      <p:sp>
        <p:nvSpPr>
          <p:cNvPr id="3" name="Text 1"/>
          <p:cNvSpPr txBox="1"/>
          <p:nvPr/>
        </p:nvSpPr>
        <p:spPr>
          <a:xfrm>
            <a:off x="822960" y="2468880"/>
            <a:ext cx="10543032" cy="2651760"/>
          </a:xfrm>
          <a:prstGeom prst="rect">
            <a:avLst/>
          </a:prstGeom>
          <a:noFill/>
          <a:ln/>
        </p:spPr>
        <p:txBody>
          <a:bodyPr wrap="square" lIns="0" tIns="0" rIns="0" bIns="0" rtlCol="0" anchor="b"/>
          <a:lstStyle/>
          <a:p>
            <a:pPr marL="0" indent="0">
              <a:buNone/>
            </a:pPr>
            <a:r>
              <a:rPr lang="en-US" sz="3800" b="1" dirty="0">
                <a:solidFill>
                  <a:srgbClr val="F7F5EF"/>
                </a:solidFill>
                <a:latin typeface="Arial" pitchFamily="34" charset="0"/>
                <a:ea typeface="Arial" pitchFamily="34" charset="-122"/>
                <a:cs typeface="Arial" pitchFamily="34" charset="-120"/>
              </a:rPr>
              <a:t>Transformers and reinforcement learning</a:t>
            </a:r>
            <a:endParaRPr lang="en-US" sz="3800" dirty="0"/>
          </a:p>
          <a:p>
            <a:pPr marL="0" indent="0">
              <a:buNone/>
            </a:pPr>
            <a:r>
              <a:rPr lang="en-US" sz="3800" b="1" dirty="0">
                <a:solidFill>
                  <a:srgbClr val="F7F5EF"/>
                </a:solidFill>
                <a:latin typeface="Arial" pitchFamily="34" charset="0"/>
                <a:ea typeface="Arial" pitchFamily="34" charset="-122"/>
                <a:cs typeface="Arial" pitchFamily="34" charset="-120"/>
              </a:rPr>
              <a:t>for the team orienteering problem under</a:t>
            </a:r>
            <a:endParaRPr lang="en-US" sz="3800" dirty="0"/>
          </a:p>
          <a:p>
            <a:pPr marL="0" indent="0">
              <a:buNone/>
            </a:pPr>
            <a:r>
              <a:rPr lang="en-US" sz="3800" b="1" dirty="0">
                <a:solidFill>
                  <a:srgbClr val="F7F5EF"/>
                </a:solidFill>
                <a:latin typeface="Arial" pitchFamily="34" charset="0"/>
                <a:ea typeface="Arial" pitchFamily="34" charset="-122"/>
                <a:cs typeface="Arial" pitchFamily="34" charset="-120"/>
              </a:rPr>
              <a:t>dynamic conditions</a:t>
            </a:r>
            <a:endParaRPr lang="en-US" sz="3800" dirty="0"/>
          </a:p>
        </p:txBody>
      </p:sp>
      <p:sp>
        <p:nvSpPr>
          <p:cNvPr id="4" name="Text 2"/>
          <p:cNvSpPr txBox="1"/>
          <p:nvPr/>
        </p:nvSpPr>
        <p:spPr>
          <a:xfrm>
            <a:off x="822960" y="5303520"/>
            <a:ext cx="10543032" cy="365760"/>
          </a:xfrm>
          <a:prstGeom prst="rect">
            <a:avLst/>
          </a:prstGeom>
          <a:noFill/>
          <a:ln/>
        </p:spPr>
        <p:txBody>
          <a:bodyPr wrap="square" lIns="0" tIns="0" rIns="0" bIns="0" rtlCol="0" anchor="ctr"/>
          <a:lstStyle/>
          <a:p>
            <a:pPr marL="0" indent="0">
              <a:buNone/>
            </a:pPr>
            <a:r>
              <a:rPr lang="en-US" sz="1800" dirty="0">
                <a:solidFill>
                  <a:srgbClr val="C9D6DA"/>
                </a:solidFill>
                <a:latin typeface="Calibri" pitchFamily="34" charset="0"/>
                <a:ea typeface="Calibri" pitchFamily="34" charset="-122"/>
                <a:cs typeface="Calibri" pitchFamily="34" charset="-120"/>
              </a:rPr>
              <a:t>Guerrero, Escoto, Ammouriova, Men and Juan — Universitat Politècnica de València</a:t>
            </a:r>
            <a:endParaRPr lang="en-US" sz="1800" dirty="0"/>
          </a:p>
        </p:txBody>
      </p:sp>
      <p:sp>
        <p:nvSpPr>
          <p:cNvPr id="5" name="Text 3"/>
          <p:cNvSpPr txBox="1"/>
          <p:nvPr/>
        </p:nvSpPr>
        <p:spPr>
          <a:xfrm>
            <a:off x="822960" y="6035040"/>
            <a:ext cx="10543032" cy="274320"/>
          </a:xfrm>
          <a:prstGeom prst="rect">
            <a:avLst/>
          </a:prstGeom>
          <a:noFill/>
          <a:ln/>
        </p:spPr>
        <p:txBody>
          <a:bodyPr wrap="square" lIns="0" tIns="0" rIns="0" bIns="0" rtlCol="0" anchor="ctr"/>
          <a:lstStyle/>
          <a:p>
            <a:pPr marL="0" indent="0">
              <a:buNone/>
            </a:pPr>
            <a:r>
              <a:rPr lang="en-US" sz="1300" dirty="0">
                <a:solidFill>
                  <a:srgbClr val="8FA0A8"/>
                </a:solidFill>
                <a:latin typeface="Calibri" pitchFamily="34" charset="0"/>
                <a:ea typeface="Calibri" pitchFamily="34" charset="-122"/>
                <a:cs typeface="Calibri" pitchFamily="34" charset="-120"/>
              </a:rPr>
              <a:t>Jesús Inurria Porrero · Javier Salvatierra Corchado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The team orienteering problem</a:t>
            </a:r>
            <a:endParaRPr lang="en-US" sz="3200" dirty="0"/>
          </a:p>
        </p:txBody>
      </p:sp>
      <p:sp>
        <p:nvSpPr>
          <p:cNvPr id="3" name="Text 1"/>
          <p:cNvSpPr txBox="1"/>
          <p:nvPr/>
        </p:nvSpPr>
        <p:spPr>
          <a:xfrm>
            <a:off x="822960" y="1783080"/>
            <a:ext cx="4297680" cy="914400"/>
          </a:xfrm>
          <a:prstGeom prst="rect">
            <a:avLst/>
          </a:prstGeom>
          <a:noFill/>
          <a:ln/>
        </p:spPr>
        <p:txBody>
          <a:bodyPr wrap="square" lIns="0" tIns="0" rIns="0" bIns="0" rtlCol="0" anchor="ctr"/>
          <a:lstStyle/>
          <a:p>
            <a:pPr marL="0" indent="0">
              <a:buNone/>
            </a:pPr>
            <a:r>
              <a:rPr lang="en-US" sz="1800" dirty="0">
                <a:solidFill>
                  <a:srgbClr val="4A5568"/>
                </a:solidFill>
                <a:latin typeface="Calibri" pitchFamily="34" charset="0"/>
                <a:ea typeface="Calibri" pitchFamily="34" charset="-122"/>
                <a:cs typeface="Calibri" pitchFamily="34" charset="-120"/>
              </a:rPr>
              <a:t>Every stop carries a reward.</a:t>
            </a:r>
            <a:endParaRPr lang="en-US" sz="1800" dirty="0"/>
          </a:p>
        </p:txBody>
      </p:sp>
      <p:sp>
        <p:nvSpPr>
          <p:cNvPr id="4" name="Shape 2"/>
          <p:cNvSpPr/>
          <p:nvPr/>
        </p:nvSpPr>
        <p:spPr>
          <a:xfrm>
            <a:off x="822960" y="2697480"/>
            <a:ext cx="4297680" cy="0"/>
          </a:xfrm>
          <a:prstGeom prst="line">
            <a:avLst/>
          </a:prstGeom>
          <a:noFill/>
          <a:ln w="12700">
            <a:solidFill>
              <a:srgbClr val="D9D6CC"/>
            </a:solidFill>
            <a:prstDash val="solid"/>
          </a:ln>
        </p:spPr>
        <p:txBody>
          <a:bodyPr/>
          <a:lstStyle/>
          <a:p>
            <a:endParaRPr lang="es-ES"/>
          </a:p>
        </p:txBody>
      </p:sp>
      <p:sp>
        <p:nvSpPr>
          <p:cNvPr id="5" name="Text 3"/>
          <p:cNvSpPr txBox="1"/>
          <p:nvPr/>
        </p:nvSpPr>
        <p:spPr>
          <a:xfrm>
            <a:off x="822960" y="2697480"/>
            <a:ext cx="4297680" cy="914400"/>
          </a:xfrm>
          <a:prstGeom prst="rect">
            <a:avLst/>
          </a:prstGeom>
          <a:noFill/>
          <a:ln/>
        </p:spPr>
        <p:txBody>
          <a:bodyPr wrap="square" lIns="0" tIns="0" rIns="0" bIns="0" rtlCol="0" anchor="ctr"/>
          <a:lstStyle/>
          <a:p>
            <a:pPr marL="0" indent="0">
              <a:buNone/>
            </a:pPr>
            <a:r>
              <a:rPr lang="en-US" sz="1800" dirty="0">
                <a:solidFill>
                  <a:srgbClr val="4A5568"/>
                </a:solidFill>
                <a:latin typeface="Calibri" pitchFamily="34" charset="0"/>
                <a:ea typeface="Calibri" pitchFamily="34" charset="-122"/>
                <a:cs typeface="Calibri" pitchFamily="34" charset="-120"/>
              </a:rPr>
              <a:t>All vehicles leave from one depot and must reach the end depot.</a:t>
            </a:r>
            <a:endParaRPr lang="en-US" sz="1800" dirty="0"/>
          </a:p>
        </p:txBody>
      </p:sp>
      <p:sp>
        <p:nvSpPr>
          <p:cNvPr id="6" name="Shape 4"/>
          <p:cNvSpPr/>
          <p:nvPr/>
        </p:nvSpPr>
        <p:spPr>
          <a:xfrm>
            <a:off x="822960" y="3611880"/>
            <a:ext cx="4297680" cy="0"/>
          </a:xfrm>
          <a:prstGeom prst="line">
            <a:avLst/>
          </a:prstGeom>
          <a:noFill/>
          <a:ln w="12700">
            <a:solidFill>
              <a:srgbClr val="D9D6CC"/>
            </a:solidFill>
            <a:prstDash val="solid"/>
          </a:ln>
        </p:spPr>
        <p:txBody>
          <a:bodyPr/>
          <a:lstStyle/>
          <a:p>
            <a:endParaRPr lang="es-ES"/>
          </a:p>
        </p:txBody>
      </p:sp>
      <p:sp>
        <p:nvSpPr>
          <p:cNvPr id="7" name="Text 5"/>
          <p:cNvSpPr txBox="1"/>
          <p:nvPr/>
        </p:nvSpPr>
        <p:spPr>
          <a:xfrm>
            <a:off x="822960" y="3611880"/>
            <a:ext cx="4297680" cy="914400"/>
          </a:xfrm>
          <a:prstGeom prst="rect">
            <a:avLst/>
          </a:prstGeom>
          <a:noFill/>
          <a:ln/>
        </p:spPr>
        <p:txBody>
          <a:bodyPr wrap="square" lIns="0" tIns="0" rIns="0" bIns="0" rtlCol="0" anchor="ctr"/>
          <a:lstStyle/>
          <a:p>
            <a:pPr marL="0" indent="0">
              <a:buNone/>
            </a:pPr>
            <a:r>
              <a:rPr lang="en-US" sz="1800" dirty="0">
                <a:solidFill>
                  <a:srgbClr val="4A5568"/>
                </a:solidFill>
                <a:latin typeface="Calibri" pitchFamily="34" charset="0"/>
                <a:ea typeface="Calibri" pitchFamily="34" charset="-122"/>
                <a:cs typeface="Calibri" pitchFamily="34" charset="-120"/>
              </a:rPr>
              <a:t>Each vehicle has a time budget, so some stops stay unvisited.</a:t>
            </a:r>
            <a:endParaRPr lang="en-US" sz="1800" dirty="0"/>
          </a:p>
        </p:txBody>
      </p:sp>
      <p:sp>
        <p:nvSpPr>
          <p:cNvPr id="8" name="Shape 6"/>
          <p:cNvSpPr/>
          <p:nvPr/>
        </p:nvSpPr>
        <p:spPr>
          <a:xfrm>
            <a:off x="822960" y="4526280"/>
            <a:ext cx="4297680" cy="0"/>
          </a:xfrm>
          <a:prstGeom prst="line">
            <a:avLst/>
          </a:prstGeom>
          <a:noFill/>
          <a:ln w="12700">
            <a:solidFill>
              <a:srgbClr val="D9D6CC"/>
            </a:solidFill>
            <a:prstDash val="solid"/>
          </a:ln>
        </p:spPr>
        <p:txBody>
          <a:bodyPr/>
          <a:lstStyle/>
          <a:p>
            <a:endParaRPr lang="es-ES"/>
          </a:p>
        </p:txBody>
      </p:sp>
      <p:sp>
        <p:nvSpPr>
          <p:cNvPr id="9" name="Text 7"/>
          <p:cNvSpPr txBox="1"/>
          <p:nvPr/>
        </p:nvSpPr>
        <p:spPr>
          <a:xfrm>
            <a:off x="822960" y="4526280"/>
            <a:ext cx="4297680" cy="914400"/>
          </a:xfrm>
          <a:prstGeom prst="rect">
            <a:avLst/>
          </a:prstGeom>
          <a:noFill/>
          <a:ln/>
        </p:spPr>
        <p:txBody>
          <a:bodyPr wrap="square" lIns="0" tIns="0" rIns="0" bIns="0" rtlCol="0" anchor="ctr"/>
          <a:lstStyle/>
          <a:p>
            <a:pPr marL="0" indent="0">
              <a:buNone/>
            </a:pPr>
            <a:r>
              <a:rPr lang="en-US" sz="2200" b="1" dirty="0">
                <a:solidFill>
                  <a:srgbClr val="1F7A6D"/>
                </a:solidFill>
                <a:latin typeface="Calibri" pitchFamily="34" charset="0"/>
                <a:ea typeface="Calibri" pitchFamily="34" charset="-122"/>
                <a:cs typeface="Calibri" pitchFamily="34" charset="-120"/>
              </a:rPr>
              <a:t>Maximise reward, not coverage.</a:t>
            </a:r>
            <a:endParaRPr lang="en-US" sz="2200" dirty="0"/>
          </a:p>
        </p:txBody>
      </p:sp>
      <p:sp>
        <p:nvSpPr>
          <p:cNvPr id="10" name="Shape 8"/>
          <p:cNvSpPr/>
          <p:nvPr/>
        </p:nvSpPr>
        <p:spPr>
          <a:xfrm flipV="1">
            <a:off x="5513832" y="2514600"/>
            <a:ext cx="1005840" cy="923544"/>
          </a:xfrm>
          <a:prstGeom prst="line">
            <a:avLst/>
          </a:prstGeom>
          <a:noFill/>
          <a:ln w="31750">
            <a:solidFill>
              <a:srgbClr val="2A9D8F"/>
            </a:solidFill>
            <a:prstDash val="solid"/>
          </a:ln>
        </p:spPr>
        <p:txBody>
          <a:bodyPr/>
          <a:lstStyle/>
          <a:p>
            <a:endParaRPr lang="es-ES"/>
          </a:p>
        </p:txBody>
      </p:sp>
      <p:sp>
        <p:nvSpPr>
          <p:cNvPr id="11" name="Shape 9"/>
          <p:cNvSpPr/>
          <p:nvPr/>
        </p:nvSpPr>
        <p:spPr>
          <a:xfrm flipV="1">
            <a:off x="6519672" y="2167128"/>
            <a:ext cx="1133856" cy="347472"/>
          </a:xfrm>
          <a:prstGeom prst="line">
            <a:avLst/>
          </a:prstGeom>
          <a:noFill/>
          <a:ln w="31750">
            <a:solidFill>
              <a:srgbClr val="2A9D8F"/>
            </a:solidFill>
            <a:prstDash val="solid"/>
          </a:ln>
        </p:spPr>
        <p:txBody>
          <a:bodyPr/>
          <a:lstStyle/>
          <a:p>
            <a:endParaRPr lang="es-ES"/>
          </a:p>
        </p:txBody>
      </p:sp>
      <p:sp>
        <p:nvSpPr>
          <p:cNvPr id="12" name="Shape 10"/>
          <p:cNvSpPr/>
          <p:nvPr/>
        </p:nvSpPr>
        <p:spPr>
          <a:xfrm>
            <a:off x="7653528" y="2167128"/>
            <a:ext cx="1143000" cy="448056"/>
          </a:xfrm>
          <a:prstGeom prst="line">
            <a:avLst/>
          </a:prstGeom>
          <a:noFill/>
          <a:ln w="31750">
            <a:solidFill>
              <a:srgbClr val="2A9D8F"/>
            </a:solidFill>
            <a:prstDash val="solid"/>
          </a:ln>
        </p:spPr>
        <p:txBody>
          <a:bodyPr/>
          <a:lstStyle/>
          <a:p>
            <a:endParaRPr lang="es-ES"/>
          </a:p>
        </p:txBody>
      </p:sp>
      <p:sp>
        <p:nvSpPr>
          <p:cNvPr id="13" name="Shape 11"/>
          <p:cNvSpPr/>
          <p:nvPr/>
        </p:nvSpPr>
        <p:spPr>
          <a:xfrm flipV="1">
            <a:off x="5513832" y="2615184"/>
            <a:ext cx="3282696" cy="822960"/>
          </a:xfrm>
          <a:prstGeom prst="line">
            <a:avLst/>
          </a:prstGeom>
          <a:noFill/>
          <a:ln w="31750">
            <a:solidFill>
              <a:srgbClr val="2A9D8F"/>
            </a:solidFill>
            <a:prstDash val="solid"/>
          </a:ln>
        </p:spPr>
        <p:txBody>
          <a:bodyPr/>
          <a:lstStyle/>
          <a:p>
            <a:endParaRPr lang="es-ES"/>
          </a:p>
        </p:txBody>
      </p:sp>
      <p:sp>
        <p:nvSpPr>
          <p:cNvPr id="14" name="Shape 12"/>
          <p:cNvSpPr/>
          <p:nvPr/>
        </p:nvSpPr>
        <p:spPr>
          <a:xfrm>
            <a:off x="5513832" y="3438144"/>
            <a:ext cx="1097280" cy="859536"/>
          </a:xfrm>
          <a:prstGeom prst="line">
            <a:avLst/>
          </a:prstGeom>
          <a:noFill/>
          <a:ln w="31750">
            <a:solidFill>
              <a:srgbClr val="E07040"/>
            </a:solidFill>
            <a:prstDash val="solid"/>
          </a:ln>
        </p:spPr>
        <p:txBody>
          <a:bodyPr/>
          <a:lstStyle/>
          <a:p>
            <a:endParaRPr lang="es-ES"/>
          </a:p>
        </p:txBody>
      </p:sp>
      <p:sp>
        <p:nvSpPr>
          <p:cNvPr id="15" name="Shape 13"/>
          <p:cNvSpPr/>
          <p:nvPr/>
        </p:nvSpPr>
        <p:spPr>
          <a:xfrm>
            <a:off x="6611112" y="4297680"/>
            <a:ext cx="1298448" cy="438912"/>
          </a:xfrm>
          <a:prstGeom prst="line">
            <a:avLst/>
          </a:prstGeom>
          <a:noFill/>
          <a:ln w="31750">
            <a:solidFill>
              <a:srgbClr val="E07040"/>
            </a:solidFill>
            <a:prstDash val="solid"/>
          </a:ln>
        </p:spPr>
        <p:txBody>
          <a:bodyPr/>
          <a:lstStyle/>
          <a:p>
            <a:endParaRPr lang="es-ES"/>
          </a:p>
        </p:txBody>
      </p:sp>
      <p:sp>
        <p:nvSpPr>
          <p:cNvPr id="16" name="Shape 14"/>
          <p:cNvSpPr/>
          <p:nvPr/>
        </p:nvSpPr>
        <p:spPr>
          <a:xfrm flipV="1">
            <a:off x="7909560" y="4197096"/>
            <a:ext cx="1207008" cy="539496"/>
          </a:xfrm>
          <a:prstGeom prst="line">
            <a:avLst/>
          </a:prstGeom>
          <a:noFill/>
          <a:ln w="31750">
            <a:solidFill>
              <a:srgbClr val="E07040"/>
            </a:solidFill>
            <a:prstDash val="solid"/>
          </a:ln>
        </p:spPr>
        <p:txBody>
          <a:bodyPr/>
          <a:lstStyle/>
          <a:p>
            <a:endParaRPr lang="es-ES"/>
          </a:p>
        </p:txBody>
      </p:sp>
      <p:sp>
        <p:nvSpPr>
          <p:cNvPr id="17" name="Shape 15"/>
          <p:cNvSpPr/>
          <p:nvPr/>
        </p:nvSpPr>
        <p:spPr>
          <a:xfrm>
            <a:off x="5513832" y="3438144"/>
            <a:ext cx="3602736" cy="758952"/>
          </a:xfrm>
          <a:prstGeom prst="line">
            <a:avLst/>
          </a:prstGeom>
          <a:noFill/>
          <a:ln w="31750">
            <a:solidFill>
              <a:srgbClr val="E07040"/>
            </a:solidFill>
            <a:prstDash val="solid"/>
          </a:ln>
        </p:spPr>
        <p:txBody>
          <a:bodyPr/>
          <a:lstStyle/>
          <a:p>
            <a:endParaRPr lang="es-ES"/>
          </a:p>
        </p:txBody>
      </p:sp>
      <p:sp>
        <p:nvSpPr>
          <p:cNvPr id="18" name="Shape 16"/>
          <p:cNvSpPr/>
          <p:nvPr/>
        </p:nvSpPr>
        <p:spPr>
          <a:xfrm>
            <a:off x="10085832" y="2295144"/>
            <a:ext cx="310896" cy="310896"/>
          </a:xfrm>
          <a:prstGeom prst="ellipse">
            <a:avLst/>
          </a:prstGeom>
          <a:solidFill>
            <a:srgbClr val="CBD1D6"/>
          </a:solidFill>
          <a:ln w="12700">
            <a:solidFill>
              <a:srgbClr val="CBD1D6"/>
            </a:solidFill>
            <a:prstDash val="solid"/>
          </a:ln>
        </p:spPr>
        <p:txBody>
          <a:bodyPr/>
          <a:lstStyle/>
          <a:p>
            <a:endParaRPr lang="es-ES"/>
          </a:p>
        </p:txBody>
      </p:sp>
      <p:sp>
        <p:nvSpPr>
          <p:cNvPr id="19" name="Shape 17"/>
          <p:cNvSpPr/>
          <p:nvPr/>
        </p:nvSpPr>
        <p:spPr>
          <a:xfrm>
            <a:off x="6894576" y="3310128"/>
            <a:ext cx="310896" cy="310896"/>
          </a:xfrm>
          <a:prstGeom prst="ellipse">
            <a:avLst/>
          </a:prstGeom>
          <a:solidFill>
            <a:srgbClr val="CBD1D6"/>
          </a:solidFill>
          <a:ln w="12700">
            <a:solidFill>
              <a:srgbClr val="CBD1D6"/>
            </a:solidFill>
            <a:prstDash val="solid"/>
          </a:ln>
        </p:spPr>
        <p:txBody>
          <a:bodyPr/>
          <a:lstStyle/>
          <a:p>
            <a:endParaRPr lang="es-ES"/>
          </a:p>
        </p:txBody>
      </p:sp>
      <p:sp>
        <p:nvSpPr>
          <p:cNvPr id="20" name="Shape 18"/>
          <p:cNvSpPr/>
          <p:nvPr/>
        </p:nvSpPr>
        <p:spPr>
          <a:xfrm>
            <a:off x="8074152" y="3218688"/>
            <a:ext cx="310896" cy="310896"/>
          </a:xfrm>
          <a:prstGeom prst="ellipse">
            <a:avLst/>
          </a:prstGeom>
          <a:solidFill>
            <a:srgbClr val="CBD1D6"/>
          </a:solidFill>
          <a:ln w="12700">
            <a:solidFill>
              <a:srgbClr val="CBD1D6"/>
            </a:solidFill>
            <a:prstDash val="solid"/>
          </a:ln>
        </p:spPr>
        <p:txBody>
          <a:bodyPr/>
          <a:lstStyle/>
          <a:p>
            <a:endParaRPr lang="es-ES"/>
          </a:p>
        </p:txBody>
      </p:sp>
      <p:sp>
        <p:nvSpPr>
          <p:cNvPr id="21" name="Shape 19"/>
          <p:cNvSpPr/>
          <p:nvPr/>
        </p:nvSpPr>
        <p:spPr>
          <a:xfrm>
            <a:off x="10396728" y="3502152"/>
            <a:ext cx="310896" cy="310896"/>
          </a:xfrm>
          <a:prstGeom prst="ellipse">
            <a:avLst/>
          </a:prstGeom>
          <a:solidFill>
            <a:srgbClr val="CBD1D6"/>
          </a:solidFill>
          <a:ln w="12700">
            <a:solidFill>
              <a:srgbClr val="CBD1D6"/>
            </a:solidFill>
            <a:prstDash val="solid"/>
          </a:ln>
        </p:spPr>
        <p:txBody>
          <a:bodyPr/>
          <a:lstStyle/>
          <a:p>
            <a:endParaRPr lang="es-ES"/>
          </a:p>
        </p:txBody>
      </p:sp>
      <p:sp>
        <p:nvSpPr>
          <p:cNvPr id="22" name="Shape 20"/>
          <p:cNvSpPr/>
          <p:nvPr/>
        </p:nvSpPr>
        <p:spPr>
          <a:xfrm>
            <a:off x="9857232" y="4663440"/>
            <a:ext cx="310896" cy="310896"/>
          </a:xfrm>
          <a:prstGeom prst="ellipse">
            <a:avLst/>
          </a:prstGeom>
          <a:solidFill>
            <a:srgbClr val="CBD1D6"/>
          </a:solidFill>
          <a:ln w="12700">
            <a:solidFill>
              <a:srgbClr val="CBD1D6"/>
            </a:solidFill>
            <a:prstDash val="solid"/>
          </a:ln>
        </p:spPr>
        <p:txBody>
          <a:bodyPr/>
          <a:lstStyle/>
          <a:p>
            <a:endParaRPr lang="es-ES"/>
          </a:p>
        </p:txBody>
      </p:sp>
      <p:sp>
        <p:nvSpPr>
          <p:cNvPr id="23" name="Shape 21"/>
          <p:cNvSpPr/>
          <p:nvPr/>
        </p:nvSpPr>
        <p:spPr>
          <a:xfrm>
            <a:off x="6355080" y="2350008"/>
            <a:ext cx="329184" cy="329184"/>
          </a:xfrm>
          <a:prstGeom prst="ellipse">
            <a:avLst/>
          </a:prstGeom>
          <a:solidFill>
            <a:srgbClr val="2A9D8F"/>
          </a:solidFill>
          <a:ln w="12700">
            <a:solidFill>
              <a:srgbClr val="2A9D8F"/>
            </a:solidFill>
            <a:prstDash val="solid"/>
          </a:ln>
        </p:spPr>
        <p:txBody>
          <a:bodyPr/>
          <a:lstStyle/>
          <a:p>
            <a:endParaRPr lang="es-ES"/>
          </a:p>
        </p:txBody>
      </p:sp>
      <p:sp>
        <p:nvSpPr>
          <p:cNvPr id="24" name="Shape 22"/>
          <p:cNvSpPr/>
          <p:nvPr/>
        </p:nvSpPr>
        <p:spPr>
          <a:xfrm>
            <a:off x="7488936" y="2002536"/>
            <a:ext cx="329184" cy="329184"/>
          </a:xfrm>
          <a:prstGeom prst="ellipse">
            <a:avLst/>
          </a:prstGeom>
          <a:solidFill>
            <a:srgbClr val="2A9D8F"/>
          </a:solidFill>
          <a:ln w="12700">
            <a:solidFill>
              <a:srgbClr val="2A9D8F"/>
            </a:solidFill>
            <a:prstDash val="solid"/>
          </a:ln>
        </p:spPr>
        <p:txBody>
          <a:bodyPr/>
          <a:lstStyle/>
          <a:p>
            <a:endParaRPr lang="es-ES"/>
          </a:p>
        </p:txBody>
      </p:sp>
      <p:sp>
        <p:nvSpPr>
          <p:cNvPr id="25" name="Shape 23"/>
          <p:cNvSpPr/>
          <p:nvPr/>
        </p:nvSpPr>
        <p:spPr>
          <a:xfrm>
            <a:off x="8631936" y="2450592"/>
            <a:ext cx="329184" cy="329184"/>
          </a:xfrm>
          <a:prstGeom prst="ellipse">
            <a:avLst/>
          </a:prstGeom>
          <a:solidFill>
            <a:srgbClr val="2A9D8F"/>
          </a:solidFill>
          <a:ln w="12700">
            <a:solidFill>
              <a:srgbClr val="2A9D8F"/>
            </a:solidFill>
            <a:prstDash val="solid"/>
          </a:ln>
        </p:spPr>
        <p:txBody>
          <a:bodyPr/>
          <a:lstStyle/>
          <a:p>
            <a:endParaRPr lang="es-ES"/>
          </a:p>
        </p:txBody>
      </p:sp>
      <p:sp>
        <p:nvSpPr>
          <p:cNvPr id="26" name="Shape 24"/>
          <p:cNvSpPr/>
          <p:nvPr/>
        </p:nvSpPr>
        <p:spPr>
          <a:xfrm>
            <a:off x="6446520" y="4133088"/>
            <a:ext cx="329184" cy="329184"/>
          </a:xfrm>
          <a:prstGeom prst="ellipse">
            <a:avLst/>
          </a:prstGeom>
          <a:solidFill>
            <a:srgbClr val="E07040"/>
          </a:solidFill>
          <a:ln w="12700">
            <a:solidFill>
              <a:srgbClr val="E07040"/>
            </a:solidFill>
            <a:prstDash val="solid"/>
          </a:ln>
        </p:spPr>
        <p:txBody>
          <a:bodyPr/>
          <a:lstStyle/>
          <a:p>
            <a:endParaRPr lang="es-ES"/>
          </a:p>
        </p:txBody>
      </p:sp>
      <p:sp>
        <p:nvSpPr>
          <p:cNvPr id="27" name="Shape 25"/>
          <p:cNvSpPr/>
          <p:nvPr/>
        </p:nvSpPr>
        <p:spPr>
          <a:xfrm>
            <a:off x="7744968" y="4572000"/>
            <a:ext cx="329184" cy="329184"/>
          </a:xfrm>
          <a:prstGeom prst="ellipse">
            <a:avLst/>
          </a:prstGeom>
          <a:solidFill>
            <a:srgbClr val="E07040"/>
          </a:solidFill>
          <a:ln w="12700">
            <a:solidFill>
              <a:srgbClr val="E07040"/>
            </a:solidFill>
            <a:prstDash val="solid"/>
          </a:ln>
        </p:spPr>
        <p:txBody>
          <a:bodyPr/>
          <a:lstStyle/>
          <a:p>
            <a:endParaRPr lang="es-ES"/>
          </a:p>
        </p:txBody>
      </p:sp>
      <p:sp>
        <p:nvSpPr>
          <p:cNvPr id="28" name="Shape 26"/>
          <p:cNvSpPr/>
          <p:nvPr/>
        </p:nvSpPr>
        <p:spPr>
          <a:xfrm>
            <a:off x="8951976" y="4032504"/>
            <a:ext cx="329184" cy="329184"/>
          </a:xfrm>
          <a:prstGeom prst="ellipse">
            <a:avLst/>
          </a:prstGeom>
          <a:solidFill>
            <a:srgbClr val="E07040"/>
          </a:solidFill>
          <a:ln w="12700">
            <a:solidFill>
              <a:srgbClr val="E07040"/>
            </a:solidFill>
            <a:prstDash val="solid"/>
          </a:ln>
        </p:spPr>
        <p:txBody>
          <a:bodyPr/>
          <a:lstStyle/>
          <a:p>
            <a:endParaRPr lang="es-ES"/>
          </a:p>
        </p:txBody>
      </p:sp>
      <p:sp>
        <p:nvSpPr>
          <p:cNvPr id="29" name="Shape 27"/>
          <p:cNvSpPr/>
          <p:nvPr/>
        </p:nvSpPr>
        <p:spPr>
          <a:xfrm>
            <a:off x="5330952" y="3255264"/>
            <a:ext cx="365760" cy="365760"/>
          </a:xfrm>
          <a:prstGeom prst="roundRect">
            <a:avLst>
              <a:gd name="adj" fmla="val 12500"/>
            </a:avLst>
          </a:prstGeom>
          <a:solidFill>
            <a:srgbClr val="12212B"/>
          </a:solidFill>
          <a:ln w="12700">
            <a:solidFill>
              <a:srgbClr val="12212B"/>
            </a:solidFill>
            <a:prstDash val="solid"/>
          </a:ln>
        </p:spPr>
        <p:txBody>
          <a:bodyPr/>
          <a:lstStyle/>
          <a:p>
            <a:endParaRPr lang="es-ES"/>
          </a:p>
        </p:txBody>
      </p:sp>
      <p:sp>
        <p:nvSpPr>
          <p:cNvPr id="30" name="Text 28"/>
          <p:cNvSpPr txBox="1"/>
          <p:nvPr/>
        </p:nvSpPr>
        <p:spPr>
          <a:xfrm>
            <a:off x="4965192" y="3694176"/>
            <a:ext cx="1097280" cy="274320"/>
          </a:xfrm>
          <a:prstGeom prst="rect">
            <a:avLst/>
          </a:prstGeom>
          <a:noFill/>
          <a:ln/>
        </p:spPr>
        <p:txBody>
          <a:bodyPr wrap="square" lIns="0" tIns="0" rIns="0" bIns="0" rtlCol="0" anchor="ctr"/>
          <a:lstStyle/>
          <a:p>
            <a:pPr marL="0" indent="0" algn="ctr">
              <a:buNone/>
            </a:pPr>
            <a:r>
              <a:rPr lang="en-US" sz="1300" b="1" dirty="0">
                <a:solidFill>
                  <a:srgbClr val="12212B"/>
                </a:solidFill>
                <a:latin typeface="Calibri" pitchFamily="34" charset="0"/>
                <a:ea typeface="Calibri" pitchFamily="34" charset="-122"/>
                <a:cs typeface="Calibri" pitchFamily="34" charset="-120"/>
              </a:rPr>
              <a:t>Depot</a:t>
            </a:r>
            <a:endParaRPr lang="en-US" sz="1300" dirty="0"/>
          </a:p>
        </p:txBody>
      </p:sp>
      <p:sp>
        <p:nvSpPr>
          <p:cNvPr id="31" name="Text 29"/>
          <p:cNvSpPr txBox="1"/>
          <p:nvPr/>
        </p:nvSpPr>
        <p:spPr>
          <a:xfrm>
            <a:off x="6858000" y="1572768"/>
            <a:ext cx="1554480" cy="274320"/>
          </a:xfrm>
          <a:prstGeom prst="rect">
            <a:avLst/>
          </a:prstGeom>
          <a:noFill/>
          <a:ln/>
        </p:spPr>
        <p:txBody>
          <a:bodyPr wrap="square" lIns="0" tIns="0" rIns="0" bIns="0" rtlCol="0" anchor="ctr"/>
          <a:lstStyle/>
          <a:p>
            <a:pPr marL="0" indent="0" algn="ctr">
              <a:buNone/>
            </a:pPr>
            <a:r>
              <a:rPr lang="en-US" sz="1400" b="1" dirty="0">
                <a:solidFill>
                  <a:srgbClr val="1F7A6D"/>
                </a:solidFill>
                <a:latin typeface="Calibri" pitchFamily="34" charset="0"/>
                <a:ea typeface="Calibri" pitchFamily="34" charset="-122"/>
                <a:cs typeface="Calibri" pitchFamily="34" charset="-120"/>
              </a:rPr>
              <a:t>Vehicle 1</a:t>
            </a:r>
            <a:endParaRPr lang="en-US" sz="1400" dirty="0"/>
          </a:p>
        </p:txBody>
      </p:sp>
      <p:sp>
        <p:nvSpPr>
          <p:cNvPr id="32" name="Text 30"/>
          <p:cNvSpPr txBox="1"/>
          <p:nvPr/>
        </p:nvSpPr>
        <p:spPr>
          <a:xfrm>
            <a:off x="7132320" y="4937760"/>
            <a:ext cx="1554480" cy="274320"/>
          </a:xfrm>
          <a:prstGeom prst="rect">
            <a:avLst/>
          </a:prstGeom>
          <a:noFill/>
          <a:ln/>
        </p:spPr>
        <p:txBody>
          <a:bodyPr wrap="square" lIns="0" tIns="0" rIns="0" bIns="0" rtlCol="0" anchor="ctr"/>
          <a:lstStyle/>
          <a:p>
            <a:pPr marL="0" indent="0" algn="ctr">
              <a:buNone/>
            </a:pPr>
            <a:r>
              <a:rPr lang="en-US" sz="1400" b="1" dirty="0">
                <a:solidFill>
                  <a:srgbClr val="B5471E"/>
                </a:solidFill>
                <a:latin typeface="Calibri" pitchFamily="34" charset="0"/>
                <a:ea typeface="Calibri" pitchFamily="34" charset="-122"/>
                <a:cs typeface="Calibri" pitchFamily="34" charset="-120"/>
              </a:rPr>
              <a:t>Vehicle 2</a:t>
            </a:r>
            <a:endParaRPr lang="en-US" sz="1400" dirty="0"/>
          </a:p>
        </p:txBody>
      </p:sp>
      <p:sp>
        <p:nvSpPr>
          <p:cNvPr id="33" name="Text 31"/>
          <p:cNvSpPr txBox="1"/>
          <p:nvPr/>
        </p:nvSpPr>
        <p:spPr>
          <a:xfrm>
            <a:off x="8915400" y="3017520"/>
            <a:ext cx="2011680" cy="274320"/>
          </a:xfrm>
          <a:prstGeom prst="rect">
            <a:avLst/>
          </a:prstGeom>
          <a:noFill/>
          <a:ln/>
        </p:spPr>
        <p:txBody>
          <a:bodyPr wrap="square" lIns="0" tIns="0" rIns="0" bIns="0" rtlCol="0" anchor="ctr"/>
          <a:lstStyle/>
          <a:p>
            <a:pPr marL="0" indent="0" algn="ctr">
              <a:buNone/>
            </a:pPr>
            <a:r>
              <a:rPr lang="en-US" sz="1300" dirty="0">
                <a:solidFill>
                  <a:srgbClr val="6B7580"/>
                </a:solidFill>
                <a:latin typeface="Calibri" pitchFamily="34" charset="0"/>
                <a:ea typeface="Calibri" pitchFamily="34" charset="-122"/>
                <a:cs typeface="Calibri" pitchFamily="34" charset="-120"/>
              </a:rPr>
              <a:t>Left out: no time</a:t>
            </a:r>
            <a:endParaRPr lang="en-US" sz="1300" dirty="0"/>
          </a:p>
        </p:txBody>
      </p:sp>
      <p:sp>
        <p:nvSpPr>
          <p:cNvPr id="34" name="Text 32"/>
          <p:cNvSpPr txBox="1"/>
          <p:nvPr/>
        </p:nvSpPr>
        <p:spPr>
          <a:xfrm>
            <a:off x="822960" y="5852160"/>
            <a:ext cx="10543032" cy="685800"/>
          </a:xfrm>
          <a:prstGeom prst="rect">
            <a:avLst/>
          </a:prstGeom>
          <a:noFill/>
          <a:ln/>
        </p:spPr>
        <p:txBody>
          <a:bodyPr wrap="square" lIns="0" tIns="0" rIns="0" bIns="0" rtlCol="0" anchor="t"/>
          <a:lstStyle/>
          <a:p>
            <a:pPr marL="0" indent="0">
              <a:spcAft>
                <a:spcPts val="300"/>
              </a:spcAft>
              <a:buNone/>
            </a:pPr>
            <a:r>
              <a:rPr lang="en-US" sz="1200" dirty="0">
                <a:solidFill>
                  <a:srgbClr val="6B7580"/>
                </a:solidFill>
                <a:latin typeface="Calibri" pitchFamily="34" charset="0"/>
                <a:ea typeface="Calibri" pitchFamily="34" charset="-122"/>
                <a:cs typeface="Calibri" pitchFamily="34" charset="-120"/>
              </a:rPr>
              <a:t>Why it matters: last-mile delivery with electric vehicles, where battery range acts as the time budget.</a:t>
            </a:r>
            <a:endParaRPr lang="en-US" sz="1200" dirty="0"/>
          </a:p>
          <a:p>
            <a:pPr marL="0" indent="0">
              <a:spcAft>
                <a:spcPts val="300"/>
              </a:spcAft>
              <a:buNone/>
            </a:pPr>
            <a:r>
              <a:rPr lang="en-US" sz="1200" dirty="0">
                <a:solidFill>
                  <a:srgbClr val="6B7580"/>
                </a:solidFill>
                <a:latin typeface="Calibri" pitchFamily="34" charset="0"/>
                <a:ea typeface="Calibri" pitchFamily="34" charset="-122"/>
                <a:cs typeface="Calibri" pitchFamily="34" charset="-120"/>
              </a:rPr>
              <a:t>NP-hard: the number of possible route sets explodes with the number of stops.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Travel time is not a constant</a:t>
            </a:r>
            <a:endParaRPr lang="en-US" sz="3200" dirty="0"/>
          </a:p>
        </p:txBody>
      </p:sp>
      <p:sp>
        <p:nvSpPr>
          <p:cNvPr id="3" name="Shape 1"/>
          <p:cNvSpPr/>
          <p:nvPr/>
        </p:nvSpPr>
        <p:spPr>
          <a:xfrm>
            <a:off x="822960" y="1554480"/>
            <a:ext cx="10543032" cy="1051560"/>
          </a:xfrm>
          <a:prstGeom prst="roundRect">
            <a:avLst>
              <a:gd name="adj" fmla="val 10435"/>
            </a:avLst>
          </a:prstGeom>
          <a:solidFill>
            <a:srgbClr val="FDFCF8"/>
          </a:solidFill>
          <a:ln w="9525">
            <a:solidFill>
              <a:srgbClr val="E6E3DA"/>
            </a:solidFill>
            <a:prstDash val="solid"/>
          </a:ln>
        </p:spPr>
        <p:txBody>
          <a:bodyPr/>
          <a:lstStyle/>
          <a:p>
            <a:endParaRPr lang="es-ES"/>
          </a:p>
        </p:txBody>
      </p:sp>
      <p:sp>
        <p:nvSpPr>
          <p:cNvPr id="4" name="Text 2"/>
          <p:cNvSpPr txBox="1"/>
          <p:nvPr/>
        </p:nvSpPr>
        <p:spPr>
          <a:xfrm>
            <a:off x="822960" y="1554480"/>
            <a:ext cx="10543032" cy="1051560"/>
          </a:xfrm>
          <a:prstGeom prst="rect">
            <a:avLst/>
          </a:prstGeom>
          <a:noFill/>
          <a:ln/>
        </p:spPr>
        <p:txBody>
          <a:bodyPr wrap="square" lIns="0" tIns="0" rIns="0" bIns="0" rtlCol="0" anchor="ctr"/>
          <a:lstStyle/>
          <a:p>
            <a:pPr marL="0" indent="0" algn="ctr">
              <a:buNone/>
            </a:pPr>
            <a:r>
              <a:rPr lang="en-US" sz="2400" dirty="0">
                <a:solidFill>
                  <a:srgbClr val="12212B"/>
                </a:solidFill>
                <a:latin typeface="Arial" pitchFamily="34" charset="0"/>
                <a:ea typeface="Arial" pitchFamily="34" charset="-122"/>
                <a:cs typeface="Arial" pitchFamily="34" charset="-120"/>
              </a:rPr>
              <a:t>f(i, j) = d(i, j) × (1 + 0.0625 · </a:t>
            </a:r>
            <a:r>
              <a:rPr lang="en-US" sz="2400" dirty="0">
                <a:solidFill>
                  <a:srgbClr val="B5471E"/>
                </a:solidFill>
                <a:latin typeface="Arial" pitchFamily="34" charset="0"/>
                <a:ea typeface="Arial" pitchFamily="34" charset="-122"/>
                <a:cs typeface="Arial" pitchFamily="34" charset="-120"/>
              </a:rPr>
              <a:t>traffic</a:t>
            </a:r>
            <a:r>
              <a:rPr lang="en-US" sz="2400" dirty="0">
                <a:solidFill>
                  <a:srgbClr val="12212B"/>
                </a:solidFill>
                <a:latin typeface="Arial" pitchFamily="34" charset="0"/>
                <a:ea typeface="Arial" pitchFamily="34" charset="-122"/>
                <a:cs typeface="Arial" pitchFamily="34" charset="-120"/>
              </a:rPr>
              <a:t> + 0.0625 · </a:t>
            </a:r>
            <a:r>
              <a:rPr lang="en-US" sz="2400" dirty="0">
                <a:solidFill>
                  <a:srgbClr val="B5471E"/>
                </a:solidFill>
                <a:latin typeface="Arial" pitchFamily="34" charset="0"/>
                <a:ea typeface="Arial" pitchFamily="34" charset="-122"/>
                <a:cs typeface="Arial" pitchFamily="34" charset="-120"/>
              </a:rPr>
              <a:t>weather</a:t>
            </a:r>
            <a:r>
              <a:rPr lang="en-US" sz="2400" dirty="0">
                <a:solidFill>
                  <a:srgbClr val="12212B"/>
                </a:solidFill>
                <a:latin typeface="Arial" pitchFamily="34" charset="0"/>
                <a:ea typeface="Arial" pitchFamily="34" charset="-122"/>
                <a:cs typeface="Arial" pitchFamily="34" charset="-120"/>
              </a:rPr>
              <a:t>)</a:t>
            </a:r>
            <a:endParaRPr lang="en-US" sz="2400" dirty="0"/>
          </a:p>
        </p:txBody>
      </p:sp>
      <p:sp>
        <p:nvSpPr>
          <p:cNvPr id="5" name="Text 3"/>
          <p:cNvSpPr txBox="1"/>
          <p:nvPr/>
        </p:nvSpPr>
        <p:spPr>
          <a:xfrm>
            <a:off x="822960" y="2880360"/>
            <a:ext cx="3291840" cy="320040"/>
          </a:xfrm>
          <a:prstGeom prst="rect">
            <a:avLst/>
          </a:prstGeom>
          <a:noFill/>
          <a:ln/>
        </p:spPr>
        <p:txBody>
          <a:bodyPr wrap="square" lIns="0" tIns="0" rIns="0" bIns="0" rtlCol="0" anchor="ctr"/>
          <a:lstStyle/>
          <a:p>
            <a:pPr marL="0" indent="0">
              <a:buNone/>
            </a:pPr>
            <a:r>
              <a:rPr lang="en-US" sz="1800" b="1" dirty="0">
                <a:solidFill>
                  <a:srgbClr val="12212B"/>
                </a:solidFill>
                <a:latin typeface="Calibri" pitchFamily="34" charset="0"/>
                <a:ea typeface="Calibri" pitchFamily="34" charset="-122"/>
                <a:cs typeface="Calibri" pitchFamily="34" charset="-120"/>
              </a:rPr>
              <a:t>d(i, j)</a:t>
            </a:r>
            <a:endParaRPr lang="en-US" sz="1800" dirty="0"/>
          </a:p>
        </p:txBody>
      </p:sp>
      <p:sp>
        <p:nvSpPr>
          <p:cNvPr id="6" name="Text 4"/>
          <p:cNvSpPr txBox="1"/>
          <p:nvPr/>
        </p:nvSpPr>
        <p:spPr>
          <a:xfrm>
            <a:off x="822960" y="3218688"/>
            <a:ext cx="3291840" cy="54864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The plain distance on the map.</a:t>
            </a:r>
            <a:endParaRPr lang="en-US" sz="1500" dirty="0"/>
          </a:p>
        </p:txBody>
      </p:sp>
      <p:sp>
        <p:nvSpPr>
          <p:cNvPr id="7" name="Text 5"/>
          <p:cNvSpPr txBox="1"/>
          <p:nvPr/>
        </p:nvSpPr>
        <p:spPr>
          <a:xfrm>
            <a:off x="4434840" y="2880360"/>
            <a:ext cx="3291840" cy="320040"/>
          </a:xfrm>
          <a:prstGeom prst="rect">
            <a:avLst/>
          </a:prstGeom>
          <a:noFill/>
          <a:ln/>
        </p:spPr>
        <p:txBody>
          <a:bodyPr wrap="square" lIns="0" tIns="0" rIns="0" bIns="0" rtlCol="0" anchor="ctr"/>
          <a:lstStyle/>
          <a:p>
            <a:pPr marL="0" indent="0">
              <a:buNone/>
            </a:pPr>
            <a:r>
              <a:rPr lang="en-US" sz="1800" b="1" dirty="0">
                <a:solidFill>
                  <a:srgbClr val="B5471E"/>
                </a:solidFill>
                <a:latin typeface="Calibri" pitchFamily="34" charset="0"/>
                <a:ea typeface="Calibri" pitchFamily="34" charset="-122"/>
                <a:cs typeface="Calibri" pitchFamily="34" charset="-120"/>
              </a:rPr>
              <a:t>traffic</a:t>
            </a:r>
            <a:endParaRPr lang="en-US" sz="1800" dirty="0"/>
          </a:p>
        </p:txBody>
      </p:sp>
      <p:sp>
        <p:nvSpPr>
          <p:cNvPr id="8" name="Text 6"/>
          <p:cNvSpPr txBox="1"/>
          <p:nvPr/>
        </p:nvSpPr>
        <p:spPr>
          <a:xfrm>
            <a:off x="4434840" y="3218688"/>
            <a:ext cx="3291840" cy="54864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Congestion, from 0 (clear) to 1 (jammed).</a:t>
            </a:r>
            <a:endParaRPr lang="en-US" sz="1500" dirty="0"/>
          </a:p>
        </p:txBody>
      </p:sp>
      <p:sp>
        <p:nvSpPr>
          <p:cNvPr id="9" name="Text 7"/>
          <p:cNvSpPr txBox="1"/>
          <p:nvPr/>
        </p:nvSpPr>
        <p:spPr>
          <a:xfrm>
            <a:off x="8046720" y="2880360"/>
            <a:ext cx="3291840" cy="320040"/>
          </a:xfrm>
          <a:prstGeom prst="rect">
            <a:avLst/>
          </a:prstGeom>
          <a:noFill/>
          <a:ln/>
        </p:spPr>
        <p:txBody>
          <a:bodyPr wrap="square" lIns="0" tIns="0" rIns="0" bIns="0" rtlCol="0" anchor="ctr"/>
          <a:lstStyle/>
          <a:p>
            <a:pPr marL="0" indent="0">
              <a:buNone/>
            </a:pPr>
            <a:r>
              <a:rPr lang="en-US" sz="1800" b="1" dirty="0">
                <a:solidFill>
                  <a:srgbClr val="B5471E"/>
                </a:solidFill>
                <a:latin typeface="Calibri" pitchFamily="34" charset="0"/>
                <a:ea typeface="Calibri" pitchFamily="34" charset="-122"/>
                <a:cs typeface="Calibri" pitchFamily="34" charset="-120"/>
              </a:rPr>
              <a:t>weather</a:t>
            </a:r>
            <a:endParaRPr lang="en-US" sz="1800" dirty="0"/>
          </a:p>
        </p:txBody>
      </p:sp>
      <p:sp>
        <p:nvSpPr>
          <p:cNvPr id="10" name="Text 8"/>
          <p:cNvSpPr txBox="1"/>
          <p:nvPr/>
        </p:nvSpPr>
        <p:spPr>
          <a:xfrm>
            <a:off x="8046720" y="3218688"/>
            <a:ext cx="3291840" cy="54864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Rain, wind or snow, also 0 to 1.</a:t>
            </a:r>
            <a:endParaRPr lang="en-US" sz="1500" dirty="0"/>
          </a:p>
        </p:txBody>
      </p:sp>
      <p:sp>
        <p:nvSpPr>
          <p:cNvPr id="11" name="Text 9"/>
          <p:cNvSpPr txBox="1"/>
          <p:nvPr/>
        </p:nvSpPr>
        <p:spPr>
          <a:xfrm>
            <a:off x="822960" y="4023360"/>
            <a:ext cx="1737360" cy="310896"/>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Planned leg</a:t>
            </a:r>
            <a:endParaRPr lang="en-US" sz="1400" dirty="0"/>
          </a:p>
        </p:txBody>
      </p:sp>
      <p:sp>
        <p:nvSpPr>
          <p:cNvPr id="12" name="Shape 10"/>
          <p:cNvSpPr/>
          <p:nvPr/>
        </p:nvSpPr>
        <p:spPr>
          <a:xfrm>
            <a:off x="2651760" y="4023360"/>
            <a:ext cx="5486400" cy="310896"/>
          </a:xfrm>
          <a:prstGeom prst="rect">
            <a:avLst/>
          </a:prstGeom>
          <a:solidFill>
            <a:srgbClr val="2A9D8F"/>
          </a:solidFill>
          <a:ln w="12700">
            <a:solidFill>
              <a:srgbClr val="2A9D8F"/>
            </a:solidFill>
            <a:prstDash val="solid"/>
          </a:ln>
        </p:spPr>
        <p:txBody>
          <a:bodyPr/>
          <a:lstStyle/>
          <a:p>
            <a:endParaRPr lang="es-ES"/>
          </a:p>
        </p:txBody>
      </p:sp>
      <p:sp>
        <p:nvSpPr>
          <p:cNvPr id="13" name="Text 11"/>
          <p:cNvSpPr txBox="1"/>
          <p:nvPr/>
        </p:nvSpPr>
        <p:spPr>
          <a:xfrm>
            <a:off x="822960" y="4480560"/>
            <a:ext cx="1737360" cy="310896"/>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Worst-case leg</a:t>
            </a:r>
            <a:endParaRPr lang="en-US" sz="1400" dirty="0"/>
          </a:p>
        </p:txBody>
      </p:sp>
      <p:sp>
        <p:nvSpPr>
          <p:cNvPr id="14" name="Shape 12"/>
          <p:cNvSpPr/>
          <p:nvPr/>
        </p:nvSpPr>
        <p:spPr>
          <a:xfrm>
            <a:off x="2651760" y="4480560"/>
            <a:ext cx="5486400" cy="310896"/>
          </a:xfrm>
          <a:prstGeom prst="rect">
            <a:avLst/>
          </a:prstGeom>
          <a:solidFill>
            <a:srgbClr val="2A9D8F"/>
          </a:solidFill>
          <a:ln w="12700">
            <a:solidFill>
              <a:srgbClr val="2A9D8F"/>
            </a:solidFill>
            <a:prstDash val="solid"/>
          </a:ln>
        </p:spPr>
        <p:txBody>
          <a:bodyPr/>
          <a:lstStyle/>
          <a:p>
            <a:endParaRPr lang="es-ES"/>
          </a:p>
        </p:txBody>
      </p:sp>
      <p:sp>
        <p:nvSpPr>
          <p:cNvPr id="15" name="Shape 13"/>
          <p:cNvSpPr/>
          <p:nvPr/>
        </p:nvSpPr>
        <p:spPr>
          <a:xfrm>
            <a:off x="8138160" y="4480560"/>
            <a:ext cx="685800" cy="310896"/>
          </a:xfrm>
          <a:prstGeom prst="rect">
            <a:avLst/>
          </a:prstGeom>
          <a:solidFill>
            <a:srgbClr val="E07040"/>
          </a:solidFill>
          <a:ln w="12700">
            <a:solidFill>
              <a:srgbClr val="E07040"/>
            </a:solidFill>
            <a:prstDash val="solid"/>
          </a:ln>
        </p:spPr>
        <p:txBody>
          <a:bodyPr/>
          <a:lstStyle/>
          <a:p>
            <a:endParaRPr lang="es-ES"/>
          </a:p>
        </p:txBody>
      </p:sp>
      <p:sp>
        <p:nvSpPr>
          <p:cNvPr id="16" name="Text 14"/>
          <p:cNvSpPr txBox="1"/>
          <p:nvPr/>
        </p:nvSpPr>
        <p:spPr>
          <a:xfrm>
            <a:off x="8961120" y="4480560"/>
            <a:ext cx="1097280" cy="310896"/>
          </a:xfrm>
          <a:prstGeom prst="rect">
            <a:avLst/>
          </a:prstGeom>
          <a:noFill/>
          <a:ln/>
        </p:spPr>
        <p:txBody>
          <a:bodyPr wrap="square" lIns="0" tIns="0" rIns="0" bIns="0" rtlCol="0" anchor="ctr"/>
          <a:lstStyle/>
          <a:p>
            <a:pPr marL="0" indent="0">
              <a:buNone/>
            </a:pPr>
            <a:r>
              <a:rPr lang="en-US" sz="1400" b="1" dirty="0">
                <a:solidFill>
                  <a:srgbClr val="B5471E"/>
                </a:solidFill>
                <a:latin typeface="Calibri" pitchFamily="34" charset="0"/>
                <a:ea typeface="Calibri" pitchFamily="34" charset="-122"/>
                <a:cs typeface="Calibri" pitchFamily="34" charset="-120"/>
              </a:rPr>
              <a:t>+12.5%</a:t>
            </a:r>
            <a:endParaRPr lang="en-US" sz="1400" dirty="0"/>
          </a:p>
        </p:txBody>
      </p:sp>
      <p:sp>
        <p:nvSpPr>
          <p:cNvPr id="17" name="Text 15"/>
          <p:cNvSpPr txBox="1"/>
          <p:nvPr/>
        </p:nvSpPr>
        <p:spPr>
          <a:xfrm>
            <a:off x="822960" y="5166360"/>
            <a:ext cx="10543032" cy="457200"/>
          </a:xfrm>
          <a:prstGeom prst="rect">
            <a:avLst/>
          </a:prstGeom>
          <a:noFill/>
          <a:ln/>
        </p:spPr>
        <p:txBody>
          <a:bodyPr wrap="square" lIns="0" tIns="0" rIns="0" bIns="0" rtlCol="0" anchor="ctr"/>
          <a:lstStyle/>
          <a:p>
            <a:pPr marL="0" indent="0">
              <a:buNone/>
            </a:pPr>
            <a:r>
              <a:rPr lang="en-US" sz="2400" b="1" dirty="0">
                <a:solidFill>
                  <a:srgbClr val="1F7A6D"/>
                </a:solidFill>
                <a:latin typeface="Calibri" pitchFamily="34" charset="0"/>
                <a:ea typeface="Calibri" pitchFamily="34" charset="-122"/>
                <a:cs typeface="Calibri" pitchFamily="34" charset="-120"/>
              </a:rPr>
              <a:t>Worst case, a leg takes 12.5% longer than the plan assumed.</a:t>
            </a:r>
            <a:endParaRPr lang="en-US" sz="2400" dirty="0"/>
          </a:p>
        </p:txBody>
      </p:sp>
      <p:sp>
        <p:nvSpPr>
          <p:cNvPr id="18" name="Text 16"/>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A plan that fits exactly in the budget is therefore a plan that will break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BE3"/>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Both methods loop. They loop at different moments.</a:t>
            </a:r>
            <a:endParaRPr lang="en-US" sz="3200" dirty="0"/>
          </a:p>
        </p:txBody>
      </p:sp>
      <p:sp>
        <p:nvSpPr>
          <p:cNvPr id="3" name="Shape 1"/>
          <p:cNvSpPr/>
          <p:nvPr/>
        </p:nvSpPr>
        <p:spPr>
          <a:xfrm>
            <a:off x="822960" y="1691640"/>
            <a:ext cx="5120640" cy="3749040"/>
          </a:xfrm>
          <a:prstGeom prst="roundRect">
            <a:avLst>
              <a:gd name="adj" fmla="val 2927"/>
            </a:avLst>
          </a:prstGeom>
          <a:solidFill>
            <a:srgbClr val="FDFCF8"/>
          </a:solidFill>
          <a:ln w="9525">
            <a:solidFill>
              <a:srgbClr val="E6E3DA"/>
            </a:solidFill>
            <a:prstDash val="solid"/>
          </a:ln>
        </p:spPr>
        <p:txBody>
          <a:bodyPr/>
          <a:lstStyle/>
          <a:p>
            <a:endParaRPr lang="es-ES"/>
          </a:p>
        </p:txBody>
      </p:sp>
      <p:sp>
        <p:nvSpPr>
          <p:cNvPr id="4" name="Text 2"/>
          <p:cNvSpPr txBox="1"/>
          <p:nvPr/>
        </p:nvSpPr>
        <p:spPr>
          <a:xfrm>
            <a:off x="1097280" y="1947672"/>
            <a:ext cx="4572000" cy="365760"/>
          </a:xfrm>
          <a:prstGeom prst="rect">
            <a:avLst/>
          </a:prstGeom>
          <a:noFill/>
          <a:ln/>
        </p:spPr>
        <p:txBody>
          <a:bodyPr wrap="square" lIns="0" tIns="0" rIns="0" bIns="0" rtlCol="0" anchor="ctr"/>
          <a:lstStyle/>
          <a:p>
            <a:pPr marL="0" indent="0">
              <a:buNone/>
            </a:pPr>
            <a:r>
              <a:rPr lang="en-US" sz="2000" b="1" dirty="0">
                <a:solidFill>
                  <a:srgbClr val="12212B"/>
                </a:solidFill>
                <a:latin typeface="Calibri" pitchFamily="34" charset="0"/>
                <a:ea typeface="Calibri" pitchFamily="34" charset="-122"/>
                <a:cs typeface="Calibri" pitchFamily="34" charset="-120"/>
              </a:rPr>
              <a:t>Search — the VNS baseline</a:t>
            </a:r>
            <a:endParaRPr lang="en-US" sz="2000" dirty="0"/>
          </a:p>
        </p:txBody>
      </p:sp>
      <p:sp>
        <p:nvSpPr>
          <p:cNvPr id="5" name="Shape 3"/>
          <p:cNvSpPr/>
          <p:nvPr/>
        </p:nvSpPr>
        <p:spPr>
          <a:xfrm>
            <a:off x="1097280" y="2560320"/>
            <a:ext cx="1371600" cy="777240"/>
          </a:xfrm>
          <a:prstGeom prst="roundRect">
            <a:avLst>
              <a:gd name="adj" fmla="val 11765"/>
            </a:avLst>
          </a:prstGeom>
          <a:solidFill>
            <a:srgbClr val="F1EFE6"/>
          </a:solidFill>
          <a:ln w="9525">
            <a:solidFill>
              <a:srgbClr val="DAD6C9"/>
            </a:solidFill>
            <a:prstDash val="solid"/>
          </a:ln>
        </p:spPr>
        <p:txBody>
          <a:bodyPr/>
          <a:lstStyle/>
          <a:p>
            <a:endParaRPr lang="es-ES"/>
          </a:p>
        </p:txBody>
      </p:sp>
      <p:sp>
        <p:nvSpPr>
          <p:cNvPr id="6" name="Text 4"/>
          <p:cNvSpPr txBox="1"/>
          <p:nvPr/>
        </p:nvSpPr>
        <p:spPr>
          <a:xfrm>
            <a:off x="1207008" y="2560320"/>
            <a:ext cx="1152144" cy="777240"/>
          </a:xfrm>
          <a:prstGeom prst="rect">
            <a:avLst/>
          </a:prstGeom>
          <a:noFill/>
          <a:ln/>
        </p:spPr>
        <p:txBody>
          <a:bodyPr wrap="square" lIns="0" tIns="0" rIns="0" bIns="0" rtlCol="0" anchor="ctr"/>
          <a:lstStyle/>
          <a:p>
            <a:pPr marL="0" indent="0" algn="ctr">
              <a:buNone/>
            </a:pPr>
            <a:r>
              <a:rPr lang="en-US" sz="1300" b="1" dirty="0">
                <a:solidFill>
                  <a:srgbClr val="12212B"/>
                </a:solidFill>
                <a:latin typeface="Calibri" pitchFamily="34" charset="0"/>
                <a:ea typeface="Calibri" pitchFamily="34" charset="-122"/>
                <a:cs typeface="Calibri" pitchFamily="34" charset="-120"/>
              </a:rPr>
              <a:t>Build a route</a:t>
            </a:r>
            <a:endParaRPr lang="en-US" sz="1300" dirty="0"/>
          </a:p>
        </p:txBody>
      </p:sp>
      <p:sp>
        <p:nvSpPr>
          <p:cNvPr id="7" name="Shape 5"/>
          <p:cNvSpPr/>
          <p:nvPr/>
        </p:nvSpPr>
        <p:spPr>
          <a:xfrm>
            <a:off x="2496312" y="2948940"/>
            <a:ext cx="173736" cy="0"/>
          </a:xfrm>
          <a:prstGeom prst="line">
            <a:avLst/>
          </a:prstGeom>
          <a:noFill/>
          <a:ln w="25400">
            <a:solidFill>
              <a:srgbClr val="B0B7BE"/>
            </a:solidFill>
            <a:prstDash val="solid"/>
            <a:tailEnd type="triangle"/>
          </a:ln>
        </p:spPr>
        <p:txBody>
          <a:bodyPr/>
          <a:lstStyle/>
          <a:p>
            <a:endParaRPr lang="es-ES"/>
          </a:p>
        </p:txBody>
      </p:sp>
      <p:sp>
        <p:nvSpPr>
          <p:cNvPr id="8" name="Shape 6"/>
          <p:cNvSpPr/>
          <p:nvPr/>
        </p:nvSpPr>
        <p:spPr>
          <a:xfrm>
            <a:off x="2697480" y="2560320"/>
            <a:ext cx="1371600" cy="777240"/>
          </a:xfrm>
          <a:prstGeom prst="roundRect">
            <a:avLst>
              <a:gd name="adj" fmla="val 11765"/>
            </a:avLst>
          </a:prstGeom>
          <a:solidFill>
            <a:srgbClr val="F1EFE6"/>
          </a:solidFill>
          <a:ln w="9525">
            <a:solidFill>
              <a:srgbClr val="DAD6C9"/>
            </a:solidFill>
            <a:prstDash val="solid"/>
          </a:ln>
        </p:spPr>
        <p:txBody>
          <a:bodyPr/>
          <a:lstStyle/>
          <a:p>
            <a:endParaRPr lang="es-ES"/>
          </a:p>
        </p:txBody>
      </p:sp>
      <p:sp>
        <p:nvSpPr>
          <p:cNvPr id="9" name="Text 7"/>
          <p:cNvSpPr txBox="1"/>
          <p:nvPr/>
        </p:nvSpPr>
        <p:spPr>
          <a:xfrm>
            <a:off x="2807208" y="2560320"/>
            <a:ext cx="1152144" cy="777240"/>
          </a:xfrm>
          <a:prstGeom prst="rect">
            <a:avLst/>
          </a:prstGeom>
          <a:noFill/>
          <a:ln/>
        </p:spPr>
        <p:txBody>
          <a:bodyPr wrap="square" lIns="0" tIns="0" rIns="0" bIns="0" rtlCol="0" anchor="ctr"/>
          <a:lstStyle/>
          <a:p>
            <a:pPr marL="0" indent="0" algn="ctr">
              <a:buNone/>
            </a:pPr>
            <a:r>
              <a:rPr lang="en-US" sz="1300" b="1" dirty="0">
                <a:solidFill>
                  <a:srgbClr val="12212B"/>
                </a:solidFill>
                <a:latin typeface="Calibri" pitchFamily="34" charset="0"/>
                <a:ea typeface="Calibri" pitchFamily="34" charset="-122"/>
                <a:cs typeface="Calibri" pitchFamily="34" charset="-120"/>
              </a:rPr>
              <a:t>Break it apart</a:t>
            </a:r>
            <a:endParaRPr lang="en-US" sz="1300" dirty="0"/>
          </a:p>
        </p:txBody>
      </p:sp>
      <p:sp>
        <p:nvSpPr>
          <p:cNvPr id="10" name="Shape 8"/>
          <p:cNvSpPr/>
          <p:nvPr/>
        </p:nvSpPr>
        <p:spPr>
          <a:xfrm>
            <a:off x="4096512" y="2948940"/>
            <a:ext cx="173736" cy="0"/>
          </a:xfrm>
          <a:prstGeom prst="line">
            <a:avLst/>
          </a:prstGeom>
          <a:noFill/>
          <a:ln w="25400">
            <a:solidFill>
              <a:srgbClr val="B0B7BE"/>
            </a:solidFill>
            <a:prstDash val="solid"/>
            <a:tailEnd type="triangle"/>
          </a:ln>
        </p:spPr>
        <p:txBody>
          <a:bodyPr/>
          <a:lstStyle/>
          <a:p>
            <a:endParaRPr lang="es-ES"/>
          </a:p>
        </p:txBody>
      </p:sp>
      <p:sp>
        <p:nvSpPr>
          <p:cNvPr id="11" name="Shape 9"/>
          <p:cNvSpPr/>
          <p:nvPr/>
        </p:nvSpPr>
        <p:spPr>
          <a:xfrm>
            <a:off x="4297680" y="2560320"/>
            <a:ext cx="1371600" cy="777240"/>
          </a:xfrm>
          <a:prstGeom prst="roundRect">
            <a:avLst>
              <a:gd name="adj" fmla="val 11765"/>
            </a:avLst>
          </a:prstGeom>
          <a:solidFill>
            <a:srgbClr val="F1EFE6"/>
          </a:solidFill>
          <a:ln w="9525">
            <a:solidFill>
              <a:srgbClr val="DAD6C9"/>
            </a:solidFill>
            <a:prstDash val="solid"/>
          </a:ln>
        </p:spPr>
        <p:txBody>
          <a:bodyPr/>
          <a:lstStyle/>
          <a:p>
            <a:endParaRPr lang="es-ES"/>
          </a:p>
        </p:txBody>
      </p:sp>
      <p:sp>
        <p:nvSpPr>
          <p:cNvPr id="12" name="Text 10"/>
          <p:cNvSpPr txBox="1"/>
          <p:nvPr/>
        </p:nvSpPr>
        <p:spPr>
          <a:xfrm>
            <a:off x="4407408" y="2560320"/>
            <a:ext cx="1152144" cy="777240"/>
          </a:xfrm>
          <a:prstGeom prst="rect">
            <a:avLst/>
          </a:prstGeom>
          <a:noFill/>
          <a:ln/>
        </p:spPr>
        <p:txBody>
          <a:bodyPr wrap="square" lIns="0" tIns="0" rIns="0" bIns="0" rtlCol="0" anchor="ctr"/>
          <a:lstStyle/>
          <a:p>
            <a:pPr marL="0" indent="0" algn="ctr">
              <a:buNone/>
            </a:pPr>
            <a:r>
              <a:rPr lang="en-US" sz="1300" b="1" dirty="0">
                <a:solidFill>
                  <a:srgbClr val="12212B"/>
                </a:solidFill>
                <a:latin typeface="Calibri" pitchFamily="34" charset="0"/>
                <a:ea typeface="Calibri" pitchFamily="34" charset="-122"/>
                <a:cs typeface="Calibri" pitchFamily="34" charset="-120"/>
              </a:rPr>
              <a:t>Put it back better</a:t>
            </a:r>
            <a:endParaRPr lang="en-US" sz="1300" dirty="0"/>
          </a:p>
        </p:txBody>
      </p:sp>
      <p:sp>
        <p:nvSpPr>
          <p:cNvPr id="13" name="Shape 11"/>
          <p:cNvSpPr/>
          <p:nvPr/>
        </p:nvSpPr>
        <p:spPr>
          <a:xfrm>
            <a:off x="4983480" y="3337560"/>
            <a:ext cx="0" cy="384048"/>
          </a:xfrm>
          <a:prstGeom prst="line">
            <a:avLst/>
          </a:prstGeom>
          <a:noFill/>
          <a:ln w="25400">
            <a:solidFill>
              <a:srgbClr val="B0B7BE"/>
            </a:solidFill>
            <a:prstDash val="solid"/>
          </a:ln>
        </p:spPr>
        <p:txBody>
          <a:bodyPr/>
          <a:lstStyle/>
          <a:p>
            <a:endParaRPr lang="es-ES"/>
          </a:p>
        </p:txBody>
      </p:sp>
      <p:sp>
        <p:nvSpPr>
          <p:cNvPr id="14" name="Shape 12"/>
          <p:cNvSpPr/>
          <p:nvPr/>
        </p:nvSpPr>
        <p:spPr>
          <a:xfrm>
            <a:off x="1783080" y="3721608"/>
            <a:ext cx="3200400" cy="0"/>
          </a:xfrm>
          <a:prstGeom prst="line">
            <a:avLst/>
          </a:prstGeom>
          <a:noFill/>
          <a:ln w="25400">
            <a:solidFill>
              <a:srgbClr val="B0B7BE"/>
            </a:solidFill>
            <a:prstDash val="solid"/>
          </a:ln>
        </p:spPr>
        <p:txBody>
          <a:bodyPr/>
          <a:lstStyle/>
          <a:p>
            <a:endParaRPr lang="es-ES"/>
          </a:p>
        </p:txBody>
      </p:sp>
      <p:sp>
        <p:nvSpPr>
          <p:cNvPr id="15" name="Shape 13"/>
          <p:cNvSpPr/>
          <p:nvPr/>
        </p:nvSpPr>
        <p:spPr>
          <a:xfrm>
            <a:off x="1783080" y="3337560"/>
            <a:ext cx="0" cy="384048"/>
          </a:xfrm>
          <a:prstGeom prst="line">
            <a:avLst/>
          </a:prstGeom>
          <a:noFill/>
          <a:ln w="25400">
            <a:solidFill>
              <a:srgbClr val="B0B7BE"/>
            </a:solidFill>
            <a:prstDash val="solid"/>
            <a:headEnd type="triangle"/>
          </a:ln>
        </p:spPr>
        <p:txBody>
          <a:bodyPr/>
          <a:lstStyle/>
          <a:p>
            <a:endParaRPr lang="es-ES"/>
          </a:p>
        </p:txBody>
      </p:sp>
      <p:sp>
        <p:nvSpPr>
          <p:cNvPr id="16" name="Text 14"/>
          <p:cNvSpPr txBox="1"/>
          <p:nvPr/>
        </p:nvSpPr>
        <p:spPr>
          <a:xfrm>
            <a:off x="1097280" y="3794760"/>
            <a:ext cx="4572000" cy="274320"/>
          </a:xfrm>
          <a:prstGeom prst="rect">
            <a:avLst/>
          </a:prstGeom>
          <a:noFill/>
          <a:ln/>
        </p:spPr>
        <p:txBody>
          <a:bodyPr wrap="square" lIns="0" tIns="0" rIns="0" bIns="0" rtlCol="0" anchor="ctr"/>
          <a:lstStyle/>
          <a:p>
            <a:pPr marL="0" indent="0" algn="ctr">
              <a:buNone/>
            </a:pPr>
            <a:r>
              <a:rPr lang="en-US" sz="1300" dirty="0">
                <a:solidFill>
                  <a:srgbClr val="B5471E"/>
                </a:solidFill>
                <a:latin typeface="Calibri" pitchFamily="34" charset="0"/>
                <a:ea typeface="Calibri" pitchFamily="34" charset="-122"/>
                <a:cs typeface="Calibri" pitchFamily="34" charset="-120"/>
              </a:rPr>
              <a:t>for every new instance</a:t>
            </a:r>
            <a:endParaRPr lang="en-US" sz="1300" dirty="0"/>
          </a:p>
        </p:txBody>
      </p:sp>
      <p:sp>
        <p:nvSpPr>
          <p:cNvPr id="17" name="Text 15"/>
          <p:cNvSpPr txBox="1"/>
          <p:nvPr/>
        </p:nvSpPr>
        <p:spPr>
          <a:xfrm>
            <a:off x="1097280" y="4270248"/>
            <a:ext cx="4572000" cy="100584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The loop runs while the courier waits: VNS found its best solution after </a:t>
            </a:r>
            <a:r>
              <a:rPr lang="en-US" sz="1500" b="1" dirty="0">
                <a:solidFill>
                  <a:srgbClr val="4A5568"/>
                </a:solidFill>
                <a:latin typeface="Calibri" pitchFamily="34" charset="0"/>
                <a:ea typeface="Calibri" pitchFamily="34" charset="-122"/>
                <a:cs typeface="Calibri" pitchFamily="34" charset="-120"/>
              </a:rPr>
              <a:t>4.55 s</a:t>
            </a:r>
            <a:r>
              <a:rPr lang="en-US" sz="1500" dirty="0">
                <a:solidFill>
                  <a:srgbClr val="4A5568"/>
                </a:solidFill>
                <a:latin typeface="Calibri" pitchFamily="34" charset="0"/>
                <a:ea typeface="Calibri" pitchFamily="34" charset="-122"/>
                <a:cs typeface="Calibri" pitchFamily="34" charset="-120"/>
              </a:rPr>
              <a:t> on average (limit: 20 s).</a:t>
            </a:r>
            <a:endParaRPr lang="en-US" sz="1500" dirty="0"/>
          </a:p>
        </p:txBody>
      </p:sp>
      <p:sp>
        <p:nvSpPr>
          <p:cNvPr id="18" name="Shape 16"/>
          <p:cNvSpPr/>
          <p:nvPr/>
        </p:nvSpPr>
        <p:spPr>
          <a:xfrm>
            <a:off x="6245352" y="1691640"/>
            <a:ext cx="5120640" cy="3749040"/>
          </a:xfrm>
          <a:prstGeom prst="roundRect">
            <a:avLst>
              <a:gd name="adj" fmla="val 2927"/>
            </a:avLst>
          </a:prstGeom>
          <a:solidFill>
            <a:srgbClr val="FDFCF8"/>
          </a:solidFill>
          <a:ln w="9525">
            <a:solidFill>
              <a:srgbClr val="E6E3DA"/>
            </a:solidFill>
            <a:prstDash val="solid"/>
          </a:ln>
        </p:spPr>
        <p:txBody>
          <a:bodyPr/>
          <a:lstStyle/>
          <a:p>
            <a:endParaRPr lang="es-ES"/>
          </a:p>
        </p:txBody>
      </p:sp>
      <p:sp>
        <p:nvSpPr>
          <p:cNvPr id="19" name="Text 17"/>
          <p:cNvSpPr txBox="1"/>
          <p:nvPr/>
        </p:nvSpPr>
        <p:spPr>
          <a:xfrm>
            <a:off x="6519672" y="1947672"/>
            <a:ext cx="4572000" cy="365760"/>
          </a:xfrm>
          <a:prstGeom prst="rect">
            <a:avLst/>
          </a:prstGeom>
          <a:noFill/>
          <a:ln/>
        </p:spPr>
        <p:txBody>
          <a:bodyPr wrap="square" lIns="0" tIns="0" rIns="0" bIns="0" rtlCol="0" anchor="ctr"/>
          <a:lstStyle/>
          <a:p>
            <a:pPr marL="0" indent="0">
              <a:buNone/>
            </a:pPr>
            <a:r>
              <a:rPr lang="en-US" sz="2000" b="1" dirty="0">
                <a:solidFill>
                  <a:srgbClr val="12212B"/>
                </a:solidFill>
                <a:latin typeface="Calibri" pitchFamily="34" charset="0"/>
                <a:ea typeface="Calibri" pitchFamily="34" charset="-122"/>
                <a:cs typeface="Calibri" pitchFamily="34" charset="-120"/>
              </a:rPr>
              <a:t>Learning — the RL model</a:t>
            </a:r>
            <a:endParaRPr lang="en-US" sz="2000" dirty="0"/>
          </a:p>
        </p:txBody>
      </p:sp>
      <p:sp>
        <p:nvSpPr>
          <p:cNvPr id="20" name="Shape 18"/>
          <p:cNvSpPr/>
          <p:nvPr/>
        </p:nvSpPr>
        <p:spPr>
          <a:xfrm>
            <a:off x="6519672" y="2560320"/>
            <a:ext cx="1371600" cy="777240"/>
          </a:xfrm>
          <a:prstGeom prst="roundRect">
            <a:avLst>
              <a:gd name="adj" fmla="val 11765"/>
            </a:avLst>
          </a:prstGeom>
          <a:solidFill>
            <a:srgbClr val="E4F1EE"/>
          </a:solidFill>
          <a:ln w="9525">
            <a:solidFill>
              <a:srgbClr val="9FD0C8"/>
            </a:solidFill>
            <a:prstDash val="solid"/>
          </a:ln>
        </p:spPr>
        <p:txBody>
          <a:bodyPr/>
          <a:lstStyle/>
          <a:p>
            <a:endParaRPr lang="es-ES"/>
          </a:p>
        </p:txBody>
      </p:sp>
      <p:sp>
        <p:nvSpPr>
          <p:cNvPr id="21" name="Text 19"/>
          <p:cNvSpPr txBox="1"/>
          <p:nvPr/>
        </p:nvSpPr>
        <p:spPr>
          <a:xfrm>
            <a:off x="6629400" y="2560320"/>
            <a:ext cx="1152144" cy="777240"/>
          </a:xfrm>
          <a:prstGeom prst="rect">
            <a:avLst/>
          </a:prstGeom>
          <a:noFill/>
          <a:ln/>
        </p:spPr>
        <p:txBody>
          <a:bodyPr wrap="square" lIns="0" tIns="0" rIns="0" bIns="0" rtlCol="0" anchor="ctr"/>
          <a:lstStyle/>
          <a:p>
            <a:pPr marL="0" indent="0" algn="ctr">
              <a:buNone/>
            </a:pPr>
            <a:r>
              <a:rPr lang="en-US" sz="1300" b="1" dirty="0">
                <a:solidFill>
                  <a:srgbClr val="12212B"/>
                </a:solidFill>
                <a:latin typeface="Calibri" pitchFamily="34" charset="0"/>
                <a:ea typeface="Calibri" pitchFamily="34" charset="-122"/>
                <a:cs typeface="Calibri" pitchFamily="34" charset="-120"/>
              </a:rPr>
              <a:t>Try a route</a:t>
            </a:r>
            <a:endParaRPr lang="en-US" sz="1300" dirty="0"/>
          </a:p>
        </p:txBody>
      </p:sp>
      <p:sp>
        <p:nvSpPr>
          <p:cNvPr id="22" name="Shape 20"/>
          <p:cNvSpPr/>
          <p:nvPr/>
        </p:nvSpPr>
        <p:spPr>
          <a:xfrm>
            <a:off x="7918704" y="2948940"/>
            <a:ext cx="173736" cy="0"/>
          </a:xfrm>
          <a:prstGeom prst="line">
            <a:avLst/>
          </a:prstGeom>
          <a:noFill/>
          <a:ln w="25400">
            <a:solidFill>
              <a:srgbClr val="2A9D8F"/>
            </a:solidFill>
            <a:prstDash val="solid"/>
            <a:tailEnd type="triangle"/>
          </a:ln>
        </p:spPr>
        <p:txBody>
          <a:bodyPr/>
          <a:lstStyle/>
          <a:p>
            <a:endParaRPr lang="es-ES"/>
          </a:p>
        </p:txBody>
      </p:sp>
      <p:sp>
        <p:nvSpPr>
          <p:cNvPr id="23" name="Shape 21"/>
          <p:cNvSpPr/>
          <p:nvPr/>
        </p:nvSpPr>
        <p:spPr>
          <a:xfrm>
            <a:off x="8119872" y="2560320"/>
            <a:ext cx="1371600" cy="777240"/>
          </a:xfrm>
          <a:prstGeom prst="roundRect">
            <a:avLst>
              <a:gd name="adj" fmla="val 11765"/>
            </a:avLst>
          </a:prstGeom>
          <a:solidFill>
            <a:srgbClr val="E4F1EE"/>
          </a:solidFill>
          <a:ln w="9525">
            <a:solidFill>
              <a:srgbClr val="9FD0C8"/>
            </a:solidFill>
            <a:prstDash val="solid"/>
          </a:ln>
        </p:spPr>
        <p:txBody>
          <a:bodyPr/>
          <a:lstStyle/>
          <a:p>
            <a:endParaRPr lang="es-ES"/>
          </a:p>
        </p:txBody>
      </p:sp>
      <p:sp>
        <p:nvSpPr>
          <p:cNvPr id="24" name="Text 22"/>
          <p:cNvSpPr txBox="1"/>
          <p:nvPr/>
        </p:nvSpPr>
        <p:spPr>
          <a:xfrm>
            <a:off x="8229600" y="2560320"/>
            <a:ext cx="1152144" cy="777240"/>
          </a:xfrm>
          <a:prstGeom prst="rect">
            <a:avLst/>
          </a:prstGeom>
          <a:noFill/>
          <a:ln/>
        </p:spPr>
        <p:txBody>
          <a:bodyPr wrap="square" lIns="0" tIns="0" rIns="0" bIns="0" rtlCol="0" anchor="ctr"/>
          <a:lstStyle/>
          <a:p>
            <a:pPr marL="0" indent="0" algn="ctr">
              <a:buNone/>
            </a:pPr>
            <a:r>
              <a:rPr lang="en-US" sz="1300" b="1" dirty="0">
                <a:solidFill>
                  <a:srgbClr val="12212B"/>
                </a:solidFill>
                <a:latin typeface="Calibri" pitchFamily="34" charset="0"/>
                <a:ea typeface="Calibri" pitchFamily="34" charset="-122"/>
                <a:cs typeface="Calibri" pitchFamily="34" charset="-120"/>
              </a:rPr>
              <a:t>Score the reward</a:t>
            </a:r>
            <a:endParaRPr lang="en-US" sz="1300" dirty="0"/>
          </a:p>
        </p:txBody>
      </p:sp>
      <p:sp>
        <p:nvSpPr>
          <p:cNvPr id="25" name="Shape 23"/>
          <p:cNvSpPr/>
          <p:nvPr/>
        </p:nvSpPr>
        <p:spPr>
          <a:xfrm>
            <a:off x="9518904" y="2948940"/>
            <a:ext cx="173736" cy="0"/>
          </a:xfrm>
          <a:prstGeom prst="line">
            <a:avLst/>
          </a:prstGeom>
          <a:noFill/>
          <a:ln w="25400">
            <a:solidFill>
              <a:srgbClr val="2A9D8F"/>
            </a:solidFill>
            <a:prstDash val="solid"/>
            <a:tailEnd type="triangle"/>
          </a:ln>
        </p:spPr>
        <p:txBody>
          <a:bodyPr/>
          <a:lstStyle/>
          <a:p>
            <a:endParaRPr lang="es-ES"/>
          </a:p>
        </p:txBody>
      </p:sp>
      <p:sp>
        <p:nvSpPr>
          <p:cNvPr id="26" name="Shape 24"/>
          <p:cNvSpPr/>
          <p:nvPr/>
        </p:nvSpPr>
        <p:spPr>
          <a:xfrm>
            <a:off x="9720072" y="2560320"/>
            <a:ext cx="1371600" cy="777240"/>
          </a:xfrm>
          <a:prstGeom prst="roundRect">
            <a:avLst>
              <a:gd name="adj" fmla="val 11765"/>
            </a:avLst>
          </a:prstGeom>
          <a:solidFill>
            <a:srgbClr val="E4F1EE"/>
          </a:solidFill>
          <a:ln w="9525">
            <a:solidFill>
              <a:srgbClr val="9FD0C8"/>
            </a:solidFill>
            <a:prstDash val="solid"/>
          </a:ln>
        </p:spPr>
        <p:txBody>
          <a:bodyPr/>
          <a:lstStyle/>
          <a:p>
            <a:endParaRPr lang="es-ES"/>
          </a:p>
        </p:txBody>
      </p:sp>
      <p:sp>
        <p:nvSpPr>
          <p:cNvPr id="27" name="Text 25"/>
          <p:cNvSpPr txBox="1"/>
          <p:nvPr/>
        </p:nvSpPr>
        <p:spPr>
          <a:xfrm>
            <a:off x="9829800" y="2560320"/>
            <a:ext cx="1152144" cy="777240"/>
          </a:xfrm>
          <a:prstGeom prst="rect">
            <a:avLst/>
          </a:prstGeom>
          <a:noFill/>
          <a:ln/>
        </p:spPr>
        <p:txBody>
          <a:bodyPr wrap="square" lIns="0" tIns="0" rIns="0" bIns="0" rtlCol="0" anchor="ctr"/>
          <a:lstStyle/>
          <a:p>
            <a:pPr marL="0" indent="0" algn="ctr">
              <a:buNone/>
            </a:pPr>
            <a:r>
              <a:rPr lang="en-US" sz="1300" b="1" dirty="0">
                <a:solidFill>
                  <a:srgbClr val="12212B"/>
                </a:solidFill>
                <a:latin typeface="Calibri" pitchFamily="34" charset="0"/>
                <a:ea typeface="Calibri" pitchFamily="34" charset="-122"/>
                <a:cs typeface="Calibri" pitchFamily="34" charset="-120"/>
              </a:rPr>
              <a:t>Nudge the weights</a:t>
            </a:r>
            <a:endParaRPr lang="en-US" sz="1300" dirty="0"/>
          </a:p>
        </p:txBody>
      </p:sp>
      <p:sp>
        <p:nvSpPr>
          <p:cNvPr id="28" name="Shape 26"/>
          <p:cNvSpPr/>
          <p:nvPr/>
        </p:nvSpPr>
        <p:spPr>
          <a:xfrm>
            <a:off x="10405872" y="3337560"/>
            <a:ext cx="0" cy="384048"/>
          </a:xfrm>
          <a:prstGeom prst="line">
            <a:avLst/>
          </a:prstGeom>
          <a:noFill/>
          <a:ln w="25400">
            <a:solidFill>
              <a:srgbClr val="9FD0C8"/>
            </a:solidFill>
            <a:prstDash val="solid"/>
          </a:ln>
        </p:spPr>
        <p:txBody>
          <a:bodyPr/>
          <a:lstStyle/>
          <a:p>
            <a:endParaRPr lang="es-ES"/>
          </a:p>
        </p:txBody>
      </p:sp>
      <p:sp>
        <p:nvSpPr>
          <p:cNvPr id="29" name="Shape 27"/>
          <p:cNvSpPr/>
          <p:nvPr/>
        </p:nvSpPr>
        <p:spPr>
          <a:xfrm>
            <a:off x="7205472" y="3721608"/>
            <a:ext cx="3200400" cy="0"/>
          </a:xfrm>
          <a:prstGeom prst="line">
            <a:avLst/>
          </a:prstGeom>
          <a:noFill/>
          <a:ln w="25400">
            <a:solidFill>
              <a:srgbClr val="9FD0C8"/>
            </a:solidFill>
            <a:prstDash val="solid"/>
          </a:ln>
        </p:spPr>
        <p:txBody>
          <a:bodyPr/>
          <a:lstStyle/>
          <a:p>
            <a:endParaRPr lang="es-ES"/>
          </a:p>
        </p:txBody>
      </p:sp>
      <p:sp>
        <p:nvSpPr>
          <p:cNvPr id="30" name="Shape 28"/>
          <p:cNvSpPr/>
          <p:nvPr/>
        </p:nvSpPr>
        <p:spPr>
          <a:xfrm>
            <a:off x="7205472" y="3337560"/>
            <a:ext cx="0" cy="384048"/>
          </a:xfrm>
          <a:prstGeom prst="line">
            <a:avLst/>
          </a:prstGeom>
          <a:noFill/>
          <a:ln w="25400">
            <a:solidFill>
              <a:srgbClr val="9FD0C8"/>
            </a:solidFill>
            <a:prstDash val="solid"/>
            <a:headEnd type="triangle"/>
          </a:ln>
        </p:spPr>
        <p:txBody>
          <a:bodyPr/>
          <a:lstStyle/>
          <a:p>
            <a:endParaRPr lang="es-ES"/>
          </a:p>
        </p:txBody>
      </p:sp>
      <p:sp>
        <p:nvSpPr>
          <p:cNvPr id="31" name="Text 29"/>
          <p:cNvSpPr txBox="1"/>
          <p:nvPr/>
        </p:nvSpPr>
        <p:spPr>
          <a:xfrm>
            <a:off x="6519672" y="3794760"/>
            <a:ext cx="4572000" cy="274320"/>
          </a:xfrm>
          <a:prstGeom prst="rect">
            <a:avLst/>
          </a:prstGeom>
          <a:noFill/>
          <a:ln/>
        </p:spPr>
        <p:txBody>
          <a:bodyPr wrap="square" lIns="0" tIns="0" rIns="0" bIns="0" rtlCol="0" anchor="ctr"/>
          <a:lstStyle/>
          <a:p>
            <a:pPr marL="0" indent="0" algn="ctr">
              <a:buNone/>
            </a:pPr>
            <a:r>
              <a:rPr lang="en-US" sz="1300" dirty="0">
                <a:solidFill>
                  <a:srgbClr val="1F7A6D"/>
                </a:solidFill>
                <a:latin typeface="Calibri" pitchFamily="34" charset="0"/>
                <a:ea typeface="Calibri" pitchFamily="34" charset="-122"/>
                <a:cs typeface="Calibri" pitchFamily="34" charset="-120"/>
              </a:rPr>
              <a:t>on practice instances, before any real one</a:t>
            </a:r>
            <a:endParaRPr lang="en-US" sz="1300" dirty="0"/>
          </a:p>
        </p:txBody>
      </p:sp>
      <p:sp>
        <p:nvSpPr>
          <p:cNvPr id="32" name="Text 30"/>
          <p:cNvSpPr txBox="1"/>
          <p:nvPr/>
        </p:nvSpPr>
        <p:spPr>
          <a:xfrm>
            <a:off x="6519672" y="4270248"/>
            <a:ext cx="4572000" cy="100584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The loop runs once, offline: about </a:t>
            </a:r>
            <a:r>
              <a:rPr lang="en-US" sz="1500" b="1" dirty="0">
                <a:solidFill>
                  <a:srgbClr val="4A5568"/>
                </a:solidFill>
                <a:latin typeface="Calibri" pitchFamily="34" charset="0"/>
                <a:ea typeface="Calibri" pitchFamily="34" charset="-122"/>
                <a:cs typeface="Calibri" pitchFamily="34" charset="-120"/>
              </a:rPr>
              <a:t>40 hours</a:t>
            </a:r>
            <a:r>
              <a:rPr lang="en-US" sz="1500" dirty="0">
                <a:solidFill>
                  <a:srgbClr val="4A5568"/>
                </a:solidFill>
                <a:latin typeface="Calibri" pitchFamily="34" charset="0"/>
                <a:ea typeface="Calibri" pitchFamily="34" charset="-122"/>
                <a:cs typeface="Calibri" pitchFamily="34" charset="-120"/>
              </a:rPr>
              <a:t> for the dynamic models. Afterwards a plan takes </a:t>
            </a:r>
            <a:r>
              <a:rPr lang="en-US" sz="1500" b="1" dirty="0">
                <a:solidFill>
                  <a:srgbClr val="4A5568"/>
                </a:solidFill>
                <a:latin typeface="Calibri" pitchFamily="34" charset="0"/>
                <a:ea typeface="Calibri" pitchFamily="34" charset="-122"/>
                <a:cs typeface="Calibri" pitchFamily="34" charset="-120"/>
              </a:rPr>
              <a:t>0.34 s</a:t>
            </a:r>
            <a:r>
              <a:rPr lang="en-US" sz="1500" dirty="0">
                <a:solidFill>
                  <a:srgbClr val="4A5568"/>
                </a:solidFill>
                <a:latin typeface="Calibri" pitchFamily="34" charset="0"/>
                <a:ea typeface="Calibri" pitchFamily="34" charset="-122"/>
                <a:cs typeface="Calibri" pitchFamily="34" charset="-120"/>
              </a:rPr>
              <a:t> (deterministic) to 0.54 s (dynamic, best variant).</a:t>
            </a:r>
            <a:endParaRPr lang="en-US" sz="1500" dirty="0"/>
          </a:p>
        </p:txBody>
      </p:sp>
      <p:sp>
        <p:nvSpPr>
          <p:cNvPr id="33" name="Text 31"/>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The VNS baseline is the one published by Panadero et al. (2020)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493589"/>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Read the map once, then decide stop by stop</a:t>
            </a:r>
            <a:endParaRPr lang="en-US" sz="3200" dirty="0"/>
          </a:p>
        </p:txBody>
      </p:sp>
      <p:sp>
        <p:nvSpPr>
          <p:cNvPr id="3" name="Text 1"/>
          <p:cNvSpPr txBox="1"/>
          <p:nvPr/>
        </p:nvSpPr>
        <p:spPr>
          <a:xfrm>
            <a:off x="822960" y="1600200"/>
            <a:ext cx="1920240" cy="914400"/>
          </a:xfrm>
          <a:prstGeom prst="rect">
            <a:avLst/>
          </a:prstGeom>
          <a:noFill/>
          <a:ln/>
        </p:spPr>
        <p:txBody>
          <a:bodyPr wrap="square" lIns="0" tIns="0" rIns="0" bIns="0" rtlCol="0" anchor="ctr"/>
          <a:lstStyle/>
          <a:p>
            <a:pPr marL="0" indent="0">
              <a:buNone/>
            </a:pPr>
            <a:r>
              <a:rPr lang="en-US" sz="2000" b="1" dirty="0">
                <a:solidFill>
                  <a:srgbClr val="12212B"/>
                </a:solidFill>
                <a:latin typeface="Calibri" pitchFamily="34" charset="0"/>
                <a:ea typeface="Calibri" pitchFamily="34" charset="-122"/>
                <a:cs typeface="Calibri" pitchFamily="34" charset="-120"/>
              </a:rPr>
              <a:t>ONCE</a:t>
            </a:r>
            <a:endParaRPr lang="en-US" sz="2000" dirty="0"/>
          </a:p>
          <a:p>
            <a:pPr marL="0" indent="0">
              <a:buNone/>
            </a:pPr>
            <a:r>
              <a:rPr lang="en-US" sz="1300" dirty="0">
                <a:solidFill>
                  <a:srgbClr val="6B7580"/>
                </a:solidFill>
                <a:latin typeface="Calibri" pitchFamily="34" charset="0"/>
                <a:ea typeface="Calibri" pitchFamily="34" charset="-122"/>
                <a:cs typeface="Calibri" pitchFamily="34" charset="-120"/>
              </a:rPr>
              <a:t>per instance</a:t>
            </a:r>
            <a:endParaRPr lang="en-US" sz="2000" dirty="0"/>
          </a:p>
        </p:txBody>
      </p:sp>
      <p:sp>
        <p:nvSpPr>
          <p:cNvPr id="4" name="Text 2"/>
          <p:cNvSpPr txBox="1"/>
          <p:nvPr/>
        </p:nvSpPr>
        <p:spPr>
          <a:xfrm>
            <a:off x="822960" y="3246120"/>
            <a:ext cx="1920240" cy="914400"/>
          </a:xfrm>
          <a:prstGeom prst="rect">
            <a:avLst/>
          </a:prstGeom>
          <a:noFill/>
          <a:ln/>
        </p:spPr>
        <p:txBody>
          <a:bodyPr wrap="square" lIns="0" tIns="0" rIns="0" bIns="0" rtlCol="0" anchor="ctr"/>
          <a:lstStyle/>
          <a:p>
            <a:pPr marL="0" indent="0">
              <a:buNone/>
            </a:pPr>
            <a:r>
              <a:rPr lang="en-US" sz="2000" b="1" dirty="0">
                <a:solidFill>
                  <a:srgbClr val="1F7A6D"/>
                </a:solidFill>
                <a:latin typeface="Calibri" pitchFamily="34" charset="0"/>
                <a:ea typeface="Calibri" pitchFamily="34" charset="-122"/>
                <a:cs typeface="Calibri" pitchFamily="34" charset="-120"/>
              </a:rPr>
              <a:t>EVERY</a:t>
            </a:r>
            <a:endParaRPr lang="en-US" sz="2000" dirty="0"/>
          </a:p>
          <a:p>
            <a:pPr marL="0" indent="0">
              <a:buNone/>
            </a:pPr>
            <a:r>
              <a:rPr lang="en-US" sz="1300" dirty="0">
                <a:solidFill>
                  <a:srgbClr val="6B7580"/>
                </a:solidFill>
                <a:latin typeface="Calibri" pitchFamily="34" charset="0"/>
                <a:ea typeface="Calibri" pitchFamily="34" charset="-122"/>
                <a:cs typeface="Calibri" pitchFamily="34" charset="-120"/>
              </a:rPr>
              <a:t>step of the route</a:t>
            </a:r>
            <a:endParaRPr lang="en-US" sz="2000" dirty="0"/>
          </a:p>
        </p:txBody>
      </p:sp>
      <p:sp>
        <p:nvSpPr>
          <p:cNvPr id="5" name="Shape 3"/>
          <p:cNvSpPr/>
          <p:nvPr/>
        </p:nvSpPr>
        <p:spPr>
          <a:xfrm>
            <a:off x="2907792" y="1600200"/>
            <a:ext cx="2606040" cy="914400"/>
          </a:xfrm>
          <a:prstGeom prst="roundRect">
            <a:avLst>
              <a:gd name="adj" fmla="val 10000"/>
            </a:avLst>
          </a:prstGeom>
          <a:solidFill>
            <a:srgbClr val="F1EFE6"/>
          </a:solidFill>
          <a:ln w="9525">
            <a:solidFill>
              <a:srgbClr val="DAD6C9"/>
            </a:solidFill>
            <a:prstDash val="solid"/>
          </a:ln>
        </p:spPr>
        <p:txBody>
          <a:bodyPr/>
          <a:lstStyle/>
          <a:p>
            <a:endParaRPr lang="es-ES"/>
          </a:p>
        </p:txBody>
      </p:sp>
      <p:sp>
        <p:nvSpPr>
          <p:cNvPr id="6" name="Text 4"/>
          <p:cNvSpPr txBox="1"/>
          <p:nvPr/>
        </p:nvSpPr>
        <p:spPr>
          <a:xfrm>
            <a:off x="3017520" y="1600200"/>
            <a:ext cx="2386584" cy="914400"/>
          </a:xfrm>
          <a:prstGeom prst="rect">
            <a:avLst/>
          </a:prstGeom>
          <a:noFill/>
          <a:ln/>
        </p:spPr>
        <p:txBody>
          <a:bodyPr wrap="square" lIns="0" tIns="0" rIns="0" bIns="0" rtlCol="0" anchor="ctr"/>
          <a:lstStyle/>
          <a:p>
            <a:pPr marL="0" indent="0" algn="ctr">
              <a:buNone/>
            </a:pPr>
            <a:r>
              <a:rPr lang="en-US" sz="1400" b="1" dirty="0">
                <a:solidFill>
                  <a:srgbClr val="12212B"/>
                </a:solidFill>
                <a:latin typeface="Calibri" pitchFamily="34" charset="0"/>
                <a:ea typeface="Calibri" pitchFamily="34" charset="-122"/>
                <a:cs typeface="Calibri" pitchFamily="34" charset="-120"/>
              </a:rPr>
              <a:t>The instance: stops, rewards, vehicle budgets</a:t>
            </a:r>
            <a:endParaRPr lang="en-US" sz="1400" dirty="0"/>
          </a:p>
        </p:txBody>
      </p:sp>
      <p:sp>
        <p:nvSpPr>
          <p:cNvPr id="7" name="Shape 5"/>
          <p:cNvSpPr/>
          <p:nvPr/>
        </p:nvSpPr>
        <p:spPr>
          <a:xfrm>
            <a:off x="5541264" y="2057400"/>
            <a:ext cx="265176" cy="0"/>
          </a:xfrm>
          <a:prstGeom prst="line">
            <a:avLst/>
          </a:prstGeom>
          <a:noFill/>
          <a:ln w="25400">
            <a:solidFill>
              <a:srgbClr val="B0B7BE"/>
            </a:solidFill>
            <a:prstDash val="solid"/>
            <a:tailEnd type="triangle"/>
          </a:ln>
        </p:spPr>
        <p:txBody>
          <a:bodyPr/>
          <a:lstStyle/>
          <a:p>
            <a:endParaRPr lang="es-ES"/>
          </a:p>
        </p:txBody>
      </p:sp>
      <p:sp>
        <p:nvSpPr>
          <p:cNvPr id="8" name="Shape 6"/>
          <p:cNvSpPr/>
          <p:nvPr/>
        </p:nvSpPr>
        <p:spPr>
          <a:xfrm>
            <a:off x="5833872" y="1600200"/>
            <a:ext cx="2606040" cy="914400"/>
          </a:xfrm>
          <a:prstGeom prst="roundRect">
            <a:avLst>
              <a:gd name="adj" fmla="val 10000"/>
            </a:avLst>
          </a:prstGeom>
          <a:solidFill>
            <a:srgbClr val="F1EFE6"/>
          </a:solidFill>
          <a:ln w="9525">
            <a:solidFill>
              <a:srgbClr val="DAD6C9"/>
            </a:solidFill>
            <a:prstDash val="solid"/>
          </a:ln>
        </p:spPr>
        <p:txBody>
          <a:bodyPr/>
          <a:lstStyle/>
          <a:p>
            <a:endParaRPr lang="es-ES"/>
          </a:p>
        </p:txBody>
      </p:sp>
      <p:sp>
        <p:nvSpPr>
          <p:cNvPr id="9" name="Text 7"/>
          <p:cNvSpPr txBox="1"/>
          <p:nvPr/>
        </p:nvSpPr>
        <p:spPr>
          <a:xfrm>
            <a:off x="5943600" y="1600200"/>
            <a:ext cx="2386584" cy="914400"/>
          </a:xfrm>
          <a:prstGeom prst="rect">
            <a:avLst/>
          </a:prstGeom>
          <a:noFill/>
          <a:ln/>
        </p:spPr>
        <p:txBody>
          <a:bodyPr wrap="square" lIns="0" tIns="0" rIns="0" bIns="0" rtlCol="0" anchor="ctr"/>
          <a:lstStyle/>
          <a:p>
            <a:pPr marL="0" indent="0" algn="ctr">
              <a:buNone/>
            </a:pPr>
            <a:r>
              <a:rPr lang="en-US" sz="1400" b="1" dirty="0">
                <a:solidFill>
                  <a:srgbClr val="12212B"/>
                </a:solidFill>
                <a:latin typeface="Calibri" pitchFamily="34" charset="0"/>
                <a:ea typeface="Calibri" pitchFamily="34" charset="-122"/>
                <a:cs typeface="Calibri" pitchFamily="34" charset="-120"/>
              </a:rPr>
              <a:t>Embed: each stop and vehicle becomes a vector</a:t>
            </a:r>
            <a:endParaRPr lang="en-US" sz="1400" dirty="0"/>
          </a:p>
        </p:txBody>
      </p:sp>
      <p:sp>
        <p:nvSpPr>
          <p:cNvPr id="10" name="Shape 8"/>
          <p:cNvSpPr/>
          <p:nvPr/>
        </p:nvSpPr>
        <p:spPr>
          <a:xfrm>
            <a:off x="8467344" y="2057400"/>
            <a:ext cx="265176" cy="0"/>
          </a:xfrm>
          <a:prstGeom prst="line">
            <a:avLst/>
          </a:prstGeom>
          <a:noFill/>
          <a:ln w="25400">
            <a:solidFill>
              <a:srgbClr val="B0B7BE"/>
            </a:solidFill>
            <a:prstDash val="solid"/>
            <a:tailEnd type="triangle"/>
          </a:ln>
        </p:spPr>
        <p:txBody>
          <a:bodyPr/>
          <a:lstStyle/>
          <a:p>
            <a:endParaRPr lang="es-ES"/>
          </a:p>
        </p:txBody>
      </p:sp>
      <p:sp>
        <p:nvSpPr>
          <p:cNvPr id="11" name="Shape 9"/>
          <p:cNvSpPr/>
          <p:nvPr/>
        </p:nvSpPr>
        <p:spPr>
          <a:xfrm>
            <a:off x="8759952" y="1600200"/>
            <a:ext cx="2606040" cy="914400"/>
          </a:xfrm>
          <a:prstGeom prst="roundRect">
            <a:avLst>
              <a:gd name="adj" fmla="val 10000"/>
            </a:avLst>
          </a:prstGeom>
          <a:solidFill>
            <a:srgbClr val="F1EFE6"/>
          </a:solidFill>
          <a:ln w="9525">
            <a:solidFill>
              <a:srgbClr val="DAD6C9"/>
            </a:solidFill>
            <a:prstDash val="solid"/>
          </a:ln>
        </p:spPr>
        <p:txBody>
          <a:bodyPr/>
          <a:lstStyle/>
          <a:p>
            <a:endParaRPr lang="es-ES"/>
          </a:p>
        </p:txBody>
      </p:sp>
      <p:sp>
        <p:nvSpPr>
          <p:cNvPr id="12" name="Text 10"/>
          <p:cNvSpPr txBox="1"/>
          <p:nvPr/>
        </p:nvSpPr>
        <p:spPr>
          <a:xfrm>
            <a:off x="8869680" y="1600200"/>
            <a:ext cx="2386584" cy="914400"/>
          </a:xfrm>
          <a:prstGeom prst="rect">
            <a:avLst/>
          </a:prstGeom>
          <a:noFill/>
          <a:ln/>
        </p:spPr>
        <p:txBody>
          <a:bodyPr wrap="square" lIns="0" tIns="0" rIns="0" bIns="0" rtlCol="0" anchor="ctr"/>
          <a:lstStyle/>
          <a:p>
            <a:pPr marL="0" indent="0" algn="ctr">
              <a:buNone/>
            </a:pPr>
            <a:r>
              <a:rPr lang="en-US" sz="1400" b="1" dirty="0">
                <a:solidFill>
                  <a:srgbClr val="12212B"/>
                </a:solidFill>
                <a:latin typeface="Calibri" pitchFamily="34" charset="0"/>
                <a:ea typeface="Calibri" pitchFamily="34" charset="-122"/>
                <a:cs typeface="Calibri" pitchFamily="34" charset="-120"/>
              </a:rPr>
              <a:t>Encode: attention relates every stop to the rest</a:t>
            </a:r>
            <a:endParaRPr lang="en-US" sz="1400" dirty="0"/>
          </a:p>
        </p:txBody>
      </p:sp>
      <p:sp>
        <p:nvSpPr>
          <p:cNvPr id="13" name="Shape 11"/>
          <p:cNvSpPr/>
          <p:nvPr/>
        </p:nvSpPr>
        <p:spPr>
          <a:xfrm>
            <a:off x="2907792" y="3246120"/>
            <a:ext cx="2606040" cy="914400"/>
          </a:xfrm>
          <a:prstGeom prst="roundRect">
            <a:avLst>
              <a:gd name="adj" fmla="val 10000"/>
            </a:avLst>
          </a:prstGeom>
          <a:solidFill>
            <a:srgbClr val="E4F1EE"/>
          </a:solidFill>
          <a:ln w="9525">
            <a:solidFill>
              <a:srgbClr val="9FD0C8"/>
            </a:solidFill>
            <a:prstDash val="solid"/>
          </a:ln>
        </p:spPr>
        <p:txBody>
          <a:bodyPr/>
          <a:lstStyle/>
          <a:p>
            <a:endParaRPr lang="es-ES"/>
          </a:p>
        </p:txBody>
      </p:sp>
      <p:sp>
        <p:nvSpPr>
          <p:cNvPr id="14" name="Text 12"/>
          <p:cNvSpPr txBox="1"/>
          <p:nvPr/>
        </p:nvSpPr>
        <p:spPr>
          <a:xfrm>
            <a:off x="3017520" y="3246120"/>
            <a:ext cx="2386584" cy="914400"/>
          </a:xfrm>
          <a:prstGeom prst="rect">
            <a:avLst/>
          </a:prstGeom>
          <a:noFill/>
          <a:ln/>
        </p:spPr>
        <p:txBody>
          <a:bodyPr wrap="square" lIns="0" tIns="0" rIns="0" bIns="0" rtlCol="0" anchor="ctr"/>
          <a:lstStyle/>
          <a:p>
            <a:pPr marL="0" indent="0" algn="ctr">
              <a:buNone/>
            </a:pPr>
            <a:r>
              <a:rPr lang="en-US" sz="1400" b="1" dirty="0">
                <a:solidFill>
                  <a:srgbClr val="12212B"/>
                </a:solidFill>
                <a:latin typeface="Calibri" pitchFamily="34" charset="0"/>
                <a:ea typeface="Calibri" pitchFamily="34" charset="-122"/>
                <a:cs typeface="Calibri" pitchFamily="34" charset="-120"/>
              </a:rPr>
              <a:t>Refresh the state: masked attention hides visited stops and finished vehicles</a:t>
            </a:r>
            <a:endParaRPr lang="en-US" sz="1400" dirty="0"/>
          </a:p>
        </p:txBody>
      </p:sp>
      <p:sp>
        <p:nvSpPr>
          <p:cNvPr id="15" name="Shape 13"/>
          <p:cNvSpPr/>
          <p:nvPr/>
        </p:nvSpPr>
        <p:spPr>
          <a:xfrm>
            <a:off x="5541264" y="3703320"/>
            <a:ext cx="265176" cy="0"/>
          </a:xfrm>
          <a:prstGeom prst="line">
            <a:avLst/>
          </a:prstGeom>
          <a:noFill/>
          <a:ln w="25400">
            <a:solidFill>
              <a:srgbClr val="2A9D8F"/>
            </a:solidFill>
            <a:prstDash val="solid"/>
            <a:tailEnd type="triangle"/>
          </a:ln>
        </p:spPr>
        <p:txBody>
          <a:bodyPr/>
          <a:lstStyle/>
          <a:p>
            <a:endParaRPr lang="es-ES"/>
          </a:p>
        </p:txBody>
      </p:sp>
      <p:sp>
        <p:nvSpPr>
          <p:cNvPr id="16" name="Shape 14"/>
          <p:cNvSpPr/>
          <p:nvPr/>
        </p:nvSpPr>
        <p:spPr>
          <a:xfrm>
            <a:off x="5833872" y="3246120"/>
            <a:ext cx="2606040" cy="914400"/>
          </a:xfrm>
          <a:prstGeom prst="roundRect">
            <a:avLst>
              <a:gd name="adj" fmla="val 10000"/>
            </a:avLst>
          </a:prstGeom>
          <a:solidFill>
            <a:srgbClr val="E4F1EE"/>
          </a:solidFill>
          <a:ln w="9525">
            <a:solidFill>
              <a:srgbClr val="9FD0C8"/>
            </a:solidFill>
            <a:prstDash val="solid"/>
          </a:ln>
        </p:spPr>
        <p:txBody>
          <a:bodyPr/>
          <a:lstStyle/>
          <a:p>
            <a:endParaRPr lang="es-ES"/>
          </a:p>
        </p:txBody>
      </p:sp>
      <p:sp>
        <p:nvSpPr>
          <p:cNvPr id="17" name="Text 15"/>
          <p:cNvSpPr txBox="1"/>
          <p:nvPr/>
        </p:nvSpPr>
        <p:spPr>
          <a:xfrm>
            <a:off x="5943600" y="3246120"/>
            <a:ext cx="2386584" cy="914400"/>
          </a:xfrm>
          <a:prstGeom prst="rect">
            <a:avLst/>
          </a:prstGeom>
          <a:noFill/>
          <a:ln/>
        </p:spPr>
        <p:txBody>
          <a:bodyPr wrap="square" lIns="0" tIns="0" rIns="0" bIns="0" rtlCol="0" anchor="ctr"/>
          <a:lstStyle/>
          <a:p>
            <a:pPr marL="0" indent="0" algn="ctr">
              <a:buNone/>
            </a:pPr>
            <a:r>
              <a:rPr lang="en-US" sz="1400" b="1" dirty="0">
                <a:solidFill>
                  <a:srgbClr val="12212B"/>
                </a:solidFill>
                <a:latin typeface="Calibri" pitchFamily="34" charset="0"/>
                <a:ea typeface="Calibri" pitchFamily="34" charset="-122"/>
                <a:cs typeface="Calibri" pitchFamily="34" charset="-120"/>
              </a:rPr>
              <a:t>Build the context: where am I, how much time is left, what did I do before</a:t>
            </a:r>
            <a:endParaRPr lang="en-US" sz="1400" dirty="0"/>
          </a:p>
        </p:txBody>
      </p:sp>
      <p:sp>
        <p:nvSpPr>
          <p:cNvPr id="18" name="Shape 16"/>
          <p:cNvSpPr/>
          <p:nvPr/>
        </p:nvSpPr>
        <p:spPr>
          <a:xfrm>
            <a:off x="8467344" y="3703320"/>
            <a:ext cx="265176" cy="0"/>
          </a:xfrm>
          <a:prstGeom prst="line">
            <a:avLst/>
          </a:prstGeom>
          <a:noFill/>
          <a:ln w="25400">
            <a:solidFill>
              <a:srgbClr val="2A9D8F"/>
            </a:solidFill>
            <a:prstDash val="solid"/>
            <a:tailEnd type="triangle"/>
          </a:ln>
        </p:spPr>
        <p:txBody>
          <a:bodyPr/>
          <a:lstStyle/>
          <a:p>
            <a:endParaRPr lang="es-ES"/>
          </a:p>
        </p:txBody>
      </p:sp>
      <p:sp>
        <p:nvSpPr>
          <p:cNvPr id="19" name="Shape 17"/>
          <p:cNvSpPr/>
          <p:nvPr/>
        </p:nvSpPr>
        <p:spPr>
          <a:xfrm>
            <a:off x="8759952" y="3246120"/>
            <a:ext cx="2606040" cy="914400"/>
          </a:xfrm>
          <a:prstGeom prst="roundRect">
            <a:avLst>
              <a:gd name="adj" fmla="val 10000"/>
            </a:avLst>
          </a:prstGeom>
          <a:solidFill>
            <a:srgbClr val="E4F1EE"/>
          </a:solidFill>
          <a:ln w="25400">
            <a:solidFill>
              <a:srgbClr val="E07040"/>
            </a:solidFill>
            <a:prstDash val="solid"/>
          </a:ln>
        </p:spPr>
        <p:txBody>
          <a:bodyPr/>
          <a:lstStyle/>
          <a:p>
            <a:endParaRPr lang="es-ES"/>
          </a:p>
        </p:txBody>
      </p:sp>
      <p:sp>
        <p:nvSpPr>
          <p:cNvPr id="20" name="Text 18"/>
          <p:cNvSpPr txBox="1"/>
          <p:nvPr/>
        </p:nvSpPr>
        <p:spPr>
          <a:xfrm>
            <a:off x="8869680" y="3246120"/>
            <a:ext cx="2386584" cy="914400"/>
          </a:xfrm>
          <a:prstGeom prst="rect">
            <a:avLst/>
          </a:prstGeom>
          <a:noFill/>
          <a:ln/>
        </p:spPr>
        <p:txBody>
          <a:bodyPr wrap="square" lIns="0" tIns="0" rIns="0" bIns="0" rtlCol="0" anchor="ctr"/>
          <a:lstStyle/>
          <a:p>
            <a:pPr marL="0" indent="0" algn="ctr">
              <a:buNone/>
            </a:pPr>
            <a:r>
              <a:rPr lang="en-US" sz="1400" b="1" dirty="0">
                <a:solidFill>
                  <a:srgbClr val="12212B"/>
                </a:solidFill>
                <a:latin typeface="Calibri" pitchFamily="34" charset="0"/>
                <a:ea typeface="Calibri" pitchFamily="34" charset="-122"/>
                <a:cs typeface="Calibri" pitchFamily="34" charset="-120"/>
              </a:rPr>
              <a:t>Which stops can I reach and still get home? Pick one and move</a:t>
            </a:r>
            <a:endParaRPr lang="en-US" sz="1400" dirty="0"/>
          </a:p>
        </p:txBody>
      </p:sp>
      <p:sp>
        <p:nvSpPr>
          <p:cNvPr id="21" name="Shape 19"/>
          <p:cNvSpPr/>
          <p:nvPr/>
        </p:nvSpPr>
        <p:spPr>
          <a:xfrm>
            <a:off x="10062972" y="2514600"/>
            <a:ext cx="0" cy="502920"/>
          </a:xfrm>
          <a:prstGeom prst="line">
            <a:avLst/>
          </a:prstGeom>
          <a:noFill/>
          <a:ln w="25400">
            <a:solidFill>
              <a:srgbClr val="B0B7BE"/>
            </a:solidFill>
            <a:prstDash val="solid"/>
          </a:ln>
        </p:spPr>
        <p:txBody>
          <a:bodyPr/>
          <a:lstStyle/>
          <a:p>
            <a:endParaRPr lang="es-ES"/>
          </a:p>
        </p:txBody>
      </p:sp>
      <p:sp>
        <p:nvSpPr>
          <p:cNvPr id="22" name="Shape 20"/>
          <p:cNvSpPr/>
          <p:nvPr/>
        </p:nvSpPr>
        <p:spPr>
          <a:xfrm>
            <a:off x="4210812" y="3017520"/>
            <a:ext cx="5852160" cy="0"/>
          </a:xfrm>
          <a:prstGeom prst="line">
            <a:avLst/>
          </a:prstGeom>
          <a:noFill/>
          <a:ln w="25400">
            <a:solidFill>
              <a:srgbClr val="B0B7BE"/>
            </a:solidFill>
            <a:prstDash val="solid"/>
          </a:ln>
        </p:spPr>
        <p:txBody>
          <a:bodyPr/>
          <a:lstStyle/>
          <a:p>
            <a:endParaRPr lang="es-ES"/>
          </a:p>
        </p:txBody>
      </p:sp>
      <p:sp>
        <p:nvSpPr>
          <p:cNvPr id="23" name="Shape 21"/>
          <p:cNvSpPr/>
          <p:nvPr/>
        </p:nvSpPr>
        <p:spPr>
          <a:xfrm>
            <a:off x="4210812" y="3017520"/>
            <a:ext cx="0" cy="228600"/>
          </a:xfrm>
          <a:prstGeom prst="line">
            <a:avLst/>
          </a:prstGeom>
          <a:noFill/>
          <a:ln w="25400">
            <a:solidFill>
              <a:srgbClr val="B0B7BE"/>
            </a:solidFill>
            <a:prstDash val="solid"/>
            <a:tailEnd type="triangle"/>
          </a:ln>
        </p:spPr>
        <p:txBody>
          <a:bodyPr/>
          <a:lstStyle/>
          <a:p>
            <a:endParaRPr lang="es-ES"/>
          </a:p>
        </p:txBody>
      </p:sp>
      <p:sp>
        <p:nvSpPr>
          <p:cNvPr id="24" name="Shape 22"/>
          <p:cNvSpPr/>
          <p:nvPr/>
        </p:nvSpPr>
        <p:spPr>
          <a:xfrm>
            <a:off x="10062972" y="4160520"/>
            <a:ext cx="0" cy="384048"/>
          </a:xfrm>
          <a:prstGeom prst="line">
            <a:avLst/>
          </a:prstGeom>
          <a:noFill/>
          <a:ln w="25400">
            <a:solidFill>
              <a:srgbClr val="9FD0C8"/>
            </a:solidFill>
            <a:prstDash val="solid"/>
          </a:ln>
        </p:spPr>
        <p:txBody>
          <a:bodyPr/>
          <a:lstStyle/>
          <a:p>
            <a:endParaRPr lang="es-ES"/>
          </a:p>
        </p:txBody>
      </p:sp>
      <p:sp>
        <p:nvSpPr>
          <p:cNvPr id="25" name="Shape 23"/>
          <p:cNvSpPr/>
          <p:nvPr/>
        </p:nvSpPr>
        <p:spPr>
          <a:xfrm>
            <a:off x="4210812" y="4544568"/>
            <a:ext cx="5852160" cy="0"/>
          </a:xfrm>
          <a:prstGeom prst="line">
            <a:avLst/>
          </a:prstGeom>
          <a:noFill/>
          <a:ln w="25400">
            <a:solidFill>
              <a:srgbClr val="9FD0C8"/>
            </a:solidFill>
            <a:prstDash val="solid"/>
          </a:ln>
        </p:spPr>
        <p:txBody>
          <a:bodyPr/>
          <a:lstStyle/>
          <a:p>
            <a:endParaRPr lang="es-ES"/>
          </a:p>
        </p:txBody>
      </p:sp>
      <p:sp>
        <p:nvSpPr>
          <p:cNvPr id="26" name="Shape 24"/>
          <p:cNvSpPr/>
          <p:nvPr/>
        </p:nvSpPr>
        <p:spPr>
          <a:xfrm>
            <a:off x="4210812" y="4160520"/>
            <a:ext cx="0" cy="384048"/>
          </a:xfrm>
          <a:prstGeom prst="line">
            <a:avLst/>
          </a:prstGeom>
          <a:noFill/>
          <a:ln w="25400">
            <a:solidFill>
              <a:srgbClr val="9FD0C8"/>
            </a:solidFill>
            <a:prstDash val="solid"/>
            <a:headEnd type="triangle"/>
          </a:ln>
        </p:spPr>
        <p:txBody>
          <a:bodyPr/>
          <a:lstStyle/>
          <a:p>
            <a:endParaRPr lang="es-ES"/>
          </a:p>
        </p:txBody>
      </p:sp>
      <p:sp>
        <p:nvSpPr>
          <p:cNvPr id="27" name="Text 25"/>
          <p:cNvSpPr txBox="1"/>
          <p:nvPr/>
        </p:nvSpPr>
        <p:spPr>
          <a:xfrm>
            <a:off x="4210812" y="4599432"/>
            <a:ext cx="5852160" cy="274320"/>
          </a:xfrm>
          <a:prstGeom prst="rect">
            <a:avLst/>
          </a:prstGeom>
          <a:noFill/>
          <a:ln/>
        </p:spPr>
        <p:txBody>
          <a:bodyPr wrap="square" lIns="0" tIns="0" rIns="0" bIns="0" rtlCol="0" anchor="ctr"/>
          <a:lstStyle/>
          <a:p>
            <a:pPr marL="0" indent="0" algn="ctr">
              <a:buNone/>
            </a:pPr>
            <a:r>
              <a:rPr lang="en-US" sz="1400" dirty="0">
                <a:solidFill>
                  <a:srgbClr val="1F7A6D"/>
                </a:solidFill>
                <a:latin typeface="Calibri" pitchFamily="34" charset="0"/>
                <a:ea typeface="Calibri" pitchFamily="34" charset="-122"/>
                <a:cs typeface="Calibri" pitchFamily="34" charset="-120"/>
              </a:rPr>
              <a:t>until every vehicle is back at the end depot</a:t>
            </a:r>
            <a:endParaRPr lang="en-US" sz="1400" dirty="0"/>
          </a:p>
        </p:txBody>
      </p:sp>
      <p:sp>
        <p:nvSpPr>
          <p:cNvPr id="28" name="Text 26"/>
          <p:cNvSpPr txBox="1"/>
          <p:nvPr/>
        </p:nvSpPr>
        <p:spPr>
          <a:xfrm>
            <a:off x="822960" y="5440680"/>
            <a:ext cx="10543032" cy="54864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The embeddings are fixed per instance. At each step only the visited-stop mask, the context and the list of allowed stops change.</a:t>
            </a:r>
            <a:endParaRPr lang="en-US" sz="1500" dirty="0"/>
          </a:p>
        </p:txBody>
      </p:sp>
      <p:sp>
        <p:nvSpPr>
          <p:cNvPr id="29" name="Text 27"/>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Encoder–decoder transformer, as in Vaswani et al. and Kool et 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The idea that makes it work</a:t>
            </a:r>
            <a:endParaRPr lang="en-US" sz="3200" dirty="0"/>
          </a:p>
        </p:txBody>
      </p:sp>
      <p:sp>
        <p:nvSpPr>
          <p:cNvPr id="3" name="Shape 1"/>
          <p:cNvSpPr/>
          <p:nvPr/>
        </p:nvSpPr>
        <p:spPr>
          <a:xfrm>
            <a:off x="822960" y="1554480"/>
            <a:ext cx="10543032" cy="1463040"/>
          </a:xfrm>
          <a:prstGeom prst="roundRect">
            <a:avLst>
              <a:gd name="adj" fmla="val 7500"/>
            </a:avLst>
          </a:prstGeom>
          <a:solidFill>
            <a:srgbClr val="FDFCF8"/>
          </a:solidFill>
          <a:ln w="9525">
            <a:solidFill>
              <a:srgbClr val="E6E3DA"/>
            </a:solidFill>
            <a:prstDash val="solid"/>
          </a:ln>
        </p:spPr>
        <p:txBody>
          <a:bodyPr/>
          <a:lstStyle/>
          <a:p>
            <a:endParaRPr lang="es-ES"/>
          </a:p>
        </p:txBody>
      </p:sp>
      <p:sp>
        <p:nvSpPr>
          <p:cNvPr id="4" name="Text 2"/>
          <p:cNvSpPr txBox="1"/>
          <p:nvPr/>
        </p:nvSpPr>
        <p:spPr>
          <a:xfrm>
            <a:off x="822960" y="1810512"/>
            <a:ext cx="10543032" cy="274320"/>
          </a:xfrm>
          <a:prstGeom prst="rect">
            <a:avLst/>
          </a:prstGeom>
          <a:noFill/>
          <a:ln/>
        </p:spPr>
        <p:txBody>
          <a:bodyPr wrap="square" lIns="0" tIns="0" rIns="0" bIns="0" rtlCol="0" anchor="ctr"/>
          <a:lstStyle/>
          <a:p>
            <a:pPr marL="0" indent="0" algn="ctr">
              <a:buNone/>
            </a:pPr>
            <a:r>
              <a:rPr lang="en-US" sz="1200" b="1" kern="0" spc="200" dirty="0">
                <a:solidFill>
                  <a:srgbClr val="6B7580"/>
                </a:solidFill>
                <a:latin typeface="Calibri" pitchFamily="34" charset="0"/>
                <a:ea typeface="Calibri" pitchFamily="34" charset="-122"/>
                <a:cs typeface="Calibri" pitchFamily="34" charset="-120"/>
              </a:rPr>
              <a:t>A STOP IS OFFERED ONLY IF</a:t>
            </a:r>
            <a:endParaRPr lang="en-US" sz="1200" dirty="0"/>
          </a:p>
        </p:txBody>
      </p:sp>
      <p:sp>
        <p:nvSpPr>
          <p:cNvPr id="5" name="Text 3"/>
          <p:cNvSpPr txBox="1"/>
          <p:nvPr/>
        </p:nvSpPr>
        <p:spPr>
          <a:xfrm>
            <a:off x="822960" y="2148840"/>
            <a:ext cx="10543032" cy="640080"/>
          </a:xfrm>
          <a:prstGeom prst="rect">
            <a:avLst/>
          </a:prstGeom>
          <a:noFill/>
          <a:ln/>
        </p:spPr>
        <p:txBody>
          <a:bodyPr wrap="square" lIns="0" tIns="0" rIns="0" bIns="0" rtlCol="0" anchor="ctr"/>
          <a:lstStyle/>
          <a:p>
            <a:pPr marL="0" indent="0" algn="ctr">
              <a:buNone/>
            </a:pPr>
            <a:r>
              <a:rPr lang="en-US" sz="2600" dirty="0">
                <a:solidFill>
                  <a:srgbClr val="12212B"/>
                </a:solidFill>
                <a:latin typeface="Arial" pitchFamily="34" charset="0"/>
                <a:ea typeface="Arial" pitchFamily="34" charset="-122"/>
                <a:cs typeface="Arial" pitchFamily="34" charset="-120"/>
              </a:rPr>
              <a:t>cost to reach it + cost to get home from it ≤ time left</a:t>
            </a:r>
            <a:endParaRPr lang="en-US" sz="2600" dirty="0"/>
          </a:p>
        </p:txBody>
      </p:sp>
      <p:sp>
        <p:nvSpPr>
          <p:cNvPr id="6" name="Text 4"/>
          <p:cNvSpPr txBox="1"/>
          <p:nvPr/>
        </p:nvSpPr>
        <p:spPr>
          <a:xfrm>
            <a:off x="822960" y="3337560"/>
            <a:ext cx="5029200" cy="365760"/>
          </a:xfrm>
          <a:prstGeom prst="rect">
            <a:avLst/>
          </a:prstGeom>
          <a:noFill/>
          <a:ln/>
        </p:spPr>
        <p:txBody>
          <a:bodyPr wrap="square" lIns="0" tIns="0" rIns="0" bIns="0" rtlCol="0" anchor="ctr"/>
          <a:lstStyle/>
          <a:p>
            <a:pPr marL="0" indent="0">
              <a:buNone/>
            </a:pPr>
            <a:r>
              <a:rPr lang="en-US" sz="2000" b="1" dirty="0">
                <a:solidFill>
                  <a:srgbClr val="1F7A6D"/>
                </a:solidFill>
                <a:latin typeface="Calibri" pitchFamily="34" charset="0"/>
                <a:ea typeface="Calibri" pitchFamily="34" charset="-122"/>
                <a:cs typeface="Calibri" pitchFamily="34" charset="-120"/>
              </a:rPr>
              <a:t>The way there is predicted</a:t>
            </a:r>
            <a:endParaRPr lang="en-US" sz="2000" dirty="0"/>
          </a:p>
        </p:txBody>
      </p:sp>
      <p:sp>
        <p:nvSpPr>
          <p:cNvPr id="7" name="Text 5"/>
          <p:cNvSpPr txBox="1"/>
          <p:nvPr/>
        </p:nvSpPr>
        <p:spPr>
          <a:xfrm>
            <a:off x="822960" y="3749040"/>
            <a:ext cx="5029200" cy="731520"/>
          </a:xfrm>
          <a:prstGeom prst="rect">
            <a:avLst/>
          </a:prstGeom>
          <a:noFill/>
          <a:ln/>
        </p:spPr>
        <p:txBody>
          <a:bodyPr wrap="square" lIns="0" tIns="0" rIns="0" bIns="0" rtlCol="0" anchor="t"/>
          <a:lstStyle/>
          <a:p>
            <a:pPr marL="0" indent="0">
              <a:buNone/>
            </a:pPr>
            <a:r>
              <a:rPr lang="en-US" sz="1600" dirty="0">
                <a:solidFill>
                  <a:srgbClr val="4A5568"/>
                </a:solidFill>
                <a:latin typeface="Calibri" pitchFamily="34" charset="0"/>
                <a:ea typeface="Calibri" pitchFamily="34" charset="-122"/>
                <a:cs typeface="Calibri" pitchFamily="34" charset="-120"/>
              </a:rPr>
              <a:t>A small network (an MLP) estimates what traffic and weather will cost on that exact segment.</a:t>
            </a:r>
            <a:endParaRPr lang="en-US" sz="1600" dirty="0"/>
          </a:p>
        </p:txBody>
      </p:sp>
      <p:sp>
        <p:nvSpPr>
          <p:cNvPr id="8" name="Text 6"/>
          <p:cNvSpPr txBox="1"/>
          <p:nvPr/>
        </p:nvSpPr>
        <p:spPr>
          <a:xfrm>
            <a:off x="6336792" y="3337560"/>
            <a:ext cx="5029200" cy="365760"/>
          </a:xfrm>
          <a:prstGeom prst="rect">
            <a:avLst/>
          </a:prstGeom>
          <a:noFill/>
          <a:ln/>
        </p:spPr>
        <p:txBody>
          <a:bodyPr wrap="square" lIns="0" tIns="0" rIns="0" bIns="0" rtlCol="0" anchor="ctr"/>
          <a:lstStyle/>
          <a:p>
            <a:pPr marL="0" indent="0">
              <a:buNone/>
            </a:pPr>
            <a:r>
              <a:rPr lang="en-US" sz="2000" b="1" dirty="0">
                <a:solidFill>
                  <a:srgbClr val="B5471E"/>
                </a:solidFill>
                <a:latin typeface="Calibri" pitchFamily="34" charset="0"/>
                <a:ea typeface="Calibri" pitchFamily="34" charset="-122"/>
                <a:cs typeface="Calibri" pitchFamily="34" charset="-120"/>
              </a:rPr>
              <a:t>The way home is guessed high</a:t>
            </a:r>
            <a:endParaRPr lang="en-US" sz="2000" dirty="0"/>
          </a:p>
        </p:txBody>
      </p:sp>
      <p:sp>
        <p:nvSpPr>
          <p:cNvPr id="9" name="Text 7"/>
          <p:cNvSpPr txBox="1"/>
          <p:nvPr/>
        </p:nvSpPr>
        <p:spPr>
          <a:xfrm>
            <a:off x="6336792" y="3749040"/>
            <a:ext cx="5029200" cy="731520"/>
          </a:xfrm>
          <a:prstGeom prst="rect">
            <a:avLst/>
          </a:prstGeom>
          <a:noFill/>
          <a:ln/>
        </p:spPr>
        <p:txBody>
          <a:bodyPr wrap="square" lIns="0" tIns="0" rIns="0" bIns="0" rtlCol="0" anchor="t"/>
          <a:lstStyle/>
          <a:p>
            <a:pPr marL="0" indent="0">
              <a:buNone/>
            </a:pPr>
            <a:r>
              <a:rPr lang="en-US" sz="1600" dirty="0">
                <a:solidFill>
                  <a:srgbClr val="4A5568"/>
                </a:solidFill>
                <a:latin typeface="Calibri" pitchFamily="34" charset="0"/>
                <a:ea typeface="Calibri" pitchFamily="34" charset="-122"/>
                <a:cs typeface="Calibri" pitchFamily="34" charset="-120"/>
              </a:rPr>
              <a:t>Conditions later on cannot be known, so the plain distance is inflated by a learned worst-case factor.</a:t>
            </a:r>
            <a:endParaRPr lang="en-US" sz="1600" dirty="0"/>
          </a:p>
        </p:txBody>
      </p:sp>
      <p:sp>
        <p:nvSpPr>
          <p:cNvPr id="10" name="Text 8"/>
          <p:cNvSpPr txBox="1"/>
          <p:nvPr/>
        </p:nvSpPr>
        <p:spPr>
          <a:xfrm>
            <a:off x="822960" y="4663440"/>
            <a:ext cx="10543032" cy="365760"/>
          </a:xfrm>
          <a:prstGeom prst="rect">
            <a:avLst/>
          </a:prstGeom>
          <a:noFill/>
          <a:ln/>
        </p:spPr>
        <p:txBody>
          <a:bodyPr wrap="square" lIns="0" tIns="0" rIns="0" bIns="0" rtlCol="0" anchor="ctr"/>
          <a:lstStyle/>
          <a:p>
            <a:pPr marL="0" indent="0">
              <a:buNone/>
            </a:pPr>
            <a:r>
              <a:rPr lang="en-US" sz="1600" dirty="0">
                <a:solidFill>
                  <a:srgbClr val="4A5568"/>
                </a:solidFill>
                <a:latin typeface="Calibri" pitchFamily="34" charset="0"/>
                <a:ea typeface="Calibri" pitchFamily="34" charset="-122"/>
                <a:cs typeface="Calibri" pitchFamily="34" charset="-120"/>
              </a:rPr>
              <a:t>One loss trains both: REINFORCE for the routing, mean squared error for the prediction, joined by a weight λ.</a:t>
            </a:r>
            <a:endParaRPr lang="en-US" sz="1600" dirty="0"/>
          </a:p>
        </p:txBody>
      </p:sp>
      <p:sp>
        <p:nvSpPr>
          <p:cNvPr id="11" name="Shape 9"/>
          <p:cNvSpPr/>
          <p:nvPr/>
        </p:nvSpPr>
        <p:spPr>
          <a:xfrm>
            <a:off x="822960" y="5166360"/>
            <a:ext cx="10543032" cy="685800"/>
          </a:xfrm>
          <a:prstGeom prst="roundRect">
            <a:avLst>
              <a:gd name="adj" fmla="val 16000"/>
            </a:avLst>
          </a:prstGeom>
          <a:solidFill>
            <a:srgbClr val="F1EFE6"/>
          </a:solidFill>
          <a:ln w="9525">
            <a:solidFill>
              <a:srgbClr val="DAD6C9"/>
            </a:solidFill>
            <a:prstDash val="solid"/>
          </a:ln>
        </p:spPr>
        <p:txBody>
          <a:bodyPr/>
          <a:lstStyle/>
          <a:p>
            <a:endParaRPr lang="es-ES"/>
          </a:p>
        </p:txBody>
      </p:sp>
      <p:sp>
        <p:nvSpPr>
          <p:cNvPr id="12" name="Text 10"/>
          <p:cNvSpPr txBox="1"/>
          <p:nvPr/>
        </p:nvSpPr>
        <p:spPr>
          <a:xfrm>
            <a:off x="822960" y="5166360"/>
            <a:ext cx="10543032" cy="685800"/>
          </a:xfrm>
          <a:prstGeom prst="rect">
            <a:avLst/>
          </a:prstGeom>
          <a:noFill/>
          <a:ln/>
        </p:spPr>
        <p:txBody>
          <a:bodyPr wrap="square" lIns="0" tIns="0" rIns="0" bIns="0" rtlCol="0" anchor="ctr"/>
          <a:lstStyle/>
          <a:p>
            <a:pPr marL="0" indent="0" algn="ctr">
              <a:buNone/>
            </a:pPr>
            <a:r>
              <a:rPr lang="en-US" sz="2000" dirty="0">
                <a:solidFill>
                  <a:srgbClr val="12212B"/>
                </a:solidFill>
                <a:latin typeface="Arial" pitchFamily="34" charset="0"/>
                <a:ea typeface="Arial" pitchFamily="34" charset="-122"/>
                <a:cs typeface="Arial" pitchFamily="34" charset="-120"/>
              </a:rPr>
              <a:t>L = −(R(π) − b(s)) · log pθ(π | s) + λ · MSE</a:t>
            </a:r>
            <a:endParaRPr lang="en-US" sz="2000" dirty="0"/>
          </a:p>
        </p:txBody>
      </p:sp>
      <p:sp>
        <p:nvSpPr>
          <p:cNvPr id="13" name="Text 11"/>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Feasibility is enforced by construction, not repaired afterwards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BE3"/>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Quality versus time, by variant</a:t>
            </a:r>
            <a:endParaRPr lang="en-US" sz="3200" dirty="0"/>
          </a:p>
        </p:txBody>
      </p:sp>
      <p:sp>
        <p:nvSpPr>
          <p:cNvPr id="3" name="Shape 1"/>
          <p:cNvSpPr/>
          <p:nvPr/>
        </p:nvSpPr>
        <p:spPr>
          <a:xfrm>
            <a:off x="822960" y="1463040"/>
            <a:ext cx="6126480" cy="4023360"/>
          </a:xfrm>
          <a:prstGeom prst="roundRect">
            <a:avLst>
              <a:gd name="adj" fmla="val 2727"/>
            </a:avLst>
          </a:prstGeom>
          <a:solidFill>
            <a:srgbClr val="FDFCF8"/>
          </a:solidFill>
          <a:ln w="9525">
            <a:solidFill>
              <a:srgbClr val="E6E3DA"/>
            </a:solidFill>
            <a:prstDash val="solid"/>
          </a:ln>
        </p:spPr>
        <p:txBody>
          <a:bodyPr/>
          <a:lstStyle/>
          <a:p>
            <a:endParaRPr lang="es-ES"/>
          </a:p>
        </p:txBody>
      </p:sp>
      <p:sp>
        <p:nvSpPr>
          <p:cNvPr id="4" name="Text 2"/>
          <p:cNvSpPr txBox="1"/>
          <p:nvPr/>
        </p:nvSpPr>
        <p:spPr>
          <a:xfrm>
            <a:off x="1097280" y="1691640"/>
            <a:ext cx="5577840" cy="274320"/>
          </a:xfrm>
          <a:prstGeom prst="rect">
            <a:avLst/>
          </a:prstGeom>
          <a:noFill/>
          <a:ln/>
        </p:spPr>
        <p:txBody>
          <a:bodyPr wrap="square" lIns="0" tIns="0" rIns="0" bIns="0" rtlCol="0" anchor="t"/>
          <a:lstStyle/>
          <a:p>
            <a:pPr marL="0" indent="0">
              <a:buNone/>
            </a:pPr>
            <a:r>
              <a:rPr lang="en-US" sz="1100" b="1" kern="0" spc="200" dirty="0">
                <a:solidFill>
                  <a:srgbClr val="6B7580"/>
                </a:solidFill>
                <a:latin typeface="Calibri" pitchFamily="34" charset="0"/>
                <a:ea typeface="Calibri" pitchFamily="34" charset="-122"/>
                <a:cs typeface="Calibri" pitchFamily="34" charset="-120"/>
              </a:rPr>
              <a:t>AVERAGE REWARD, HIGHER IS BETTER</a:t>
            </a:r>
            <a:endParaRPr lang="en-US" sz="1100" dirty="0"/>
          </a:p>
        </p:txBody>
      </p:sp>
      <p:graphicFrame>
        <p:nvGraphicFramePr>
          <p:cNvPr id="5" name="Chart 0"/>
          <p:cNvGraphicFramePr/>
          <p:nvPr/>
        </p:nvGraphicFramePr>
        <p:xfrm>
          <a:off x="1005840" y="1965960"/>
          <a:ext cx="57607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1097280" y="5166360"/>
            <a:ext cx="2743200" cy="228600"/>
          </a:xfrm>
          <a:prstGeom prst="rect">
            <a:avLst/>
          </a:prstGeom>
          <a:noFill/>
          <a:ln/>
        </p:spPr>
        <p:txBody>
          <a:bodyPr wrap="square" lIns="0" tIns="0" rIns="0" bIns="0" rtlCol="0" anchor="ctr"/>
          <a:lstStyle/>
          <a:p>
            <a:pPr marL="0" indent="0">
              <a:buNone/>
            </a:pPr>
            <a:r>
              <a:rPr lang="en-US" sz="1100" dirty="0">
                <a:solidFill>
                  <a:srgbClr val="6B7580"/>
                </a:solidFill>
                <a:latin typeface="Calibri" pitchFamily="34" charset="0"/>
                <a:ea typeface="Calibri" pitchFamily="34" charset="-122"/>
                <a:cs typeface="Calibri" pitchFamily="34" charset="-120"/>
              </a:rPr>
              <a:t>Axis starts at 10</a:t>
            </a:r>
            <a:endParaRPr lang="en-US" sz="1100" dirty="0"/>
          </a:p>
        </p:txBody>
      </p:sp>
      <p:sp>
        <p:nvSpPr>
          <p:cNvPr id="7" name="Shape 4"/>
          <p:cNvSpPr/>
          <p:nvPr/>
        </p:nvSpPr>
        <p:spPr>
          <a:xfrm>
            <a:off x="7251192" y="1463040"/>
            <a:ext cx="4114800" cy="4023360"/>
          </a:xfrm>
          <a:prstGeom prst="roundRect">
            <a:avLst>
              <a:gd name="adj" fmla="val 2727"/>
            </a:avLst>
          </a:prstGeom>
          <a:solidFill>
            <a:srgbClr val="FDFCF8"/>
          </a:solidFill>
          <a:ln w="9525">
            <a:solidFill>
              <a:srgbClr val="E6E3DA"/>
            </a:solidFill>
            <a:prstDash val="solid"/>
          </a:ln>
        </p:spPr>
        <p:txBody>
          <a:bodyPr/>
          <a:lstStyle/>
          <a:p>
            <a:endParaRPr lang="es-ES"/>
          </a:p>
        </p:txBody>
      </p:sp>
      <p:sp>
        <p:nvSpPr>
          <p:cNvPr id="8" name="Text 5"/>
          <p:cNvSpPr txBox="1"/>
          <p:nvPr/>
        </p:nvSpPr>
        <p:spPr>
          <a:xfrm>
            <a:off x="7525512" y="1691640"/>
            <a:ext cx="3566160" cy="274320"/>
          </a:xfrm>
          <a:prstGeom prst="rect">
            <a:avLst/>
          </a:prstGeom>
          <a:noFill/>
          <a:ln/>
        </p:spPr>
        <p:txBody>
          <a:bodyPr wrap="square" lIns="0" tIns="0" rIns="0" bIns="0" rtlCol="0" anchor="t"/>
          <a:lstStyle/>
          <a:p>
            <a:pPr marL="0" indent="0">
              <a:buNone/>
            </a:pPr>
            <a:r>
              <a:rPr lang="en-US" sz="1100" b="1" kern="0" spc="200" dirty="0">
                <a:solidFill>
                  <a:srgbClr val="6B7580"/>
                </a:solidFill>
                <a:latin typeface="Calibri" pitchFamily="34" charset="0"/>
                <a:ea typeface="Calibri" pitchFamily="34" charset="-122"/>
                <a:cs typeface="Calibri" pitchFamily="34" charset="-120"/>
              </a:rPr>
              <a:t>SECONDS TO PRODUCE ONE PLAN</a:t>
            </a:r>
            <a:endParaRPr lang="en-US" sz="1100" dirty="0"/>
          </a:p>
        </p:txBody>
      </p:sp>
      <p:sp>
        <p:nvSpPr>
          <p:cNvPr id="9" name="Shape 6"/>
          <p:cNvSpPr/>
          <p:nvPr/>
        </p:nvSpPr>
        <p:spPr>
          <a:xfrm>
            <a:off x="7525512" y="2267712"/>
            <a:ext cx="182880" cy="182880"/>
          </a:xfrm>
          <a:prstGeom prst="ellipse">
            <a:avLst/>
          </a:prstGeom>
          <a:solidFill>
            <a:srgbClr val="9AA4AA"/>
          </a:solidFill>
          <a:ln w="12700">
            <a:solidFill>
              <a:srgbClr val="9AA4AA"/>
            </a:solidFill>
            <a:prstDash val="solid"/>
          </a:ln>
        </p:spPr>
        <p:txBody>
          <a:bodyPr/>
          <a:lstStyle/>
          <a:p>
            <a:endParaRPr lang="es-ES"/>
          </a:p>
        </p:txBody>
      </p:sp>
      <p:sp>
        <p:nvSpPr>
          <p:cNvPr id="10" name="Text 7"/>
          <p:cNvSpPr txBox="1"/>
          <p:nvPr/>
        </p:nvSpPr>
        <p:spPr>
          <a:xfrm>
            <a:off x="7845552" y="2148840"/>
            <a:ext cx="1097280" cy="420624"/>
          </a:xfrm>
          <a:prstGeom prst="rect">
            <a:avLst/>
          </a:prstGeom>
          <a:noFill/>
          <a:ln/>
        </p:spPr>
        <p:txBody>
          <a:bodyPr wrap="square" lIns="0" tIns="0" rIns="0" bIns="0" rtlCol="0" anchor="ctr"/>
          <a:lstStyle/>
          <a:p>
            <a:pPr marL="0" indent="0">
              <a:buNone/>
            </a:pPr>
            <a:r>
              <a:rPr lang="en-US" sz="1800" b="1" dirty="0">
                <a:solidFill>
                  <a:srgbClr val="12212B"/>
                </a:solidFill>
                <a:latin typeface="Calibri" pitchFamily="34" charset="0"/>
                <a:ea typeface="Calibri" pitchFamily="34" charset="-122"/>
                <a:cs typeface="Calibri" pitchFamily="34" charset="-120"/>
              </a:rPr>
              <a:t>VNS</a:t>
            </a:r>
            <a:endParaRPr lang="en-US" sz="1800" dirty="0"/>
          </a:p>
        </p:txBody>
      </p:sp>
      <p:sp>
        <p:nvSpPr>
          <p:cNvPr id="11" name="Text 8"/>
          <p:cNvSpPr txBox="1"/>
          <p:nvPr/>
        </p:nvSpPr>
        <p:spPr>
          <a:xfrm>
            <a:off x="8805672" y="2148840"/>
            <a:ext cx="2286000" cy="420624"/>
          </a:xfrm>
          <a:prstGeom prst="rect">
            <a:avLst/>
          </a:prstGeom>
          <a:noFill/>
          <a:ln/>
        </p:spPr>
        <p:txBody>
          <a:bodyPr wrap="square" lIns="0" tIns="0" rIns="0" bIns="0" rtlCol="0" anchor="ctr"/>
          <a:lstStyle/>
          <a:p>
            <a:pPr marL="0" indent="0" algn="r">
              <a:buNone/>
            </a:pPr>
            <a:r>
              <a:rPr lang="en-US" sz="2200" b="1" dirty="0">
                <a:solidFill>
                  <a:srgbClr val="6B7580"/>
                </a:solidFill>
                <a:latin typeface="Calibri" pitchFamily="34" charset="0"/>
                <a:ea typeface="Calibri" pitchFamily="34" charset="-122"/>
                <a:cs typeface="Calibri" pitchFamily="34" charset="-120"/>
              </a:rPr>
              <a:t>4.55 s</a:t>
            </a:r>
            <a:endParaRPr lang="en-US" sz="2200" dirty="0"/>
          </a:p>
        </p:txBody>
      </p:sp>
      <p:sp>
        <p:nvSpPr>
          <p:cNvPr id="12" name="Shape 9"/>
          <p:cNvSpPr/>
          <p:nvPr/>
        </p:nvSpPr>
        <p:spPr>
          <a:xfrm>
            <a:off x="7525512" y="2697480"/>
            <a:ext cx="3566160" cy="0"/>
          </a:xfrm>
          <a:prstGeom prst="line">
            <a:avLst/>
          </a:prstGeom>
          <a:noFill/>
          <a:ln w="9525">
            <a:solidFill>
              <a:srgbClr val="D9D6CC"/>
            </a:solidFill>
            <a:prstDash val="solid"/>
          </a:ln>
        </p:spPr>
        <p:txBody>
          <a:bodyPr/>
          <a:lstStyle/>
          <a:p>
            <a:endParaRPr lang="es-ES"/>
          </a:p>
        </p:txBody>
      </p:sp>
      <p:sp>
        <p:nvSpPr>
          <p:cNvPr id="13" name="Shape 10"/>
          <p:cNvSpPr/>
          <p:nvPr/>
        </p:nvSpPr>
        <p:spPr>
          <a:xfrm>
            <a:off x="7525512" y="2926080"/>
            <a:ext cx="182880" cy="182880"/>
          </a:xfrm>
          <a:prstGeom prst="ellipse">
            <a:avLst/>
          </a:prstGeom>
          <a:solidFill>
            <a:srgbClr val="2A9D8F"/>
          </a:solidFill>
          <a:ln w="12700">
            <a:solidFill>
              <a:srgbClr val="2A9D8F"/>
            </a:solidFill>
            <a:prstDash val="solid"/>
          </a:ln>
        </p:spPr>
        <p:txBody>
          <a:bodyPr/>
          <a:lstStyle/>
          <a:p>
            <a:endParaRPr lang="es-ES"/>
          </a:p>
        </p:txBody>
      </p:sp>
      <p:sp>
        <p:nvSpPr>
          <p:cNvPr id="14" name="Text 11"/>
          <p:cNvSpPr txBox="1"/>
          <p:nvPr/>
        </p:nvSpPr>
        <p:spPr>
          <a:xfrm>
            <a:off x="7845552" y="2807208"/>
            <a:ext cx="1097280" cy="420624"/>
          </a:xfrm>
          <a:prstGeom prst="rect">
            <a:avLst/>
          </a:prstGeom>
          <a:noFill/>
          <a:ln/>
        </p:spPr>
        <p:txBody>
          <a:bodyPr wrap="square" lIns="0" tIns="0" rIns="0" bIns="0" rtlCol="0" anchor="ctr"/>
          <a:lstStyle/>
          <a:p>
            <a:pPr marL="0" indent="0">
              <a:buNone/>
            </a:pPr>
            <a:r>
              <a:rPr lang="en-US" sz="1800" b="1" dirty="0">
                <a:solidFill>
                  <a:srgbClr val="12212B"/>
                </a:solidFill>
                <a:latin typeface="Calibri" pitchFamily="34" charset="0"/>
                <a:ea typeface="Calibri" pitchFamily="34" charset="-122"/>
                <a:cs typeface="Calibri" pitchFamily="34" charset="-120"/>
              </a:rPr>
              <a:t>M</a:t>
            </a:r>
            <a:endParaRPr lang="en-US" sz="1800" dirty="0"/>
          </a:p>
        </p:txBody>
      </p:sp>
      <p:sp>
        <p:nvSpPr>
          <p:cNvPr id="15" name="Text 12"/>
          <p:cNvSpPr txBox="1"/>
          <p:nvPr/>
        </p:nvSpPr>
        <p:spPr>
          <a:xfrm>
            <a:off x="8805672" y="2807208"/>
            <a:ext cx="2286000" cy="420624"/>
          </a:xfrm>
          <a:prstGeom prst="rect">
            <a:avLst/>
          </a:prstGeom>
          <a:noFill/>
          <a:ln/>
        </p:spPr>
        <p:txBody>
          <a:bodyPr wrap="square" lIns="0" tIns="0" rIns="0" bIns="0" rtlCol="0" anchor="ctr"/>
          <a:lstStyle/>
          <a:p>
            <a:pPr marL="0" indent="0" algn="r">
              <a:buNone/>
            </a:pPr>
            <a:r>
              <a:rPr lang="en-US" sz="2200" b="1" dirty="0">
                <a:solidFill>
                  <a:srgbClr val="1F7A6D"/>
                </a:solidFill>
                <a:latin typeface="Calibri" pitchFamily="34" charset="0"/>
                <a:ea typeface="Calibri" pitchFamily="34" charset="-122"/>
                <a:cs typeface="Calibri" pitchFamily="34" charset="-120"/>
              </a:rPr>
              <a:t>0.0014 s</a:t>
            </a:r>
            <a:endParaRPr lang="en-US" sz="2200" dirty="0"/>
          </a:p>
        </p:txBody>
      </p:sp>
      <p:sp>
        <p:nvSpPr>
          <p:cNvPr id="16" name="Shape 13"/>
          <p:cNvSpPr/>
          <p:nvPr/>
        </p:nvSpPr>
        <p:spPr>
          <a:xfrm>
            <a:off x="7525512" y="3355848"/>
            <a:ext cx="3566160" cy="0"/>
          </a:xfrm>
          <a:prstGeom prst="line">
            <a:avLst/>
          </a:prstGeom>
          <a:noFill/>
          <a:ln w="9525">
            <a:solidFill>
              <a:srgbClr val="D9D6CC"/>
            </a:solidFill>
            <a:prstDash val="solid"/>
          </a:ln>
        </p:spPr>
        <p:txBody>
          <a:bodyPr/>
          <a:lstStyle/>
          <a:p>
            <a:endParaRPr lang="es-ES"/>
          </a:p>
        </p:txBody>
      </p:sp>
      <p:sp>
        <p:nvSpPr>
          <p:cNvPr id="17" name="Shape 14"/>
          <p:cNvSpPr/>
          <p:nvPr/>
        </p:nvSpPr>
        <p:spPr>
          <a:xfrm>
            <a:off x="7525512" y="3584448"/>
            <a:ext cx="182880" cy="182880"/>
          </a:xfrm>
          <a:prstGeom prst="ellipse">
            <a:avLst/>
          </a:prstGeom>
          <a:solidFill>
            <a:srgbClr val="2A9D8F"/>
          </a:solidFill>
          <a:ln w="12700">
            <a:solidFill>
              <a:srgbClr val="2A9D8F"/>
            </a:solidFill>
            <a:prstDash val="solid"/>
          </a:ln>
        </p:spPr>
        <p:txBody>
          <a:bodyPr/>
          <a:lstStyle/>
          <a:p>
            <a:endParaRPr lang="es-ES"/>
          </a:p>
        </p:txBody>
      </p:sp>
      <p:sp>
        <p:nvSpPr>
          <p:cNvPr id="18" name="Text 15"/>
          <p:cNvSpPr txBox="1"/>
          <p:nvPr/>
        </p:nvSpPr>
        <p:spPr>
          <a:xfrm>
            <a:off x="7845552" y="3465576"/>
            <a:ext cx="1097280" cy="420624"/>
          </a:xfrm>
          <a:prstGeom prst="rect">
            <a:avLst/>
          </a:prstGeom>
          <a:noFill/>
          <a:ln/>
        </p:spPr>
        <p:txBody>
          <a:bodyPr wrap="square" lIns="0" tIns="0" rIns="0" bIns="0" rtlCol="0" anchor="ctr"/>
          <a:lstStyle/>
          <a:p>
            <a:pPr marL="0" indent="0">
              <a:buNone/>
            </a:pPr>
            <a:r>
              <a:rPr lang="en-US" sz="1800" b="1" dirty="0">
                <a:solidFill>
                  <a:srgbClr val="12212B"/>
                </a:solidFill>
                <a:latin typeface="Calibri" pitchFamily="34" charset="0"/>
                <a:ea typeface="Calibri" pitchFamily="34" charset="-122"/>
                <a:cs typeface="Calibri" pitchFamily="34" charset="-120"/>
              </a:rPr>
              <a:t>M+</a:t>
            </a:r>
            <a:endParaRPr lang="en-US" sz="1800" dirty="0"/>
          </a:p>
        </p:txBody>
      </p:sp>
      <p:sp>
        <p:nvSpPr>
          <p:cNvPr id="19" name="Text 16"/>
          <p:cNvSpPr txBox="1"/>
          <p:nvPr/>
        </p:nvSpPr>
        <p:spPr>
          <a:xfrm>
            <a:off x="8805672" y="3465576"/>
            <a:ext cx="2286000" cy="420624"/>
          </a:xfrm>
          <a:prstGeom prst="rect">
            <a:avLst/>
          </a:prstGeom>
          <a:noFill/>
          <a:ln/>
        </p:spPr>
        <p:txBody>
          <a:bodyPr wrap="square" lIns="0" tIns="0" rIns="0" bIns="0" rtlCol="0" anchor="ctr"/>
          <a:lstStyle/>
          <a:p>
            <a:pPr marL="0" indent="0" algn="r">
              <a:buNone/>
            </a:pPr>
            <a:r>
              <a:rPr lang="en-US" sz="2200" b="1" dirty="0">
                <a:solidFill>
                  <a:srgbClr val="1F7A6D"/>
                </a:solidFill>
                <a:latin typeface="Calibri" pitchFamily="34" charset="0"/>
                <a:ea typeface="Calibri" pitchFamily="34" charset="-122"/>
                <a:cs typeface="Calibri" pitchFamily="34" charset="-120"/>
              </a:rPr>
              <a:t>0.044 s</a:t>
            </a:r>
            <a:endParaRPr lang="en-US" sz="2200" dirty="0"/>
          </a:p>
        </p:txBody>
      </p:sp>
      <p:sp>
        <p:nvSpPr>
          <p:cNvPr id="20" name="Shape 17"/>
          <p:cNvSpPr/>
          <p:nvPr/>
        </p:nvSpPr>
        <p:spPr>
          <a:xfrm>
            <a:off x="7525512" y="4014216"/>
            <a:ext cx="3566160" cy="0"/>
          </a:xfrm>
          <a:prstGeom prst="line">
            <a:avLst/>
          </a:prstGeom>
          <a:noFill/>
          <a:ln w="9525">
            <a:solidFill>
              <a:srgbClr val="D9D6CC"/>
            </a:solidFill>
            <a:prstDash val="solid"/>
          </a:ln>
        </p:spPr>
        <p:txBody>
          <a:bodyPr/>
          <a:lstStyle/>
          <a:p>
            <a:endParaRPr lang="es-ES"/>
          </a:p>
        </p:txBody>
      </p:sp>
      <p:sp>
        <p:nvSpPr>
          <p:cNvPr id="21" name="Shape 18"/>
          <p:cNvSpPr/>
          <p:nvPr/>
        </p:nvSpPr>
        <p:spPr>
          <a:xfrm>
            <a:off x="7525512" y="4242816"/>
            <a:ext cx="182880" cy="182880"/>
          </a:xfrm>
          <a:prstGeom prst="ellipse">
            <a:avLst/>
          </a:prstGeom>
          <a:solidFill>
            <a:srgbClr val="2A9D8F"/>
          </a:solidFill>
          <a:ln w="12700">
            <a:solidFill>
              <a:srgbClr val="2A9D8F"/>
            </a:solidFill>
            <a:prstDash val="solid"/>
          </a:ln>
        </p:spPr>
        <p:txBody>
          <a:bodyPr/>
          <a:lstStyle/>
          <a:p>
            <a:endParaRPr lang="es-ES"/>
          </a:p>
        </p:txBody>
      </p:sp>
      <p:sp>
        <p:nvSpPr>
          <p:cNvPr id="22" name="Text 19"/>
          <p:cNvSpPr txBox="1"/>
          <p:nvPr/>
        </p:nvSpPr>
        <p:spPr>
          <a:xfrm>
            <a:off x="7845552" y="4123944"/>
            <a:ext cx="1097280" cy="420624"/>
          </a:xfrm>
          <a:prstGeom prst="rect">
            <a:avLst/>
          </a:prstGeom>
          <a:noFill/>
          <a:ln/>
        </p:spPr>
        <p:txBody>
          <a:bodyPr wrap="square" lIns="0" tIns="0" rIns="0" bIns="0" rtlCol="0" anchor="ctr"/>
          <a:lstStyle/>
          <a:p>
            <a:pPr marL="0" indent="0">
              <a:buNone/>
            </a:pPr>
            <a:r>
              <a:rPr lang="en-US" sz="1800" b="1" dirty="0">
                <a:solidFill>
                  <a:srgbClr val="12212B"/>
                </a:solidFill>
                <a:latin typeface="Calibri" pitchFamily="34" charset="0"/>
                <a:ea typeface="Calibri" pitchFamily="34" charset="-122"/>
                <a:cs typeface="Calibri" pitchFamily="34" charset="-120"/>
              </a:rPr>
              <a:t>MO</a:t>
            </a:r>
            <a:endParaRPr lang="en-US" sz="1800" dirty="0"/>
          </a:p>
        </p:txBody>
      </p:sp>
      <p:sp>
        <p:nvSpPr>
          <p:cNvPr id="23" name="Text 20"/>
          <p:cNvSpPr txBox="1"/>
          <p:nvPr/>
        </p:nvSpPr>
        <p:spPr>
          <a:xfrm>
            <a:off x="8805672" y="4123944"/>
            <a:ext cx="2286000" cy="420624"/>
          </a:xfrm>
          <a:prstGeom prst="rect">
            <a:avLst/>
          </a:prstGeom>
          <a:noFill/>
          <a:ln/>
        </p:spPr>
        <p:txBody>
          <a:bodyPr wrap="square" lIns="0" tIns="0" rIns="0" bIns="0" rtlCol="0" anchor="ctr"/>
          <a:lstStyle/>
          <a:p>
            <a:pPr marL="0" indent="0" algn="r">
              <a:buNone/>
            </a:pPr>
            <a:r>
              <a:rPr lang="en-US" sz="2200" b="1" dirty="0">
                <a:solidFill>
                  <a:srgbClr val="1F7A6D"/>
                </a:solidFill>
                <a:latin typeface="Calibri" pitchFamily="34" charset="0"/>
                <a:ea typeface="Calibri" pitchFamily="34" charset="-122"/>
                <a:cs typeface="Calibri" pitchFamily="34" charset="-120"/>
              </a:rPr>
              <a:t>0.07 s</a:t>
            </a:r>
            <a:endParaRPr lang="en-US" sz="2200" dirty="0"/>
          </a:p>
        </p:txBody>
      </p:sp>
      <p:sp>
        <p:nvSpPr>
          <p:cNvPr id="24" name="Shape 21"/>
          <p:cNvSpPr/>
          <p:nvPr/>
        </p:nvSpPr>
        <p:spPr>
          <a:xfrm>
            <a:off x="7525512" y="4672584"/>
            <a:ext cx="3566160" cy="0"/>
          </a:xfrm>
          <a:prstGeom prst="line">
            <a:avLst/>
          </a:prstGeom>
          <a:noFill/>
          <a:ln w="9525">
            <a:solidFill>
              <a:srgbClr val="D9D6CC"/>
            </a:solidFill>
            <a:prstDash val="solid"/>
          </a:ln>
        </p:spPr>
        <p:txBody>
          <a:bodyPr/>
          <a:lstStyle/>
          <a:p>
            <a:endParaRPr lang="es-ES"/>
          </a:p>
        </p:txBody>
      </p:sp>
      <p:sp>
        <p:nvSpPr>
          <p:cNvPr id="25" name="Shape 22"/>
          <p:cNvSpPr/>
          <p:nvPr/>
        </p:nvSpPr>
        <p:spPr>
          <a:xfrm>
            <a:off x="7525512" y="4901184"/>
            <a:ext cx="182880" cy="182880"/>
          </a:xfrm>
          <a:prstGeom prst="ellipse">
            <a:avLst/>
          </a:prstGeom>
          <a:solidFill>
            <a:srgbClr val="2A9D8F"/>
          </a:solidFill>
          <a:ln w="12700">
            <a:solidFill>
              <a:srgbClr val="2A9D8F"/>
            </a:solidFill>
            <a:prstDash val="solid"/>
          </a:ln>
        </p:spPr>
        <p:txBody>
          <a:bodyPr/>
          <a:lstStyle/>
          <a:p>
            <a:endParaRPr lang="es-ES"/>
          </a:p>
        </p:txBody>
      </p:sp>
      <p:sp>
        <p:nvSpPr>
          <p:cNvPr id="26" name="Text 23"/>
          <p:cNvSpPr txBox="1"/>
          <p:nvPr/>
        </p:nvSpPr>
        <p:spPr>
          <a:xfrm>
            <a:off x="7845552" y="4782312"/>
            <a:ext cx="1097280" cy="420624"/>
          </a:xfrm>
          <a:prstGeom prst="rect">
            <a:avLst/>
          </a:prstGeom>
          <a:noFill/>
          <a:ln/>
        </p:spPr>
        <p:txBody>
          <a:bodyPr wrap="square" lIns="0" tIns="0" rIns="0" bIns="0" rtlCol="0" anchor="ctr"/>
          <a:lstStyle/>
          <a:p>
            <a:pPr marL="0" indent="0">
              <a:buNone/>
            </a:pPr>
            <a:r>
              <a:rPr lang="en-US" sz="1800" b="1" dirty="0">
                <a:solidFill>
                  <a:srgbClr val="12212B"/>
                </a:solidFill>
                <a:latin typeface="Calibri" pitchFamily="34" charset="0"/>
                <a:ea typeface="Calibri" pitchFamily="34" charset="-122"/>
                <a:cs typeface="Calibri" pitchFamily="34" charset="-120"/>
              </a:rPr>
              <a:t>MO+</a:t>
            </a:r>
            <a:endParaRPr lang="en-US" sz="1800" dirty="0"/>
          </a:p>
        </p:txBody>
      </p:sp>
      <p:sp>
        <p:nvSpPr>
          <p:cNvPr id="27" name="Text 24"/>
          <p:cNvSpPr txBox="1"/>
          <p:nvPr/>
        </p:nvSpPr>
        <p:spPr>
          <a:xfrm>
            <a:off x="8805672" y="4782312"/>
            <a:ext cx="2286000" cy="420624"/>
          </a:xfrm>
          <a:prstGeom prst="rect">
            <a:avLst/>
          </a:prstGeom>
          <a:noFill/>
          <a:ln/>
        </p:spPr>
        <p:txBody>
          <a:bodyPr wrap="square" lIns="0" tIns="0" rIns="0" bIns="0" rtlCol="0" anchor="ctr"/>
          <a:lstStyle/>
          <a:p>
            <a:pPr marL="0" indent="0" algn="r">
              <a:buNone/>
            </a:pPr>
            <a:r>
              <a:rPr lang="en-US" sz="2200" b="1" dirty="0">
                <a:solidFill>
                  <a:srgbClr val="1F7A6D"/>
                </a:solidFill>
                <a:latin typeface="Calibri" pitchFamily="34" charset="0"/>
                <a:ea typeface="Calibri" pitchFamily="34" charset="-122"/>
                <a:cs typeface="Calibri" pitchFamily="34" charset="-120"/>
              </a:rPr>
              <a:t>0.34 s</a:t>
            </a:r>
            <a:endParaRPr lang="en-US" sz="2200" dirty="0"/>
          </a:p>
        </p:txBody>
      </p:sp>
      <p:sp>
        <p:nvSpPr>
          <p:cNvPr id="28" name="Text 25"/>
          <p:cNvSpPr txBox="1"/>
          <p:nvPr/>
        </p:nvSpPr>
        <p:spPr>
          <a:xfrm>
            <a:off x="822960" y="5669280"/>
            <a:ext cx="10543032" cy="411480"/>
          </a:xfrm>
          <a:prstGeom prst="rect">
            <a:avLst/>
          </a:prstGeom>
          <a:noFill/>
          <a:ln/>
        </p:spPr>
        <p:txBody>
          <a:bodyPr wrap="square" lIns="0" tIns="0" rIns="0" bIns="0" rtlCol="0" anchor="ctr"/>
          <a:lstStyle/>
          <a:p>
            <a:pPr marL="0" indent="0">
              <a:buNone/>
            </a:pPr>
            <a:r>
              <a:rPr lang="en-US" sz="1800" b="1" dirty="0">
                <a:solidFill>
                  <a:srgbClr val="1F7A6D"/>
                </a:solidFill>
                <a:latin typeface="Calibri" pitchFamily="34" charset="0"/>
                <a:ea typeface="Calibri" pitchFamily="34" charset="-122"/>
                <a:cs typeface="Calibri" pitchFamily="34" charset="-120"/>
              </a:rPr>
              <a:t>MO+ is about 4% better than VNS and 13× faster. M matches VNS in over 3,000× less time.</a:t>
            </a:r>
            <a:endParaRPr lang="en-US" sz="1800" dirty="0"/>
          </a:p>
        </p:txBody>
      </p:sp>
      <p:sp>
        <p:nvSpPr>
          <p:cNvPr id="29" name="Text 26"/>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M: base model · M+: with reflections · MO: with rotations · MO+: both (256 versions of each instance). Deterministic problem, 15–45 stops, 2–4 vehicles.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Generalisation, and where each method wins</a:t>
            </a:r>
            <a:endParaRPr lang="en-US" sz="3200" dirty="0"/>
          </a:p>
        </p:txBody>
      </p:sp>
      <p:sp>
        <p:nvSpPr>
          <p:cNvPr id="3" name="Shape 1"/>
          <p:cNvSpPr/>
          <p:nvPr/>
        </p:nvSpPr>
        <p:spPr>
          <a:xfrm>
            <a:off x="822960" y="1417320"/>
            <a:ext cx="10543032" cy="2103120"/>
          </a:xfrm>
          <a:prstGeom prst="roundRect">
            <a:avLst>
              <a:gd name="adj" fmla="val 5217"/>
            </a:avLst>
          </a:prstGeom>
          <a:solidFill>
            <a:srgbClr val="FDFCF8"/>
          </a:solidFill>
          <a:ln w="9525">
            <a:solidFill>
              <a:srgbClr val="E6E3DA"/>
            </a:solidFill>
            <a:prstDash val="solid"/>
          </a:ln>
        </p:spPr>
        <p:txBody>
          <a:bodyPr/>
          <a:lstStyle/>
          <a:p>
            <a:endParaRPr lang="es-ES"/>
          </a:p>
        </p:txBody>
      </p:sp>
      <p:sp>
        <p:nvSpPr>
          <p:cNvPr id="4" name="Text 2"/>
          <p:cNvSpPr txBox="1"/>
          <p:nvPr/>
        </p:nvSpPr>
        <p:spPr>
          <a:xfrm>
            <a:off x="1097280" y="1627632"/>
            <a:ext cx="9994392" cy="274320"/>
          </a:xfrm>
          <a:prstGeom prst="rect">
            <a:avLst/>
          </a:prstGeom>
          <a:noFill/>
          <a:ln/>
        </p:spPr>
        <p:txBody>
          <a:bodyPr wrap="square" lIns="0" tIns="0" rIns="0" bIns="0" rtlCol="0" anchor="t"/>
          <a:lstStyle/>
          <a:p>
            <a:pPr marL="0" indent="0">
              <a:buNone/>
            </a:pPr>
            <a:r>
              <a:rPr lang="en-US" sz="1100" b="1" kern="0" spc="200" dirty="0">
                <a:solidFill>
                  <a:srgbClr val="6B7580"/>
                </a:solidFill>
                <a:latin typeface="Calibri" pitchFamily="34" charset="0"/>
                <a:ea typeface="Calibri" pitchFamily="34" charset="-122"/>
                <a:cs typeface="Calibri" pitchFamily="34" charset="-120"/>
              </a:rPr>
              <a:t>ONE MODEL, TRAINED ON 18–36 STOPS AND 2–4 VEHICLES, TESTED UP TO 45 STOPS WITHOUT RETRAINING</a:t>
            </a:r>
            <a:endParaRPr lang="en-US" sz="1100" dirty="0"/>
          </a:p>
        </p:txBody>
      </p:sp>
      <p:sp>
        <p:nvSpPr>
          <p:cNvPr id="5" name="Shape 3"/>
          <p:cNvSpPr/>
          <p:nvPr/>
        </p:nvSpPr>
        <p:spPr>
          <a:xfrm>
            <a:off x="1280160" y="2286000"/>
            <a:ext cx="962863" cy="457200"/>
          </a:xfrm>
          <a:prstGeom prst="rect">
            <a:avLst/>
          </a:prstGeom>
          <a:solidFill>
            <a:srgbClr val="E3E6E8"/>
          </a:solidFill>
          <a:ln w="12700">
            <a:solidFill>
              <a:srgbClr val="E3E6E8"/>
            </a:solidFill>
            <a:prstDash val="solid"/>
          </a:ln>
        </p:spPr>
        <p:txBody>
          <a:bodyPr/>
          <a:lstStyle/>
          <a:p>
            <a:endParaRPr lang="es-ES"/>
          </a:p>
        </p:txBody>
      </p:sp>
      <p:sp>
        <p:nvSpPr>
          <p:cNvPr id="6" name="Shape 4"/>
          <p:cNvSpPr/>
          <p:nvPr/>
        </p:nvSpPr>
        <p:spPr>
          <a:xfrm>
            <a:off x="2243023" y="2286000"/>
            <a:ext cx="5777179" cy="457200"/>
          </a:xfrm>
          <a:prstGeom prst="rect">
            <a:avLst/>
          </a:prstGeom>
          <a:solidFill>
            <a:srgbClr val="2A9D8F"/>
          </a:solidFill>
          <a:ln w="12700">
            <a:solidFill>
              <a:srgbClr val="2A9D8F"/>
            </a:solidFill>
            <a:prstDash val="solid"/>
          </a:ln>
        </p:spPr>
        <p:txBody>
          <a:bodyPr/>
          <a:lstStyle/>
          <a:p>
            <a:endParaRPr lang="es-ES"/>
          </a:p>
        </p:txBody>
      </p:sp>
      <p:sp>
        <p:nvSpPr>
          <p:cNvPr id="7" name="Shape 5"/>
          <p:cNvSpPr/>
          <p:nvPr/>
        </p:nvSpPr>
        <p:spPr>
          <a:xfrm>
            <a:off x="8020202" y="2286000"/>
            <a:ext cx="2888590" cy="457200"/>
          </a:xfrm>
          <a:prstGeom prst="rect">
            <a:avLst/>
          </a:prstGeom>
          <a:solidFill>
            <a:srgbClr val="F6C9B4"/>
          </a:solidFill>
          <a:ln w="12700">
            <a:solidFill>
              <a:srgbClr val="F6C9B4"/>
            </a:solidFill>
            <a:prstDash val="solid"/>
          </a:ln>
        </p:spPr>
        <p:txBody>
          <a:bodyPr/>
          <a:lstStyle/>
          <a:p>
            <a:endParaRPr lang="es-ES"/>
          </a:p>
        </p:txBody>
      </p:sp>
      <p:sp>
        <p:nvSpPr>
          <p:cNvPr id="8" name="Text 6"/>
          <p:cNvSpPr txBox="1"/>
          <p:nvPr/>
        </p:nvSpPr>
        <p:spPr>
          <a:xfrm>
            <a:off x="2243023" y="2286000"/>
            <a:ext cx="5777179"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seen in training</a:t>
            </a:r>
            <a:endParaRPr lang="en-US" sz="1500" dirty="0"/>
          </a:p>
        </p:txBody>
      </p:sp>
      <p:sp>
        <p:nvSpPr>
          <p:cNvPr id="9" name="Text 7"/>
          <p:cNvSpPr txBox="1"/>
          <p:nvPr/>
        </p:nvSpPr>
        <p:spPr>
          <a:xfrm>
            <a:off x="8020202" y="2286000"/>
            <a:ext cx="2888590" cy="457200"/>
          </a:xfrm>
          <a:prstGeom prst="rect">
            <a:avLst/>
          </a:prstGeom>
          <a:noFill/>
          <a:ln/>
        </p:spPr>
        <p:txBody>
          <a:bodyPr wrap="square" lIns="0" tIns="0" rIns="0" bIns="0" rtlCol="0" anchor="ctr"/>
          <a:lstStyle/>
          <a:p>
            <a:pPr marL="0" indent="0" algn="ctr">
              <a:buNone/>
            </a:pPr>
            <a:r>
              <a:rPr lang="en-US" sz="1400" b="1" dirty="0">
                <a:solidFill>
                  <a:srgbClr val="B5471E"/>
                </a:solidFill>
                <a:latin typeface="Calibri" pitchFamily="34" charset="0"/>
                <a:ea typeface="Calibri" pitchFamily="34" charset="-122"/>
                <a:cs typeface="Calibri" pitchFamily="34" charset="-120"/>
              </a:rPr>
              <a:t>unseen: +9 stops</a:t>
            </a:r>
            <a:endParaRPr lang="en-US" sz="1400" dirty="0"/>
          </a:p>
        </p:txBody>
      </p:sp>
      <p:sp>
        <p:nvSpPr>
          <p:cNvPr id="10" name="Text 8"/>
          <p:cNvSpPr txBox="1"/>
          <p:nvPr/>
        </p:nvSpPr>
        <p:spPr>
          <a:xfrm>
            <a:off x="914400" y="2816352"/>
            <a:ext cx="731520" cy="256032"/>
          </a:xfrm>
          <a:prstGeom prst="rect">
            <a:avLst/>
          </a:prstGeom>
          <a:noFill/>
          <a:ln/>
        </p:spPr>
        <p:txBody>
          <a:bodyPr wrap="square" lIns="0" tIns="0" rIns="0" bIns="0" rtlCol="0" anchor="ctr"/>
          <a:lstStyle/>
          <a:p>
            <a:pPr marL="0" indent="0" algn="ctr">
              <a:buNone/>
            </a:pPr>
            <a:r>
              <a:rPr lang="en-US" sz="1300" dirty="0">
                <a:solidFill>
                  <a:srgbClr val="6B7580"/>
                </a:solidFill>
                <a:latin typeface="Calibri" pitchFamily="34" charset="0"/>
                <a:ea typeface="Calibri" pitchFamily="34" charset="-122"/>
                <a:cs typeface="Calibri" pitchFamily="34" charset="-120"/>
              </a:rPr>
              <a:t>15</a:t>
            </a:r>
            <a:endParaRPr lang="en-US" sz="1300" dirty="0"/>
          </a:p>
        </p:txBody>
      </p:sp>
      <p:sp>
        <p:nvSpPr>
          <p:cNvPr id="11" name="Text 9"/>
          <p:cNvSpPr txBox="1"/>
          <p:nvPr/>
        </p:nvSpPr>
        <p:spPr>
          <a:xfrm>
            <a:off x="1877263" y="2816352"/>
            <a:ext cx="731520" cy="256032"/>
          </a:xfrm>
          <a:prstGeom prst="rect">
            <a:avLst/>
          </a:prstGeom>
          <a:noFill/>
          <a:ln/>
        </p:spPr>
        <p:txBody>
          <a:bodyPr wrap="square" lIns="0" tIns="0" rIns="0" bIns="0" rtlCol="0" anchor="ctr"/>
          <a:lstStyle/>
          <a:p>
            <a:pPr marL="0" indent="0" algn="ctr">
              <a:buNone/>
            </a:pPr>
            <a:r>
              <a:rPr lang="en-US" sz="1300" dirty="0">
                <a:solidFill>
                  <a:srgbClr val="6B7580"/>
                </a:solidFill>
                <a:latin typeface="Calibri" pitchFamily="34" charset="0"/>
                <a:ea typeface="Calibri" pitchFamily="34" charset="-122"/>
                <a:cs typeface="Calibri" pitchFamily="34" charset="-120"/>
              </a:rPr>
              <a:t>18</a:t>
            </a:r>
            <a:endParaRPr lang="en-US" sz="1300" dirty="0"/>
          </a:p>
        </p:txBody>
      </p:sp>
      <p:sp>
        <p:nvSpPr>
          <p:cNvPr id="12" name="Text 10"/>
          <p:cNvSpPr txBox="1"/>
          <p:nvPr/>
        </p:nvSpPr>
        <p:spPr>
          <a:xfrm>
            <a:off x="7654442" y="2816352"/>
            <a:ext cx="731520" cy="256032"/>
          </a:xfrm>
          <a:prstGeom prst="rect">
            <a:avLst/>
          </a:prstGeom>
          <a:noFill/>
          <a:ln/>
        </p:spPr>
        <p:txBody>
          <a:bodyPr wrap="square" lIns="0" tIns="0" rIns="0" bIns="0" rtlCol="0" anchor="ctr"/>
          <a:lstStyle/>
          <a:p>
            <a:pPr marL="0" indent="0" algn="ctr">
              <a:buNone/>
            </a:pPr>
            <a:r>
              <a:rPr lang="en-US" sz="1300" dirty="0">
                <a:solidFill>
                  <a:srgbClr val="6B7580"/>
                </a:solidFill>
                <a:latin typeface="Calibri" pitchFamily="34" charset="0"/>
                <a:ea typeface="Calibri" pitchFamily="34" charset="-122"/>
                <a:cs typeface="Calibri" pitchFamily="34" charset="-120"/>
              </a:rPr>
              <a:t>36</a:t>
            </a:r>
            <a:endParaRPr lang="en-US" sz="1300" dirty="0"/>
          </a:p>
        </p:txBody>
      </p:sp>
      <p:sp>
        <p:nvSpPr>
          <p:cNvPr id="13" name="Text 11"/>
          <p:cNvSpPr txBox="1"/>
          <p:nvPr/>
        </p:nvSpPr>
        <p:spPr>
          <a:xfrm>
            <a:off x="10543032" y="2816352"/>
            <a:ext cx="731520" cy="256032"/>
          </a:xfrm>
          <a:prstGeom prst="rect">
            <a:avLst/>
          </a:prstGeom>
          <a:noFill/>
          <a:ln/>
        </p:spPr>
        <p:txBody>
          <a:bodyPr wrap="square" lIns="0" tIns="0" rIns="0" bIns="0" rtlCol="0" anchor="ctr"/>
          <a:lstStyle/>
          <a:p>
            <a:pPr marL="0" indent="0" algn="ctr">
              <a:buNone/>
            </a:pPr>
            <a:r>
              <a:rPr lang="en-US" sz="1300" dirty="0">
                <a:solidFill>
                  <a:srgbClr val="6B7580"/>
                </a:solidFill>
                <a:latin typeface="Calibri" pitchFamily="34" charset="0"/>
                <a:ea typeface="Calibri" pitchFamily="34" charset="-122"/>
                <a:cs typeface="Calibri" pitchFamily="34" charset="-120"/>
              </a:rPr>
              <a:t>45</a:t>
            </a:r>
            <a:endParaRPr lang="en-US" sz="1300" dirty="0"/>
          </a:p>
        </p:txBody>
      </p:sp>
      <p:sp>
        <p:nvSpPr>
          <p:cNvPr id="14" name="Text 12"/>
          <p:cNvSpPr txBox="1"/>
          <p:nvPr/>
        </p:nvSpPr>
        <p:spPr>
          <a:xfrm>
            <a:off x="1097280" y="3200400"/>
            <a:ext cx="2743200" cy="228600"/>
          </a:xfrm>
          <a:prstGeom prst="rect">
            <a:avLst/>
          </a:prstGeom>
          <a:noFill/>
          <a:ln/>
        </p:spPr>
        <p:txBody>
          <a:bodyPr wrap="square" lIns="0" tIns="0" rIns="0" bIns="0" rtlCol="0" anchor="ctr"/>
          <a:lstStyle/>
          <a:p>
            <a:pPr marL="0" indent="0">
              <a:buNone/>
            </a:pPr>
            <a:r>
              <a:rPr lang="en-US" sz="1100" dirty="0">
                <a:solidFill>
                  <a:srgbClr val="6B7580"/>
                </a:solidFill>
                <a:latin typeface="Calibri" pitchFamily="34" charset="0"/>
                <a:ea typeface="Calibri" pitchFamily="34" charset="-122"/>
                <a:cs typeface="Calibri" pitchFamily="34" charset="-120"/>
              </a:rPr>
              <a:t>number of stops</a:t>
            </a:r>
            <a:endParaRPr lang="en-US" sz="1100" dirty="0"/>
          </a:p>
        </p:txBody>
      </p:sp>
      <p:sp>
        <p:nvSpPr>
          <p:cNvPr id="15" name="Text 13"/>
          <p:cNvSpPr txBox="1"/>
          <p:nvPr/>
        </p:nvSpPr>
        <p:spPr>
          <a:xfrm>
            <a:off x="822960" y="3794760"/>
            <a:ext cx="6400800" cy="274320"/>
          </a:xfrm>
          <a:prstGeom prst="rect">
            <a:avLst/>
          </a:prstGeom>
          <a:noFill/>
          <a:ln/>
        </p:spPr>
        <p:txBody>
          <a:bodyPr wrap="square" lIns="0" tIns="0" rIns="0" bIns="0" rtlCol="0" anchor="t"/>
          <a:lstStyle/>
          <a:p>
            <a:pPr marL="0" indent="0">
              <a:buNone/>
            </a:pPr>
            <a:r>
              <a:rPr lang="en-US" sz="1100" b="1" kern="0" spc="200" dirty="0">
                <a:solidFill>
                  <a:srgbClr val="6B7580"/>
                </a:solidFill>
                <a:latin typeface="Calibri" pitchFamily="34" charset="0"/>
                <a:ea typeface="Calibri" pitchFamily="34" charset="-122"/>
                <a:cs typeface="Calibri" pitchFamily="34" charset="-120"/>
              </a:rPr>
              <a:t>REWARD ADVANTAGE OF RL (MO+) OVER VNS</a:t>
            </a:r>
            <a:endParaRPr lang="en-US" sz="1100" dirty="0"/>
          </a:p>
        </p:txBody>
      </p:sp>
      <p:sp>
        <p:nvSpPr>
          <p:cNvPr id="16" name="Text 14"/>
          <p:cNvSpPr txBox="1"/>
          <p:nvPr/>
        </p:nvSpPr>
        <p:spPr>
          <a:xfrm>
            <a:off x="822960" y="4114800"/>
            <a:ext cx="1920240" cy="822960"/>
          </a:xfrm>
          <a:prstGeom prst="rect">
            <a:avLst/>
          </a:prstGeom>
          <a:noFill/>
          <a:ln/>
        </p:spPr>
        <p:txBody>
          <a:bodyPr wrap="square" lIns="0" tIns="0" rIns="0" bIns="0" rtlCol="0" anchor="ctr"/>
          <a:lstStyle/>
          <a:p>
            <a:pPr marL="0" indent="0">
              <a:buNone/>
            </a:pPr>
            <a:r>
              <a:rPr lang="en-US" sz="4200" b="1" dirty="0">
                <a:solidFill>
                  <a:srgbClr val="2A9D8F"/>
                </a:solidFill>
                <a:latin typeface="Arial" pitchFamily="34" charset="0"/>
                <a:ea typeface="Arial" pitchFamily="34" charset="-122"/>
                <a:cs typeface="Arial" pitchFamily="34" charset="-120"/>
              </a:rPr>
              <a:t>+0.18</a:t>
            </a:r>
            <a:endParaRPr lang="en-US" sz="4200" dirty="0"/>
          </a:p>
        </p:txBody>
      </p:sp>
      <p:sp>
        <p:nvSpPr>
          <p:cNvPr id="17" name="Text 15"/>
          <p:cNvSpPr txBox="1"/>
          <p:nvPr/>
        </p:nvSpPr>
        <p:spPr>
          <a:xfrm>
            <a:off x="822960" y="4937760"/>
            <a:ext cx="1920240" cy="292608"/>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2 vehicles</a:t>
            </a:r>
            <a:endParaRPr lang="en-US" sz="1500" dirty="0"/>
          </a:p>
        </p:txBody>
      </p:sp>
      <p:sp>
        <p:nvSpPr>
          <p:cNvPr id="18" name="Text 16"/>
          <p:cNvSpPr txBox="1"/>
          <p:nvPr/>
        </p:nvSpPr>
        <p:spPr>
          <a:xfrm>
            <a:off x="2926080" y="4114800"/>
            <a:ext cx="1920240" cy="822960"/>
          </a:xfrm>
          <a:prstGeom prst="rect">
            <a:avLst/>
          </a:prstGeom>
          <a:noFill/>
          <a:ln/>
        </p:spPr>
        <p:txBody>
          <a:bodyPr wrap="square" lIns="0" tIns="0" rIns="0" bIns="0" rtlCol="0" anchor="ctr"/>
          <a:lstStyle/>
          <a:p>
            <a:pPr marL="0" indent="0">
              <a:buNone/>
            </a:pPr>
            <a:r>
              <a:rPr lang="en-US" sz="4200" b="1" dirty="0">
                <a:solidFill>
                  <a:srgbClr val="2A9D8F"/>
                </a:solidFill>
                <a:latin typeface="Arial" pitchFamily="34" charset="0"/>
                <a:ea typeface="Arial" pitchFamily="34" charset="-122"/>
                <a:cs typeface="Arial" pitchFamily="34" charset="-120"/>
              </a:rPr>
              <a:t>+0.47</a:t>
            </a:r>
            <a:endParaRPr lang="en-US" sz="4200" dirty="0"/>
          </a:p>
        </p:txBody>
      </p:sp>
      <p:sp>
        <p:nvSpPr>
          <p:cNvPr id="19" name="Text 17"/>
          <p:cNvSpPr txBox="1"/>
          <p:nvPr/>
        </p:nvSpPr>
        <p:spPr>
          <a:xfrm>
            <a:off x="2926080" y="4937760"/>
            <a:ext cx="1920240" cy="292608"/>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3 vehicles</a:t>
            </a:r>
            <a:endParaRPr lang="en-US" sz="1500" dirty="0"/>
          </a:p>
        </p:txBody>
      </p:sp>
      <p:sp>
        <p:nvSpPr>
          <p:cNvPr id="20" name="Text 18"/>
          <p:cNvSpPr txBox="1"/>
          <p:nvPr/>
        </p:nvSpPr>
        <p:spPr>
          <a:xfrm>
            <a:off x="5029200" y="4114800"/>
            <a:ext cx="1920240" cy="822960"/>
          </a:xfrm>
          <a:prstGeom prst="rect">
            <a:avLst/>
          </a:prstGeom>
          <a:noFill/>
          <a:ln/>
        </p:spPr>
        <p:txBody>
          <a:bodyPr wrap="square" lIns="0" tIns="0" rIns="0" bIns="0" rtlCol="0" anchor="ctr"/>
          <a:lstStyle/>
          <a:p>
            <a:pPr marL="0" indent="0">
              <a:buNone/>
            </a:pPr>
            <a:r>
              <a:rPr lang="en-US" sz="4200" b="1" dirty="0">
                <a:solidFill>
                  <a:srgbClr val="2A9D8F"/>
                </a:solidFill>
                <a:latin typeface="Arial" pitchFamily="34" charset="0"/>
                <a:ea typeface="Arial" pitchFamily="34" charset="-122"/>
                <a:cs typeface="Arial" pitchFamily="34" charset="-120"/>
              </a:rPr>
              <a:t>+0.69</a:t>
            </a:r>
            <a:endParaRPr lang="en-US" sz="4200" dirty="0"/>
          </a:p>
        </p:txBody>
      </p:sp>
      <p:sp>
        <p:nvSpPr>
          <p:cNvPr id="21" name="Text 19"/>
          <p:cNvSpPr txBox="1"/>
          <p:nvPr/>
        </p:nvSpPr>
        <p:spPr>
          <a:xfrm>
            <a:off x="5029200" y="4937760"/>
            <a:ext cx="1920240" cy="292608"/>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4 vehicles</a:t>
            </a:r>
            <a:endParaRPr lang="en-US" sz="1500" dirty="0"/>
          </a:p>
        </p:txBody>
      </p:sp>
      <p:sp>
        <p:nvSpPr>
          <p:cNvPr id="22" name="Shape 20"/>
          <p:cNvSpPr/>
          <p:nvPr/>
        </p:nvSpPr>
        <p:spPr>
          <a:xfrm>
            <a:off x="7498080" y="3794760"/>
            <a:ext cx="3867912" cy="1920240"/>
          </a:xfrm>
          <a:prstGeom prst="roundRect">
            <a:avLst>
              <a:gd name="adj" fmla="val 5714"/>
            </a:avLst>
          </a:prstGeom>
          <a:solidFill>
            <a:srgbClr val="FDFCF8"/>
          </a:solidFill>
          <a:ln w="9525">
            <a:solidFill>
              <a:srgbClr val="E6E3DA"/>
            </a:solidFill>
            <a:prstDash val="solid"/>
          </a:ln>
        </p:spPr>
        <p:txBody>
          <a:bodyPr/>
          <a:lstStyle/>
          <a:p>
            <a:endParaRPr lang="es-ES"/>
          </a:p>
        </p:txBody>
      </p:sp>
      <p:sp>
        <p:nvSpPr>
          <p:cNvPr id="23" name="Text 21"/>
          <p:cNvSpPr txBox="1"/>
          <p:nvPr/>
        </p:nvSpPr>
        <p:spPr>
          <a:xfrm>
            <a:off x="7772400" y="3931920"/>
            <a:ext cx="3319272" cy="1874520"/>
          </a:xfrm>
          <a:prstGeom prst="rect">
            <a:avLst/>
          </a:prstGeom>
          <a:noFill/>
          <a:ln/>
        </p:spPr>
        <p:txBody>
          <a:bodyPr wrap="square" lIns="0" tIns="0" rIns="0" bIns="0" rtlCol="0" anchor="t"/>
          <a:lstStyle/>
          <a:p>
            <a:pPr marL="0" indent="0">
              <a:buNone/>
            </a:pPr>
            <a:r>
              <a:rPr lang="en-US" sz="1600" b="1" dirty="0">
                <a:solidFill>
                  <a:srgbClr val="12212B"/>
                </a:solidFill>
                <a:latin typeface="Calibri" pitchFamily="34" charset="0"/>
                <a:ea typeface="Calibri" pitchFamily="34" charset="-122"/>
                <a:cs typeface="Calibri" pitchFamily="34" charset="-120"/>
              </a:rPr>
              <a:t>VNS catches up as stops grow</a:t>
            </a:r>
            <a:endParaRPr lang="en-US" sz="1600" dirty="0"/>
          </a:p>
          <a:p>
            <a:pPr marL="0" indent="0">
              <a:buNone/>
            </a:pPr>
            <a:r>
              <a:rPr lang="en-US" sz="1400" dirty="0">
                <a:solidFill>
                  <a:srgbClr val="4A5568"/>
                </a:solidFill>
                <a:latin typeface="Calibri" pitchFamily="34" charset="0"/>
                <a:ea typeface="Calibri" pitchFamily="34" charset="-122"/>
                <a:cs typeface="Calibri" pitchFamily="34" charset="-120"/>
              </a:rPr>
              <a:t>It gets its best result at 45 stops and 2 vehicles.</a:t>
            </a:r>
            <a:endParaRPr lang="en-US" sz="16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marL="0" indent="0">
              <a:buNone/>
            </a:pPr>
            <a:r>
              <a:rPr lang="en-US" sz="1600" b="1" dirty="0">
                <a:solidFill>
                  <a:srgbClr val="12212B"/>
                </a:solidFill>
                <a:latin typeface="Calibri" pitchFamily="34" charset="0"/>
                <a:ea typeface="Calibri" pitchFamily="34" charset="-122"/>
                <a:cs typeface="Calibri" pitchFamily="34" charset="-120"/>
              </a:rPr>
              <a:t>More time barely helps VNS</a:t>
            </a:r>
            <a:endParaRPr lang="en-US" sz="1600" dirty="0"/>
          </a:p>
          <a:p>
            <a:pPr marL="0" indent="0">
              <a:buNone/>
            </a:pPr>
            <a:r>
              <a:rPr lang="en-US" sz="1400" dirty="0">
                <a:solidFill>
                  <a:srgbClr val="4A5568"/>
                </a:solidFill>
                <a:latin typeface="Calibri" pitchFamily="34" charset="0"/>
                <a:ea typeface="Calibri" pitchFamily="34" charset="-122"/>
                <a:cs typeface="Calibri" pitchFamily="34" charset="-120"/>
              </a:rPr>
              <a:t>Giving VNS 3 min instead of 20 s improved it by only ~0.2% (35 stops).</a:t>
            </a:r>
            <a:endParaRPr lang="en-US" sz="1600" dirty="0"/>
          </a:p>
        </p:txBody>
      </p:sp>
      <p:sp>
        <p:nvSpPr>
          <p:cNvPr id="24" name="Text 22"/>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Average reward on the deterministic instances; VNS limited to 20 s per instance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BE3"/>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When travel times change</a:t>
            </a:r>
            <a:endParaRPr lang="en-US" sz="3200" dirty="0"/>
          </a:p>
        </p:txBody>
      </p:sp>
      <p:sp>
        <p:nvSpPr>
          <p:cNvPr id="3" name="Shape 1"/>
          <p:cNvSpPr/>
          <p:nvPr/>
        </p:nvSpPr>
        <p:spPr>
          <a:xfrm>
            <a:off x="822960" y="1417320"/>
            <a:ext cx="4846320" cy="4434840"/>
          </a:xfrm>
          <a:prstGeom prst="roundRect">
            <a:avLst>
              <a:gd name="adj" fmla="val 2474"/>
            </a:avLst>
          </a:prstGeom>
          <a:solidFill>
            <a:srgbClr val="FDFCF8"/>
          </a:solidFill>
          <a:ln w="9525">
            <a:solidFill>
              <a:srgbClr val="E6E3DA"/>
            </a:solidFill>
            <a:prstDash val="solid"/>
          </a:ln>
        </p:spPr>
        <p:txBody>
          <a:bodyPr/>
          <a:lstStyle/>
          <a:p>
            <a:endParaRPr lang="es-ES"/>
          </a:p>
        </p:txBody>
      </p:sp>
      <p:sp>
        <p:nvSpPr>
          <p:cNvPr id="4" name="Text 2"/>
          <p:cNvSpPr txBox="1"/>
          <p:nvPr/>
        </p:nvSpPr>
        <p:spPr>
          <a:xfrm>
            <a:off x="1097280" y="1645920"/>
            <a:ext cx="4389120" cy="274320"/>
          </a:xfrm>
          <a:prstGeom prst="rect">
            <a:avLst/>
          </a:prstGeom>
          <a:noFill/>
          <a:ln/>
        </p:spPr>
        <p:txBody>
          <a:bodyPr wrap="square" lIns="0" tIns="0" rIns="0" bIns="0" rtlCol="0" anchor="t"/>
          <a:lstStyle/>
          <a:p>
            <a:pPr marL="0" indent="0">
              <a:buNone/>
            </a:pPr>
            <a:r>
              <a:rPr lang="en-US" sz="1100" b="1" kern="0" spc="200" dirty="0">
                <a:solidFill>
                  <a:srgbClr val="6B7580"/>
                </a:solidFill>
                <a:latin typeface="Calibri" pitchFamily="34" charset="0"/>
                <a:ea typeface="Calibri" pitchFamily="34" charset="-122"/>
                <a:cs typeface="Calibri" pitchFamily="34" charset="-120"/>
              </a:rPr>
              <a:t>AVERAGE REWARD, DYNAMIC SCENARIO</a:t>
            </a:r>
            <a:endParaRPr lang="en-US" sz="1100" dirty="0"/>
          </a:p>
        </p:txBody>
      </p:sp>
      <p:sp>
        <p:nvSpPr>
          <p:cNvPr id="5" name="Text 3"/>
          <p:cNvSpPr txBox="1"/>
          <p:nvPr/>
        </p:nvSpPr>
        <p:spPr>
          <a:xfrm>
            <a:off x="1097280" y="1920240"/>
            <a:ext cx="4389120" cy="27432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No prediction module vs. best dynamic model</a:t>
            </a:r>
            <a:endParaRPr lang="en-US" sz="1400" dirty="0"/>
          </a:p>
        </p:txBody>
      </p:sp>
      <p:graphicFrame>
        <p:nvGraphicFramePr>
          <p:cNvPr id="6" name="Chart 0"/>
          <p:cNvGraphicFramePr/>
          <p:nvPr/>
        </p:nvGraphicFramePr>
        <p:xfrm>
          <a:off x="960120" y="2286000"/>
          <a:ext cx="4572000" cy="1600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1097280" y="4069080"/>
            <a:ext cx="4343400" cy="86868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2.54 is not bad routing. A vehicle that arrives late has its route thrown out, and it scores nothing.</a:t>
            </a:r>
            <a:endParaRPr lang="en-US" sz="1500" dirty="0"/>
          </a:p>
        </p:txBody>
      </p:sp>
      <p:sp>
        <p:nvSpPr>
          <p:cNvPr id="8" name="Text 5"/>
          <p:cNvSpPr txBox="1"/>
          <p:nvPr/>
        </p:nvSpPr>
        <p:spPr>
          <a:xfrm>
            <a:off x="1097280" y="5029200"/>
            <a:ext cx="4343400" cy="640080"/>
          </a:xfrm>
          <a:prstGeom prst="rect">
            <a:avLst/>
          </a:prstGeom>
          <a:noFill/>
          <a:ln/>
        </p:spPr>
        <p:txBody>
          <a:bodyPr wrap="square" lIns="0" tIns="0" rIns="0" bIns="0" rtlCol="0" anchor="t"/>
          <a:lstStyle/>
          <a:p>
            <a:pPr marL="0" indent="0">
              <a:buNone/>
            </a:pPr>
            <a:r>
              <a:rPr lang="en-US" sz="1800" b="1" dirty="0">
                <a:solidFill>
                  <a:srgbClr val="1F7A6D"/>
                </a:solidFill>
                <a:latin typeface="Calibri" pitchFamily="34" charset="0"/>
                <a:ea typeface="Calibri" pitchFamily="34" charset="-122"/>
                <a:cs typeface="Calibri" pitchFamily="34" charset="-120"/>
              </a:rPr>
              <a:t>The dynamic models broke the limit zero times.</a:t>
            </a:r>
            <a:endParaRPr lang="en-US" sz="1800" dirty="0"/>
          </a:p>
        </p:txBody>
      </p:sp>
      <p:pic>
        <p:nvPicPr>
          <p:cNvPr id="9" name="Image 0" descr="Figure 5 of the paper: the same deterministic model on the same instance, without and with dynamic travel times"/>
          <p:cNvPicPr>
            <a:picLocks noChangeAspect="1"/>
          </p:cNvPicPr>
          <p:nvPr/>
        </p:nvPicPr>
        <p:blipFill>
          <a:blip r:embed="rId4"/>
          <a:stretch>
            <a:fillRect/>
          </a:stretch>
        </p:blipFill>
        <p:spPr>
          <a:xfrm>
            <a:off x="5943600" y="1417320"/>
            <a:ext cx="5422392" cy="2991143"/>
          </a:xfrm>
          <a:prstGeom prst="rect">
            <a:avLst/>
          </a:prstGeom>
        </p:spPr>
      </p:pic>
      <p:sp>
        <p:nvSpPr>
          <p:cNvPr id="10" name="Text 6"/>
          <p:cNvSpPr txBox="1"/>
          <p:nvPr/>
        </p:nvSpPr>
        <p:spPr>
          <a:xfrm>
            <a:off x="5943600" y="4545623"/>
            <a:ext cx="5422392" cy="685800"/>
          </a:xfrm>
          <a:prstGeom prst="rect">
            <a:avLst/>
          </a:prstGeom>
          <a:noFill/>
          <a:ln/>
        </p:spPr>
        <p:txBody>
          <a:bodyPr wrap="square" lIns="0" tIns="0" rIns="0" bIns="0" rtlCol="0" anchor="t"/>
          <a:lstStyle/>
          <a:p>
            <a:pPr marL="0" indent="0">
              <a:buNone/>
            </a:pPr>
            <a:r>
              <a:rPr lang="en-US" sz="1400" dirty="0">
                <a:solidFill>
                  <a:srgbClr val="4A5568"/>
                </a:solidFill>
                <a:latin typeface="Calibri" pitchFamily="34" charset="0"/>
                <a:ea typeface="Calibri" pitchFamily="34" charset="-122"/>
                <a:cs typeface="Calibri" pitchFamily="34" charset="-120"/>
              </a:rPr>
              <a:t>Same model, same instance. Left: no delays, reward 10.10. Right: with delays, vehicle 1 needs 1.43 of a 1.37 budget, so the reward drops to 0.00.</a:t>
            </a:r>
            <a:endParaRPr lang="en-US" sz="1400" dirty="0"/>
          </a:p>
        </p:txBody>
      </p:sp>
      <p:sp>
        <p:nvSpPr>
          <p:cNvPr id="11" name="Text 7"/>
          <p:cNvSpPr txBox="1"/>
          <p:nvPr/>
        </p:nvSpPr>
        <p:spPr>
          <a:xfrm>
            <a:off x="5943600" y="5277143"/>
            <a:ext cx="5422392" cy="228600"/>
          </a:xfrm>
          <a:prstGeom prst="rect">
            <a:avLst/>
          </a:prstGeom>
          <a:noFill/>
          <a:ln/>
        </p:spPr>
        <p:txBody>
          <a:bodyPr wrap="square" lIns="0" tIns="0" rIns="0" bIns="0" rtlCol="0" anchor="ctr"/>
          <a:lstStyle/>
          <a:p>
            <a:pPr marL="0" indent="0">
              <a:buNone/>
            </a:pPr>
            <a:r>
              <a:rPr lang="en-US" sz="1000" dirty="0">
                <a:solidFill>
                  <a:srgbClr val="6B7580"/>
                </a:solidFill>
                <a:latin typeface="Calibri" pitchFamily="34" charset="0"/>
                <a:ea typeface="Calibri" pitchFamily="34" charset="-122"/>
                <a:cs typeface="Calibri" pitchFamily="34" charset="-120"/>
              </a:rPr>
              <a:t>Figure 5 from Guerrero et al. (2025), CC BY 4.0</a:t>
            </a:r>
            <a:endParaRPr lang="en-US" sz="1000" dirty="0"/>
          </a:p>
        </p:txBody>
      </p:sp>
      <p:sp>
        <p:nvSpPr>
          <p:cNvPr id="12" name="Text 8"/>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27,000 synthetic instances · 15–45 stops · 2–4 vehicles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12B"/>
        </a:solidFill>
        <a:effectLst/>
      </p:bgPr>
    </p:bg>
    <p:spTree>
      <p:nvGrpSpPr>
        <p:cNvPr id="1" name=""/>
        <p:cNvGrpSpPr/>
        <p:nvPr/>
      </p:nvGrpSpPr>
      <p:grpSpPr>
        <a:xfrm>
          <a:off x="0" y="0"/>
          <a:ext cx="0" cy="0"/>
          <a:chOff x="0" y="0"/>
          <a:chExt cx="0" cy="0"/>
        </a:xfrm>
      </p:grpSpPr>
      <p:sp>
        <p:nvSpPr>
          <p:cNvPr id="2" name="Text 0"/>
          <p:cNvSpPr txBox="1"/>
          <p:nvPr/>
        </p:nvSpPr>
        <p:spPr>
          <a:xfrm>
            <a:off x="822960" y="685800"/>
            <a:ext cx="9144000" cy="274320"/>
          </a:xfrm>
          <a:prstGeom prst="rect">
            <a:avLst/>
          </a:prstGeom>
          <a:noFill/>
          <a:ln/>
        </p:spPr>
        <p:txBody>
          <a:bodyPr wrap="square" lIns="0" tIns="0" rIns="0" bIns="0" rtlCol="0" anchor="t"/>
          <a:lstStyle/>
          <a:p>
            <a:pPr marL="0" indent="0">
              <a:buNone/>
            </a:pPr>
            <a:r>
              <a:rPr lang="en-US" sz="1400" b="1" kern="0" spc="200" dirty="0">
                <a:solidFill>
                  <a:srgbClr val="2A9D8F"/>
                </a:solidFill>
                <a:latin typeface="Calibri" pitchFamily="34" charset="0"/>
                <a:ea typeface="Calibri" pitchFamily="34" charset="-122"/>
                <a:cs typeface="Calibri" pitchFamily="34" charset="-120"/>
              </a:rPr>
              <a:t>TAKEAWAY · OUR READING OF THE RESULTS</a:t>
            </a:r>
            <a:endParaRPr lang="en-US" sz="1400" dirty="0"/>
          </a:p>
        </p:txBody>
      </p:sp>
      <p:sp>
        <p:nvSpPr>
          <p:cNvPr id="3" name="Text 1"/>
          <p:cNvSpPr txBox="1"/>
          <p:nvPr/>
        </p:nvSpPr>
        <p:spPr>
          <a:xfrm>
            <a:off x="822960" y="1143000"/>
            <a:ext cx="10543032" cy="1463040"/>
          </a:xfrm>
          <a:prstGeom prst="rect">
            <a:avLst/>
          </a:prstGeom>
          <a:noFill/>
          <a:ln/>
        </p:spPr>
        <p:txBody>
          <a:bodyPr wrap="square" lIns="0" tIns="0" rIns="0" bIns="0" rtlCol="0" anchor="t"/>
          <a:lstStyle/>
          <a:p>
            <a:pPr marL="0" indent="0">
              <a:buNone/>
            </a:pPr>
            <a:r>
              <a:rPr lang="en-US" sz="3800" b="1" dirty="0">
                <a:solidFill>
                  <a:srgbClr val="F7F5EF"/>
                </a:solidFill>
                <a:latin typeface="Arial" pitchFamily="34" charset="0"/>
                <a:ea typeface="Arial" pitchFamily="34" charset="-122"/>
                <a:cs typeface="Arial" pitchFamily="34" charset="-120"/>
              </a:rPr>
              <a:t>Modelling the uncertainty mattered more than solving the problem better.</a:t>
            </a:r>
            <a:endParaRPr lang="en-US" sz="3800" dirty="0"/>
          </a:p>
        </p:txBody>
      </p:sp>
      <p:sp>
        <p:nvSpPr>
          <p:cNvPr id="4" name="Text 2"/>
          <p:cNvSpPr txBox="1"/>
          <p:nvPr/>
        </p:nvSpPr>
        <p:spPr>
          <a:xfrm>
            <a:off x="822960" y="3017520"/>
            <a:ext cx="7315200" cy="274320"/>
          </a:xfrm>
          <a:prstGeom prst="rect">
            <a:avLst/>
          </a:prstGeom>
          <a:noFill/>
          <a:ln/>
        </p:spPr>
        <p:txBody>
          <a:bodyPr wrap="square" lIns="0" tIns="0" rIns="0" bIns="0" rtlCol="0" anchor="t"/>
          <a:lstStyle/>
          <a:p>
            <a:pPr marL="0" indent="0">
              <a:buNone/>
            </a:pPr>
            <a:r>
              <a:rPr lang="en-US" sz="1200" b="1" kern="0" spc="200" dirty="0">
                <a:solidFill>
                  <a:srgbClr val="8FA0A8"/>
                </a:solidFill>
                <a:latin typeface="Calibri" pitchFamily="34" charset="0"/>
                <a:ea typeface="Calibri" pitchFamily="34" charset="-122"/>
                <a:cs typeface="Calibri" pitchFamily="34" charset="-120"/>
              </a:rPr>
              <a:t>WORTH ASKING ABOUT</a:t>
            </a:r>
            <a:endParaRPr lang="en-US" sz="1200" dirty="0"/>
          </a:p>
        </p:txBody>
      </p:sp>
      <p:sp>
        <p:nvSpPr>
          <p:cNvPr id="5" name="Text 3"/>
          <p:cNvSpPr txBox="1"/>
          <p:nvPr/>
        </p:nvSpPr>
        <p:spPr>
          <a:xfrm>
            <a:off x="822960" y="3383280"/>
            <a:ext cx="3291840" cy="1005840"/>
          </a:xfrm>
          <a:prstGeom prst="rect">
            <a:avLst/>
          </a:prstGeom>
          <a:noFill/>
          <a:ln/>
        </p:spPr>
        <p:txBody>
          <a:bodyPr wrap="square" lIns="0" tIns="0" rIns="0" bIns="0" rtlCol="0" anchor="t"/>
          <a:lstStyle/>
          <a:p>
            <a:pPr marL="0" indent="0">
              <a:buNone/>
            </a:pPr>
            <a:r>
              <a:rPr lang="en-US" sz="1600" dirty="0">
                <a:solidFill>
                  <a:srgbClr val="C9D6DA"/>
                </a:solidFill>
                <a:latin typeface="Calibri" pitchFamily="34" charset="0"/>
                <a:ea typeface="Calibri" pitchFamily="34" charset="-122"/>
                <a:cs typeface="Calibri" pitchFamily="34" charset="-120"/>
              </a:rPr>
              <a:t>Training and test instances come from the same uniform distribution.</a:t>
            </a:r>
            <a:endParaRPr lang="en-US" sz="1600" dirty="0"/>
          </a:p>
        </p:txBody>
      </p:sp>
      <p:sp>
        <p:nvSpPr>
          <p:cNvPr id="6" name="Text 4"/>
          <p:cNvSpPr txBox="1"/>
          <p:nvPr/>
        </p:nvSpPr>
        <p:spPr>
          <a:xfrm>
            <a:off x="4434840" y="3383280"/>
            <a:ext cx="3291840" cy="1005840"/>
          </a:xfrm>
          <a:prstGeom prst="rect">
            <a:avLst/>
          </a:prstGeom>
          <a:noFill/>
          <a:ln/>
        </p:spPr>
        <p:txBody>
          <a:bodyPr wrap="square" lIns="0" tIns="0" rIns="0" bIns="0" rtlCol="0" anchor="t"/>
          <a:lstStyle/>
          <a:p>
            <a:pPr marL="0" indent="0">
              <a:buNone/>
            </a:pPr>
            <a:r>
              <a:rPr lang="en-US" sz="1600" dirty="0">
                <a:solidFill>
                  <a:srgbClr val="C9D6DA"/>
                </a:solidFill>
                <a:latin typeface="Calibri" pitchFamily="34" charset="0"/>
                <a:ea typeface="Calibri" pitchFamily="34" charset="-122"/>
                <a:cs typeface="Calibri" pitchFamily="34" charset="-120"/>
              </a:rPr>
              <a:t>About 40 hours of training for each dynamic model, and more resources as instances grow.</a:t>
            </a:r>
            <a:endParaRPr lang="en-US" sz="1600" dirty="0"/>
          </a:p>
        </p:txBody>
      </p:sp>
      <p:sp>
        <p:nvSpPr>
          <p:cNvPr id="7" name="Text 5"/>
          <p:cNvSpPr txBox="1"/>
          <p:nvPr/>
        </p:nvSpPr>
        <p:spPr>
          <a:xfrm>
            <a:off x="8046720" y="3383280"/>
            <a:ext cx="3291840" cy="1005840"/>
          </a:xfrm>
          <a:prstGeom prst="rect">
            <a:avLst/>
          </a:prstGeom>
          <a:noFill/>
          <a:ln/>
        </p:spPr>
        <p:txBody>
          <a:bodyPr wrap="square" lIns="0" tIns="0" rIns="0" bIns="0" rtlCol="0" anchor="t"/>
          <a:lstStyle/>
          <a:p>
            <a:pPr marL="0" indent="0">
              <a:buNone/>
            </a:pPr>
            <a:r>
              <a:rPr lang="en-US" sz="1600" dirty="0">
                <a:solidFill>
                  <a:srgbClr val="C9D6DA"/>
                </a:solidFill>
                <a:latin typeface="Calibri" pitchFamily="34" charset="0"/>
                <a:ea typeface="Calibri" pitchFamily="34" charset="-122"/>
                <a:cs typeface="Calibri" pitchFamily="34" charset="-120"/>
              </a:rPr>
              <a:t>No re-optimisation once a vehicle is on the road, and no stochastic travel times yet.</a:t>
            </a:r>
            <a:endParaRPr lang="en-US" sz="1600" dirty="0"/>
          </a:p>
        </p:txBody>
      </p:sp>
      <p:sp>
        <p:nvSpPr>
          <p:cNvPr id="8" name="Text 6"/>
          <p:cNvSpPr txBox="1"/>
          <p:nvPr/>
        </p:nvSpPr>
        <p:spPr>
          <a:xfrm>
            <a:off x="822960" y="4572000"/>
            <a:ext cx="7315200" cy="274320"/>
          </a:xfrm>
          <a:prstGeom prst="rect">
            <a:avLst/>
          </a:prstGeom>
          <a:noFill/>
          <a:ln/>
        </p:spPr>
        <p:txBody>
          <a:bodyPr wrap="square" lIns="0" tIns="0" rIns="0" bIns="0" rtlCol="0" anchor="t"/>
          <a:lstStyle/>
          <a:p>
            <a:pPr marL="0" indent="0">
              <a:buNone/>
            </a:pPr>
            <a:r>
              <a:rPr lang="en-US" sz="1200" b="1" kern="0" spc="200" dirty="0">
                <a:solidFill>
                  <a:srgbClr val="8FA0A8"/>
                </a:solidFill>
                <a:latin typeface="Calibri" pitchFamily="34" charset="0"/>
                <a:ea typeface="Calibri" pitchFamily="34" charset="-122"/>
                <a:cs typeface="Calibri" pitchFamily="34" charset="-120"/>
              </a:rPr>
              <a:t>NEXT STEPS IN THE PAPER</a:t>
            </a:r>
            <a:endParaRPr lang="en-US" sz="1200" dirty="0"/>
          </a:p>
        </p:txBody>
      </p:sp>
      <p:sp>
        <p:nvSpPr>
          <p:cNvPr id="9" name="Text 7"/>
          <p:cNvSpPr txBox="1"/>
          <p:nvPr/>
        </p:nvSpPr>
        <p:spPr>
          <a:xfrm>
            <a:off x="822960" y="4937760"/>
            <a:ext cx="3291840" cy="1005840"/>
          </a:xfrm>
          <a:prstGeom prst="rect">
            <a:avLst/>
          </a:prstGeom>
          <a:noFill/>
          <a:ln/>
        </p:spPr>
        <p:txBody>
          <a:bodyPr wrap="square" lIns="0" tIns="0" rIns="0" bIns="0" rtlCol="0" anchor="t"/>
          <a:lstStyle/>
          <a:p>
            <a:pPr marL="0" indent="0">
              <a:buNone/>
            </a:pPr>
            <a:r>
              <a:rPr lang="en-US" sz="1600" dirty="0">
                <a:solidFill>
                  <a:srgbClr val="C9D6DA"/>
                </a:solidFill>
                <a:latin typeface="Calibri" pitchFamily="34" charset="0"/>
                <a:ea typeface="Calibri" pitchFamily="34" charset="-122"/>
                <a:cs typeface="Calibri" pitchFamily="34" charset="-120"/>
              </a:rPr>
              <a:t>Stochastic conditions: probabilistic travel times and fluctuating customer availability.</a:t>
            </a:r>
            <a:endParaRPr lang="en-US" sz="1600" dirty="0"/>
          </a:p>
        </p:txBody>
      </p:sp>
      <p:sp>
        <p:nvSpPr>
          <p:cNvPr id="10" name="Text 8"/>
          <p:cNvSpPr txBox="1"/>
          <p:nvPr/>
        </p:nvSpPr>
        <p:spPr>
          <a:xfrm>
            <a:off x="4434840" y="4937760"/>
            <a:ext cx="3291840" cy="1005840"/>
          </a:xfrm>
          <a:prstGeom prst="rect">
            <a:avLst/>
          </a:prstGeom>
          <a:noFill/>
          <a:ln/>
        </p:spPr>
        <p:txBody>
          <a:bodyPr wrap="square" lIns="0" tIns="0" rIns="0" bIns="0" rtlCol="0" anchor="t"/>
          <a:lstStyle/>
          <a:p>
            <a:pPr marL="0" indent="0">
              <a:buNone/>
            </a:pPr>
            <a:r>
              <a:rPr lang="en-US" sz="1600" dirty="0">
                <a:solidFill>
                  <a:srgbClr val="C9D6DA"/>
                </a:solidFill>
                <a:latin typeface="Calibri" pitchFamily="34" charset="0"/>
                <a:ea typeface="Calibri" pitchFamily="34" charset="-122"/>
                <a:cs typeface="Calibri" pitchFamily="34" charset="-120"/>
              </a:rPr>
              <a:t>A hybrid with metaheuristics such as VNS, combining global search with RL's speed.</a:t>
            </a:r>
            <a:endParaRPr lang="en-US" sz="1600" dirty="0"/>
          </a:p>
        </p:txBody>
      </p:sp>
      <p:sp>
        <p:nvSpPr>
          <p:cNvPr id="11" name="Text 9"/>
          <p:cNvSpPr txBox="1"/>
          <p:nvPr/>
        </p:nvSpPr>
        <p:spPr>
          <a:xfrm>
            <a:off x="822960" y="6172200"/>
            <a:ext cx="10543032" cy="274320"/>
          </a:xfrm>
          <a:prstGeom prst="rect">
            <a:avLst/>
          </a:prstGeom>
          <a:noFill/>
          <a:ln/>
        </p:spPr>
        <p:txBody>
          <a:bodyPr wrap="square" lIns="0" tIns="0" rIns="0" bIns="0" rtlCol="0" anchor="ctr"/>
          <a:lstStyle/>
          <a:p>
            <a:pPr marL="0" indent="0">
              <a:buNone/>
            </a:pPr>
            <a:r>
              <a:rPr lang="en-US" sz="1300" dirty="0">
                <a:solidFill>
                  <a:srgbClr val="8FA0A8"/>
                </a:solidFill>
                <a:latin typeface="Calibri" pitchFamily="34" charset="0"/>
                <a:ea typeface="Calibri" pitchFamily="34" charset="-122"/>
                <a:cs typeface="Calibri" pitchFamily="34" charset="-120"/>
              </a:rPr>
              <a:t>Thank you — questions?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274320"/>
            <a:ext cx="2743200" cy="274320"/>
          </a:xfrm>
          <a:prstGeom prst="rect">
            <a:avLst/>
          </a:prstGeom>
          <a:noFill/>
          <a:ln/>
        </p:spPr>
        <p:txBody>
          <a:bodyPr wrap="square" lIns="0" tIns="0" rIns="0" bIns="0" rtlCol="0" anchor="t"/>
          <a:lstStyle/>
          <a:p>
            <a:pPr marL="0" indent="0">
              <a:buNone/>
            </a:pPr>
            <a:r>
              <a:rPr lang="en-US" sz="1100" b="1" kern="0" spc="200" dirty="0">
                <a:solidFill>
                  <a:srgbClr val="1F7A6D"/>
                </a:solidFill>
                <a:latin typeface="Calibri" pitchFamily="34" charset="0"/>
                <a:ea typeface="Calibri" pitchFamily="34" charset="-122"/>
                <a:cs typeface="Calibri" pitchFamily="34" charset="-120"/>
              </a:rPr>
              <a:t>BACKUP</a:t>
            </a:r>
            <a:endParaRPr lang="en-US" sz="1100" dirty="0"/>
          </a:p>
        </p:txBody>
      </p:sp>
      <p:sp>
        <p:nvSpPr>
          <p:cNvPr id="3" name="Text 1"/>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Mathematical formulation</a:t>
            </a:r>
            <a:endParaRPr lang="en-US" sz="3200" dirty="0"/>
          </a:p>
        </p:txBody>
      </p:sp>
      <p:sp>
        <p:nvSpPr>
          <p:cNvPr id="4" name="Text 2"/>
          <p:cNvSpPr txBox="1"/>
          <p:nvPr/>
        </p:nvSpPr>
        <p:spPr>
          <a:xfrm>
            <a:off x="822960" y="1463040"/>
            <a:ext cx="1737360" cy="777240"/>
          </a:xfrm>
          <a:prstGeom prst="rect">
            <a:avLst/>
          </a:prstGeom>
          <a:noFill/>
          <a:ln/>
        </p:spPr>
        <p:txBody>
          <a:bodyPr wrap="square" lIns="0" tIns="0" rIns="0" bIns="0" rtlCol="0" anchor="ctr"/>
          <a:lstStyle/>
          <a:p>
            <a:pPr marL="0" indent="0">
              <a:buNone/>
            </a:pPr>
            <a:r>
              <a:rPr lang="en-US" sz="1600" b="1" dirty="0">
                <a:solidFill>
                  <a:srgbClr val="1F7A6D"/>
                </a:solidFill>
                <a:latin typeface="Calibri" pitchFamily="34" charset="0"/>
                <a:ea typeface="Calibri" pitchFamily="34" charset="-122"/>
                <a:cs typeface="Calibri" pitchFamily="34" charset="-120"/>
              </a:rPr>
              <a:t>Objective</a:t>
            </a:r>
            <a:endParaRPr lang="en-US" sz="1600" dirty="0"/>
          </a:p>
        </p:txBody>
      </p:sp>
      <p:sp>
        <p:nvSpPr>
          <p:cNvPr id="5" name="Text 3"/>
          <p:cNvSpPr txBox="1"/>
          <p:nvPr/>
        </p:nvSpPr>
        <p:spPr>
          <a:xfrm>
            <a:off x="2651760" y="1463040"/>
            <a:ext cx="4846320" cy="777240"/>
          </a:xfrm>
          <a:prstGeom prst="rect">
            <a:avLst/>
          </a:prstGeom>
          <a:noFill/>
          <a:ln/>
        </p:spPr>
        <p:txBody>
          <a:bodyPr wrap="square" lIns="0" tIns="0" rIns="0" bIns="0" rtlCol="0" anchor="ctr"/>
          <a:lstStyle/>
          <a:p>
            <a:pPr marL="0" indent="0">
              <a:buNone/>
            </a:pPr>
            <a:r>
              <a:rPr lang="en-US" sz="1600" dirty="0">
                <a:solidFill>
                  <a:srgbClr val="12212B"/>
                </a:solidFill>
                <a:latin typeface="Arial" pitchFamily="34" charset="0"/>
                <a:ea typeface="Arial" pitchFamily="34" charset="-122"/>
                <a:cs typeface="Arial" pitchFamily="34" charset="-120"/>
              </a:rPr>
              <a:t>max Σv Σi,j xijv · rj</a:t>
            </a:r>
            <a:endParaRPr lang="en-US" sz="1600" dirty="0"/>
          </a:p>
        </p:txBody>
      </p:sp>
      <p:sp>
        <p:nvSpPr>
          <p:cNvPr id="6" name="Text 4"/>
          <p:cNvSpPr txBox="1"/>
          <p:nvPr/>
        </p:nvSpPr>
        <p:spPr>
          <a:xfrm>
            <a:off x="7680960" y="1463040"/>
            <a:ext cx="3685032" cy="77724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collect as much reward as possible</a:t>
            </a:r>
            <a:endParaRPr lang="en-US" sz="1400" dirty="0"/>
          </a:p>
        </p:txBody>
      </p:sp>
      <p:sp>
        <p:nvSpPr>
          <p:cNvPr id="7" name="Shape 5"/>
          <p:cNvSpPr/>
          <p:nvPr/>
        </p:nvSpPr>
        <p:spPr>
          <a:xfrm>
            <a:off x="822960" y="2240280"/>
            <a:ext cx="10543032" cy="0"/>
          </a:xfrm>
          <a:prstGeom prst="line">
            <a:avLst/>
          </a:prstGeom>
          <a:noFill/>
          <a:ln w="12700">
            <a:solidFill>
              <a:srgbClr val="D9D6CC"/>
            </a:solidFill>
            <a:prstDash val="solid"/>
          </a:ln>
        </p:spPr>
        <p:txBody>
          <a:bodyPr/>
          <a:lstStyle/>
          <a:p>
            <a:endParaRPr lang="es-ES"/>
          </a:p>
        </p:txBody>
      </p:sp>
      <p:sp>
        <p:nvSpPr>
          <p:cNvPr id="8" name="Text 6"/>
          <p:cNvSpPr txBox="1"/>
          <p:nvPr/>
        </p:nvSpPr>
        <p:spPr>
          <a:xfrm>
            <a:off x="822960" y="2240280"/>
            <a:ext cx="1737360" cy="777240"/>
          </a:xfrm>
          <a:prstGeom prst="rect">
            <a:avLst/>
          </a:prstGeom>
          <a:noFill/>
          <a:ln/>
        </p:spPr>
        <p:txBody>
          <a:bodyPr wrap="square" lIns="0" tIns="0" rIns="0" bIns="0" rtlCol="0" anchor="ctr"/>
          <a:lstStyle/>
          <a:p>
            <a:pPr marL="0" indent="0">
              <a:buNone/>
            </a:pPr>
            <a:r>
              <a:rPr lang="en-US" sz="1600" b="1" dirty="0">
                <a:solidFill>
                  <a:srgbClr val="1F7A6D"/>
                </a:solidFill>
                <a:latin typeface="Calibri" pitchFamily="34" charset="0"/>
                <a:ea typeface="Calibri" pitchFamily="34" charset="-122"/>
                <a:cs typeface="Calibri" pitchFamily="34" charset="-120"/>
              </a:rPr>
              <a:t>Depots</a:t>
            </a:r>
            <a:endParaRPr lang="en-US" sz="1600" dirty="0"/>
          </a:p>
        </p:txBody>
      </p:sp>
      <p:sp>
        <p:nvSpPr>
          <p:cNvPr id="9" name="Text 7"/>
          <p:cNvSpPr txBox="1"/>
          <p:nvPr/>
        </p:nvSpPr>
        <p:spPr>
          <a:xfrm>
            <a:off x="2651760" y="2240280"/>
            <a:ext cx="4846320" cy="777240"/>
          </a:xfrm>
          <a:prstGeom prst="rect">
            <a:avLst/>
          </a:prstGeom>
          <a:noFill/>
          <a:ln/>
        </p:spPr>
        <p:txBody>
          <a:bodyPr wrap="square" lIns="0" tIns="0" rIns="0" bIns="0" rtlCol="0" anchor="ctr"/>
          <a:lstStyle/>
          <a:p>
            <a:pPr marL="0" indent="0">
              <a:buNone/>
            </a:pPr>
            <a:r>
              <a:rPr lang="en-US" sz="1600" dirty="0">
                <a:solidFill>
                  <a:srgbClr val="12212B"/>
                </a:solidFill>
                <a:latin typeface="Arial" pitchFamily="34" charset="0"/>
                <a:ea typeface="Arial" pitchFamily="34" charset="-122"/>
                <a:cs typeface="Arial" pitchFamily="34" charset="-120"/>
              </a:rPr>
              <a:t>Σj xojv ≤ 1  ·  no arc enters o or leaves d</a:t>
            </a:r>
            <a:endParaRPr lang="en-US" sz="1600" dirty="0"/>
          </a:p>
        </p:txBody>
      </p:sp>
      <p:sp>
        <p:nvSpPr>
          <p:cNvPr id="10" name="Text 8"/>
          <p:cNvSpPr txBox="1"/>
          <p:nvPr/>
        </p:nvSpPr>
        <p:spPr>
          <a:xfrm>
            <a:off x="7680960" y="2240280"/>
            <a:ext cx="3685032" cy="77724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each vehicle leaves o at most once and ends at d</a:t>
            </a:r>
            <a:endParaRPr lang="en-US" sz="1400" dirty="0"/>
          </a:p>
        </p:txBody>
      </p:sp>
      <p:sp>
        <p:nvSpPr>
          <p:cNvPr id="11" name="Shape 9"/>
          <p:cNvSpPr/>
          <p:nvPr/>
        </p:nvSpPr>
        <p:spPr>
          <a:xfrm>
            <a:off x="822960" y="3017520"/>
            <a:ext cx="10543032" cy="0"/>
          </a:xfrm>
          <a:prstGeom prst="line">
            <a:avLst/>
          </a:prstGeom>
          <a:noFill/>
          <a:ln w="12700">
            <a:solidFill>
              <a:srgbClr val="D9D6CC"/>
            </a:solidFill>
            <a:prstDash val="solid"/>
          </a:ln>
        </p:spPr>
        <p:txBody>
          <a:bodyPr/>
          <a:lstStyle/>
          <a:p>
            <a:endParaRPr lang="es-ES"/>
          </a:p>
        </p:txBody>
      </p:sp>
      <p:sp>
        <p:nvSpPr>
          <p:cNvPr id="12" name="Text 10"/>
          <p:cNvSpPr txBox="1"/>
          <p:nvPr/>
        </p:nvSpPr>
        <p:spPr>
          <a:xfrm>
            <a:off x="822960" y="3017520"/>
            <a:ext cx="1737360" cy="777240"/>
          </a:xfrm>
          <a:prstGeom prst="rect">
            <a:avLst/>
          </a:prstGeom>
          <a:noFill/>
          <a:ln/>
        </p:spPr>
        <p:txBody>
          <a:bodyPr wrap="square" lIns="0" tIns="0" rIns="0" bIns="0" rtlCol="0" anchor="ctr"/>
          <a:lstStyle/>
          <a:p>
            <a:pPr marL="0" indent="0">
              <a:buNone/>
            </a:pPr>
            <a:r>
              <a:rPr lang="en-US" sz="1600" b="1" dirty="0">
                <a:solidFill>
                  <a:srgbClr val="1F7A6D"/>
                </a:solidFill>
                <a:latin typeface="Calibri" pitchFamily="34" charset="0"/>
                <a:ea typeface="Calibri" pitchFamily="34" charset="-122"/>
                <a:cs typeface="Calibri" pitchFamily="34" charset="-120"/>
              </a:rPr>
              <a:t>Visits</a:t>
            </a:r>
            <a:endParaRPr lang="en-US" sz="1600" dirty="0"/>
          </a:p>
        </p:txBody>
      </p:sp>
      <p:sp>
        <p:nvSpPr>
          <p:cNvPr id="13" name="Text 11"/>
          <p:cNvSpPr txBox="1"/>
          <p:nvPr/>
        </p:nvSpPr>
        <p:spPr>
          <a:xfrm>
            <a:off x="2651760" y="3017520"/>
            <a:ext cx="4846320" cy="777240"/>
          </a:xfrm>
          <a:prstGeom prst="rect">
            <a:avLst/>
          </a:prstGeom>
          <a:noFill/>
          <a:ln/>
        </p:spPr>
        <p:txBody>
          <a:bodyPr wrap="square" lIns="0" tIns="0" rIns="0" bIns="0" rtlCol="0" anchor="ctr"/>
          <a:lstStyle/>
          <a:p>
            <a:pPr marL="0" indent="0">
              <a:buNone/>
            </a:pPr>
            <a:r>
              <a:rPr lang="en-US" sz="1600" dirty="0">
                <a:solidFill>
                  <a:srgbClr val="12212B"/>
                </a:solidFill>
                <a:latin typeface="Arial" pitchFamily="34" charset="0"/>
                <a:ea typeface="Arial" pitchFamily="34" charset="-122"/>
                <a:cs typeface="Arial" pitchFamily="34" charset="-120"/>
              </a:rPr>
              <a:t>Σv Σi xijv ≤ 1</a:t>
            </a:r>
            <a:endParaRPr lang="en-US" sz="1600" dirty="0"/>
          </a:p>
        </p:txBody>
      </p:sp>
      <p:sp>
        <p:nvSpPr>
          <p:cNvPr id="14" name="Text 12"/>
          <p:cNvSpPr txBox="1"/>
          <p:nvPr/>
        </p:nvSpPr>
        <p:spPr>
          <a:xfrm>
            <a:off x="7680960" y="3017520"/>
            <a:ext cx="3685032" cy="77724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each stop is visited at most once across all vehicles</a:t>
            </a:r>
            <a:endParaRPr lang="en-US" sz="1400" dirty="0"/>
          </a:p>
        </p:txBody>
      </p:sp>
      <p:sp>
        <p:nvSpPr>
          <p:cNvPr id="15" name="Shape 13"/>
          <p:cNvSpPr/>
          <p:nvPr/>
        </p:nvSpPr>
        <p:spPr>
          <a:xfrm>
            <a:off x="822960" y="3794760"/>
            <a:ext cx="10543032" cy="0"/>
          </a:xfrm>
          <a:prstGeom prst="line">
            <a:avLst/>
          </a:prstGeom>
          <a:noFill/>
          <a:ln w="12700">
            <a:solidFill>
              <a:srgbClr val="D9D6CC"/>
            </a:solidFill>
            <a:prstDash val="solid"/>
          </a:ln>
        </p:spPr>
        <p:txBody>
          <a:bodyPr/>
          <a:lstStyle/>
          <a:p>
            <a:endParaRPr lang="es-ES"/>
          </a:p>
        </p:txBody>
      </p:sp>
      <p:sp>
        <p:nvSpPr>
          <p:cNvPr id="16" name="Text 14"/>
          <p:cNvSpPr txBox="1"/>
          <p:nvPr/>
        </p:nvSpPr>
        <p:spPr>
          <a:xfrm>
            <a:off x="822960" y="3794760"/>
            <a:ext cx="1737360" cy="777240"/>
          </a:xfrm>
          <a:prstGeom prst="rect">
            <a:avLst/>
          </a:prstGeom>
          <a:noFill/>
          <a:ln/>
        </p:spPr>
        <p:txBody>
          <a:bodyPr wrap="square" lIns="0" tIns="0" rIns="0" bIns="0" rtlCol="0" anchor="ctr"/>
          <a:lstStyle/>
          <a:p>
            <a:pPr marL="0" indent="0">
              <a:buNone/>
            </a:pPr>
            <a:r>
              <a:rPr lang="en-US" sz="1600" b="1" dirty="0">
                <a:solidFill>
                  <a:srgbClr val="1F7A6D"/>
                </a:solidFill>
                <a:latin typeface="Calibri" pitchFamily="34" charset="0"/>
                <a:ea typeface="Calibri" pitchFamily="34" charset="-122"/>
                <a:cs typeface="Calibri" pitchFamily="34" charset="-120"/>
              </a:rPr>
              <a:t>Routes</a:t>
            </a:r>
            <a:endParaRPr lang="en-US" sz="1600" dirty="0"/>
          </a:p>
        </p:txBody>
      </p:sp>
      <p:sp>
        <p:nvSpPr>
          <p:cNvPr id="17" name="Text 15"/>
          <p:cNvSpPr txBox="1"/>
          <p:nvPr/>
        </p:nvSpPr>
        <p:spPr>
          <a:xfrm>
            <a:off x="2651760" y="3794760"/>
            <a:ext cx="4846320" cy="777240"/>
          </a:xfrm>
          <a:prstGeom prst="rect">
            <a:avLst/>
          </a:prstGeom>
          <a:noFill/>
          <a:ln/>
        </p:spPr>
        <p:txBody>
          <a:bodyPr wrap="square" lIns="0" tIns="0" rIns="0" bIns="0" rtlCol="0" anchor="ctr"/>
          <a:lstStyle/>
          <a:p>
            <a:pPr marL="0" indent="0">
              <a:buNone/>
            </a:pPr>
            <a:r>
              <a:rPr lang="en-US" sz="1600" dirty="0">
                <a:solidFill>
                  <a:srgbClr val="12212B"/>
                </a:solidFill>
                <a:latin typeface="Arial" pitchFamily="34" charset="0"/>
                <a:ea typeface="Arial" pitchFamily="34" charset="-122"/>
                <a:cs typeface="Arial" pitchFamily="34" charset="-120"/>
              </a:rPr>
              <a:t>flow conservation + MTZ ordering variables</a:t>
            </a:r>
            <a:endParaRPr lang="en-US" sz="1600" dirty="0"/>
          </a:p>
        </p:txBody>
      </p:sp>
      <p:sp>
        <p:nvSpPr>
          <p:cNvPr id="18" name="Text 16"/>
          <p:cNvSpPr txBox="1"/>
          <p:nvPr/>
        </p:nvSpPr>
        <p:spPr>
          <a:xfrm>
            <a:off x="7680960" y="3794760"/>
            <a:ext cx="3685032" cy="77724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continuous routes without subtours</a:t>
            </a:r>
            <a:endParaRPr lang="en-US" sz="1400" dirty="0"/>
          </a:p>
        </p:txBody>
      </p:sp>
      <p:sp>
        <p:nvSpPr>
          <p:cNvPr id="19" name="Shape 17"/>
          <p:cNvSpPr/>
          <p:nvPr/>
        </p:nvSpPr>
        <p:spPr>
          <a:xfrm>
            <a:off x="822960" y="4572000"/>
            <a:ext cx="10543032" cy="0"/>
          </a:xfrm>
          <a:prstGeom prst="line">
            <a:avLst/>
          </a:prstGeom>
          <a:noFill/>
          <a:ln w="12700">
            <a:solidFill>
              <a:srgbClr val="D9D6CC"/>
            </a:solidFill>
            <a:prstDash val="solid"/>
          </a:ln>
        </p:spPr>
        <p:txBody>
          <a:bodyPr/>
          <a:lstStyle/>
          <a:p>
            <a:endParaRPr lang="es-ES"/>
          </a:p>
        </p:txBody>
      </p:sp>
      <p:sp>
        <p:nvSpPr>
          <p:cNvPr id="20" name="Text 18"/>
          <p:cNvSpPr txBox="1"/>
          <p:nvPr/>
        </p:nvSpPr>
        <p:spPr>
          <a:xfrm>
            <a:off x="822960" y="4572000"/>
            <a:ext cx="1737360" cy="777240"/>
          </a:xfrm>
          <a:prstGeom prst="rect">
            <a:avLst/>
          </a:prstGeom>
          <a:noFill/>
          <a:ln/>
        </p:spPr>
        <p:txBody>
          <a:bodyPr wrap="square" lIns="0" tIns="0" rIns="0" bIns="0" rtlCol="0" anchor="ctr"/>
          <a:lstStyle/>
          <a:p>
            <a:pPr marL="0" indent="0">
              <a:buNone/>
            </a:pPr>
            <a:r>
              <a:rPr lang="en-US" sz="1600" b="1" dirty="0">
                <a:solidFill>
                  <a:srgbClr val="1F7A6D"/>
                </a:solidFill>
                <a:latin typeface="Calibri" pitchFamily="34" charset="0"/>
                <a:ea typeface="Calibri" pitchFamily="34" charset="-122"/>
                <a:cs typeface="Calibri" pitchFamily="34" charset="-120"/>
              </a:rPr>
              <a:t>Time budget</a:t>
            </a:r>
            <a:endParaRPr lang="en-US" sz="1600" dirty="0"/>
          </a:p>
        </p:txBody>
      </p:sp>
      <p:sp>
        <p:nvSpPr>
          <p:cNvPr id="21" name="Text 19"/>
          <p:cNvSpPr txBox="1"/>
          <p:nvPr/>
        </p:nvSpPr>
        <p:spPr>
          <a:xfrm>
            <a:off x="2651760" y="4572000"/>
            <a:ext cx="4846320" cy="777240"/>
          </a:xfrm>
          <a:prstGeom prst="rect">
            <a:avLst/>
          </a:prstGeom>
          <a:noFill/>
          <a:ln/>
        </p:spPr>
        <p:txBody>
          <a:bodyPr wrap="square" lIns="0" tIns="0" rIns="0" bIns="0" rtlCol="0" anchor="ctr"/>
          <a:lstStyle/>
          <a:p>
            <a:pPr marL="0" indent="0">
              <a:buNone/>
            </a:pPr>
            <a:r>
              <a:rPr lang="en-US" sz="1600" dirty="0">
                <a:solidFill>
                  <a:srgbClr val="12212B"/>
                </a:solidFill>
                <a:latin typeface="Arial" pitchFamily="34" charset="0"/>
                <a:ea typeface="Arial" pitchFamily="34" charset="-122"/>
                <a:cs typeface="Arial" pitchFamily="34" charset="-120"/>
              </a:rPr>
              <a:t>Σi,j xijv · f(i, j) ≤ Lv</a:t>
            </a:r>
            <a:endParaRPr lang="en-US" sz="1600" dirty="0"/>
          </a:p>
        </p:txBody>
      </p:sp>
      <p:sp>
        <p:nvSpPr>
          <p:cNvPr id="22" name="Text 20"/>
          <p:cNvSpPr txBox="1"/>
          <p:nvPr/>
        </p:nvSpPr>
        <p:spPr>
          <a:xfrm>
            <a:off x="7680960" y="4572000"/>
            <a:ext cx="3685032" cy="77724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each vehicle stays within its limit</a:t>
            </a:r>
            <a:endParaRPr lang="en-US" sz="1400" dirty="0"/>
          </a:p>
        </p:txBody>
      </p:sp>
      <p:sp>
        <p:nvSpPr>
          <p:cNvPr id="23" name="Shape 21"/>
          <p:cNvSpPr/>
          <p:nvPr/>
        </p:nvSpPr>
        <p:spPr>
          <a:xfrm>
            <a:off x="822960" y="5577840"/>
            <a:ext cx="10543032" cy="685800"/>
          </a:xfrm>
          <a:prstGeom prst="roundRect">
            <a:avLst>
              <a:gd name="adj" fmla="val 16000"/>
            </a:avLst>
          </a:prstGeom>
          <a:solidFill>
            <a:srgbClr val="FDFCF8"/>
          </a:solidFill>
          <a:ln w="9525">
            <a:solidFill>
              <a:srgbClr val="E6E3DA"/>
            </a:solidFill>
            <a:prstDash val="solid"/>
          </a:ln>
        </p:spPr>
        <p:txBody>
          <a:bodyPr/>
          <a:lstStyle/>
          <a:p>
            <a:endParaRPr lang="es-ES"/>
          </a:p>
        </p:txBody>
      </p:sp>
      <p:sp>
        <p:nvSpPr>
          <p:cNvPr id="24" name="Text 22"/>
          <p:cNvSpPr txBox="1"/>
          <p:nvPr/>
        </p:nvSpPr>
        <p:spPr>
          <a:xfrm>
            <a:off x="1097280" y="5577840"/>
            <a:ext cx="9994392" cy="68580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f(i, j) = dij · (1 + α · tij + β · eij), predicted before optimising. Costs are assumed known or estimated at optimisation time; no re-optimisation during execution.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274320"/>
            <a:ext cx="2743200" cy="274320"/>
          </a:xfrm>
          <a:prstGeom prst="rect">
            <a:avLst/>
          </a:prstGeom>
          <a:noFill/>
          <a:ln/>
        </p:spPr>
        <p:txBody>
          <a:bodyPr wrap="square" lIns="0" tIns="0" rIns="0" bIns="0" rtlCol="0" anchor="t"/>
          <a:lstStyle/>
          <a:p>
            <a:pPr marL="0" indent="0">
              <a:buNone/>
            </a:pPr>
            <a:r>
              <a:rPr lang="en-US" sz="1100" b="1" kern="0" spc="200" dirty="0">
                <a:solidFill>
                  <a:srgbClr val="1F7A6D"/>
                </a:solidFill>
                <a:latin typeface="Calibri" pitchFamily="34" charset="0"/>
                <a:ea typeface="Calibri" pitchFamily="34" charset="-122"/>
                <a:cs typeface="Calibri" pitchFamily="34" charset="-120"/>
              </a:rPr>
              <a:t>BACKUP</a:t>
            </a:r>
            <a:endParaRPr lang="en-US" sz="1100" dirty="0"/>
          </a:p>
        </p:txBody>
      </p:sp>
      <p:sp>
        <p:nvSpPr>
          <p:cNvPr id="3" name="Text 1"/>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How the instances are generated</a:t>
            </a:r>
            <a:endParaRPr lang="en-US" sz="3200" dirty="0"/>
          </a:p>
        </p:txBody>
      </p:sp>
      <p:sp>
        <p:nvSpPr>
          <p:cNvPr id="4" name="Shape 2"/>
          <p:cNvSpPr/>
          <p:nvPr/>
        </p:nvSpPr>
        <p:spPr>
          <a:xfrm>
            <a:off x="822960" y="1645920"/>
            <a:ext cx="2468880" cy="2514600"/>
          </a:xfrm>
          <a:prstGeom prst="roundRect">
            <a:avLst>
              <a:gd name="adj" fmla="val 4444"/>
            </a:avLst>
          </a:prstGeom>
          <a:solidFill>
            <a:srgbClr val="FDFCF8"/>
          </a:solidFill>
          <a:ln w="9525">
            <a:solidFill>
              <a:srgbClr val="E6E3DA"/>
            </a:solidFill>
            <a:prstDash val="solid"/>
          </a:ln>
        </p:spPr>
        <p:txBody>
          <a:bodyPr/>
          <a:lstStyle/>
          <a:p>
            <a:endParaRPr lang="es-ES"/>
          </a:p>
        </p:txBody>
      </p:sp>
      <p:sp>
        <p:nvSpPr>
          <p:cNvPr id="5" name="Text 3"/>
          <p:cNvSpPr txBox="1"/>
          <p:nvPr/>
        </p:nvSpPr>
        <p:spPr>
          <a:xfrm>
            <a:off x="1051560" y="1828800"/>
            <a:ext cx="2011680" cy="868680"/>
          </a:xfrm>
          <a:prstGeom prst="rect">
            <a:avLst/>
          </a:prstGeom>
          <a:noFill/>
          <a:ln/>
        </p:spPr>
        <p:txBody>
          <a:bodyPr wrap="square" lIns="0" tIns="0" rIns="0" bIns="0" rtlCol="0" anchor="t"/>
          <a:lstStyle/>
          <a:p>
            <a:pPr marL="0" indent="0">
              <a:buNone/>
            </a:pPr>
            <a:r>
              <a:rPr lang="en-US" sz="2200" b="1" dirty="0">
                <a:solidFill>
                  <a:srgbClr val="1F7A6D"/>
                </a:solidFill>
                <a:latin typeface="Arial" pitchFamily="34" charset="0"/>
                <a:ea typeface="Arial" pitchFamily="34" charset="-122"/>
                <a:cs typeface="Arial" pitchFamily="34" charset="-120"/>
              </a:rPr>
              <a:t>[0, 1]²</a:t>
            </a:r>
            <a:endParaRPr lang="en-US" sz="2200" dirty="0"/>
          </a:p>
        </p:txBody>
      </p:sp>
      <p:sp>
        <p:nvSpPr>
          <p:cNvPr id="6" name="Text 4"/>
          <p:cNvSpPr txBox="1"/>
          <p:nvPr/>
        </p:nvSpPr>
        <p:spPr>
          <a:xfrm>
            <a:off x="1051560" y="2697480"/>
            <a:ext cx="2011680" cy="137160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Nodes placed uniformly at random in the unit square</a:t>
            </a:r>
            <a:endParaRPr lang="en-US" sz="1500" dirty="0"/>
          </a:p>
        </p:txBody>
      </p:sp>
      <p:sp>
        <p:nvSpPr>
          <p:cNvPr id="7" name="Shape 5"/>
          <p:cNvSpPr/>
          <p:nvPr/>
        </p:nvSpPr>
        <p:spPr>
          <a:xfrm>
            <a:off x="3514039" y="1645920"/>
            <a:ext cx="2468880" cy="2514600"/>
          </a:xfrm>
          <a:prstGeom prst="roundRect">
            <a:avLst>
              <a:gd name="adj" fmla="val 4444"/>
            </a:avLst>
          </a:prstGeom>
          <a:solidFill>
            <a:srgbClr val="FDFCF8"/>
          </a:solidFill>
          <a:ln w="9525">
            <a:solidFill>
              <a:srgbClr val="E6E3DA"/>
            </a:solidFill>
            <a:prstDash val="solid"/>
          </a:ln>
        </p:spPr>
        <p:txBody>
          <a:bodyPr/>
          <a:lstStyle/>
          <a:p>
            <a:endParaRPr lang="es-ES"/>
          </a:p>
        </p:txBody>
      </p:sp>
      <p:sp>
        <p:nvSpPr>
          <p:cNvPr id="8" name="Text 6"/>
          <p:cNvSpPr txBox="1"/>
          <p:nvPr/>
        </p:nvSpPr>
        <p:spPr>
          <a:xfrm>
            <a:off x="3742639" y="1828800"/>
            <a:ext cx="2011680" cy="868680"/>
          </a:xfrm>
          <a:prstGeom prst="rect">
            <a:avLst/>
          </a:prstGeom>
          <a:noFill/>
          <a:ln/>
        </p:spPr>
        <p:txBody>
          <a:bodyPr wrap="square" lIns="0" tIns="0" rIns="0" bIns="0" rtlCol="0" anchor="t"/>
          <a:lstStyle/>
          <a:p>
            <a:pPr marL="0" indent="0">
              <a:buNone/>
            </a:pPr>
            <a:r>
              <a:rPr lang="en-US" sz="2200" b="1" dirty="0">
                <a:solidFill>
                  <a:srgbClr val="1F7A6D"/>
                </a:solidFill>
                <a:latin typeface="Arial" pitchFamily="34" charset="0"/>
                <a:ea typeface="Arial" pitchFamily="34" charset="-122"/>
                <a:cs typeface="Arial" pitchFamily="34" charset="-120"/>
              </a:rPr>
              <a:t>U[0, 1]</a:t>
            </a:r>
            <a:endParaRPr lang="en-US" sz="2200" dirty="0"/>
          </a:p>
        </p:txBody>
      </p:sp>
      <p:sp>
        <p:nvSpPr>
          <p:cNvPr id="9" name="Text 7"/>
          <p:cNvSpPr txBox="1"/>
          <p:nvPr/>
        </p:nvSpPr>
        <p:spPr>
          <a:xfrm>
            <a:off x="3742639" y="2697480"/>
            <a:ext cx="2011680" cy="137160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Reward of each node, drawn uniformly at random</a:t>
            </a:r>
            <a:endParaRPr lang="en-US" sz="1500" dirty="0"/>
          </a:p>
        </p:txBody>
      </p:sp>
      <p:sp>
        <p:nvSpPr>
          <p:cNvPr id="10" name="Shape 8"/>
          <p:cNvSpPr/>
          <p:nvPr/>
        </p:nvSpPr>
        <p:spPr>
          <a:xfrm>
            <a:off x="6205118" y="1645920"/>
            <a:ext cx="2468880" cy="2514600"/>
          </a:xfrm>
          <a:prstGeom prst="roundRect">
            <a:avLst>
              <a:gd name="adj" fmla="val 4444"/>
            </a:avLst>
          </a:prstGeom>
          <a:solidFill>
            <a:srgbClr val="FDFCF8"/>
          </a:solidFill>
          <a:ln w="9525">
            <a:solidFill>
              <a:srgbClr val="E6E3DA"/>
            </a:solidFill>
            <a:prstDash val="solid"/>
          </a:ln>
        </p:spPr>
        <p:txBody>
          <a:bodyPr/>
          <a:lstStyle/>
          <a:p>
            <a:endParaRPr lang="es-ES"/>
          </a:p>
        </p:txBody>
      </p:sp>
      <p:sp>
        <p:nvSpPr>
          <p:cNvPr id="11" name="Text 9"/>
          <p:cNvSpPr txBox="1"/>
          <p:nvPr/>
        </p:nvSpPr>
        <p:spPr>
          <a:xfrm>
            <a:off x="6433718" y="1828800"/>
            <a:ext cx="2011680" cy="868680"/>
          </a:xfrm>
          <a:prstGeom prst="rect">
            <a:avLst/>
          </a:prstGeom>
          <a:noFill/>
          <a:ln/>
        </p:spPr>
        <p:txBody>
          <a:bodyPr wrap="square" lIns="0" tIns="0" rIns="0" bIns="0" rtlCol="0" anchor="t"/>
          <a:lstStyle/>
          <a:p>
            <a:pPr marL="0" indent="0">
              <a:buNone/>
            </a:pPr>
            <a:r>
              <a:rPr lang="en-US" sz="2200" b="1" dirty="0">
                <a:solidFill>
                  <a:srgbClr val="1F7A6D"/>
                </a:solidFill>
                <a:latin typeface="Arial" pitchFamily="34" charset="0"/>
                <a:ea typeface="Arial" pitchFamily="34" charset="-122"/>
                <a:cs typeface="Arial" pitchFamily="34" charset="-120"/>
              </a:rPr>
              <a:t>d(o, d) + 0.5 + U[0, 1.5]</a:t>
            </a:r>
            <a:endParaRPr lang="en-US" sz="2200" dirty="0"/>
          </a:p>
        </p:txBody>
      </p:sp>
      <p:sp>
        <p:nvSpPr>
          <p:cNvPr id="12" name="Text 10"/>
          <p:cNvSpPr txBox="1"/>
          <p:nvPr/>
        </p:nvSpPr>
        <p:spPr>
          <a:xfrm>
            <a:off x="6433718" y="2697480"/>
            <a:ext cx="2011680" cy="137160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Distance budget of each vehicle: feasible, but never trivial</a:t>
            </a:r>
            <a:endParaRPr lang="en-US" sz="1500" dirty="0"/>
          </a:p>
        </p:txBody>
      </p:sp>
      <p:sp>
        <p:nvSpPr>
          <p:cNvPr id="13" name="Shape 11"/>
          <p:cNvSpPr/>
          <p:nvPr/>
        </p:nvSpPr>
        <p:spPr>
          <a:xfrm>
            <a:off x="8896198" y="1645920"/>
            <a:ext cx="2468880" cy="2514600"/>
          </a:xfrm>
          <a:prstGeom prst="roundRect">
            <a:avLst>
              <a:gd name="adj" fmla="val 4444"/>
            </a:avLst>
          </a:prstGeom>
          <a:solidFill>
            <a:srgbClr val="FDFCF8"/>
          </a:solidFill>
          <a:ln w="9525">
            <a:solidFill>
              <a:srgbClr val="E6E3DA"/>
            </a:solidFill>
            <a:prstDash val="solid"/>
          </a:ln>
        </p:spPr>
        <p:txBody>
          <a:bodyPr/>
          <a:lstStyle/>
          <a:p>
            <a:endParaRPr lang="es-ES"/>
          </a:p>
        </p:txBody>
      </p:sp>
      <p:sp>
        <p:nvSpPr>
          <p:cNvPr id="14" name="Text 12"/>
          <p:cNvSpPr txBox="1"/>
          <p:nvPr/>
        </p:nvSpPr>
        <p:spPr>
          <a:xfrm>
            <a:off x="9124798" y="1828800"/>
            <a:ext cx="2011680" cy="868680"/>
          </a:xfrm>
          <a:prstGeom prst="rect">
            <a:avLst/>
          </a:prstGeom>
          <a:noFill/>
          <a:ln/>
        </p:spPr>
        <p:txBody>
          <a:bodyPr wrap="square" lIns="0" tIns="0" rIns="0" bIns="0" rtlCol="0" anchor="t"/>
          <a:lstStyle/>
          <a:p>
            <a:pPr marL="0" indent="0">
              <a:buNone/>
            </a:pPr>
            <a:r>
              <a:rPr lang="en-US" sz="2200" b="1" dirty="0">
                <a:solidFill>
                  <a:srgbClr val="1F7A6D"/>
                </a:solidFill>
                <a:latin typeface="Arial" pitchFamily="34" charset="0"/>
                <a:ea typeface="Arial" pitchFamily="34" charset="-122"/>
                <a:cs typeface="Arial" pitchFamily="34" charset="-120"/>
              </a:rPr>
              <a:t>15–45 · 2–4</a:t>
            </a:r>
            <a:endParaRPr lang="en-US" sz="2200" dirty="0"/>
          </a:p>
        </p:txBody>
      </p:sp>
      <p:sp>
        <p:nvSpPr>
          <p:cNvPr id="15" name="Text 13"/>
          <p:cNvSpPr txBox="1"/>
          <p:nvPr/>
        </p:nvSpPr>
        <p:spPr>
          <a:xfrm>
            <a:off x="9124798" y="2697480"/>
            <a:ext cx="2011680" cy="137160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Stops · vehicles. 600 instances per combination (300 deterministic and their dynamic versions)</a:t>
            </a:r>
            <a:endParaRPr lang="en-US" sz="1500" dirty="0"/>
          </a:p>
        </p:txBody>
      </p:sp>
      <p:sp>
        <p:nvSpPr>
          <p:cNvPr id="16" name="Text 14"/>
          <p:cNvSpPr txBox="1"/>
          <p:nvPr/>
        </p:nvSpPr>
        <p:spPr>
          <a:xfrm>
            <a:off x="822960" y="4572000"/>
            <a:ext cx="10543032" cy="640080"/>
          </a:xfrm>
          <a:prstGeom prst="rect">
            <a:avLst/>
          </a:prstGeom>
          <a:noFill/>
          <a:ln/>
        </p:spPr>
        <p:txBody>
          <a:bodyPr wrap="square" lIns="0" tIns="0" rIns="0" bIns="0" rtlCol="0" anchor="t"/>
          <a:lstStyle/>
          <a:p>
            <a:pPr marL="0" indent="0">
              <a:buNone/>
            </a:pPr>
            <a:r>
              <a:rPr lang="en-US" sz="1600" dirty="0">
                <a:solidFill>
                  <a:srgbClr val="12212B"/>
                </a:solidFill>
                <a:latin typeface="Calibri" pitchFamily="34" charset="0"/>
                <a:ea typeface="Calibri" pitchFamily="34" charset="-122"/>
                <a:cs typeface="Calibri" pitchFamily="34" charset="-120"/>
              </a:rPr>
              <a:t>Dynamic version: the true travel time is the distance inflated by up to 12.5%, with traffic and weather each between 0 (ideal) and 1 (most adverse).</a:t>
            </a:r>
            <a:endParaRPr lang="en-US" sz="1600" dirty="0"/>
          </a:p>
        </p:txBody>
      </p:sp>
      <p:sp>
        <p:nvSpPr>
          <p:cNvPr id="17" name="Text 15"/>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Section 4 of the paper. The abstract and experiments use 27,000 instances; Section 4 mentions 54,000 generated.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274320"/>
            <a:ext cx="2743200" cy="274320"/>
          </a:xfrm>
          <a:prstGeom prst="rect">
            <a:avLst/>
          </a:prstGeom>
          <a:noFill/>
          <a:ln/>
        </p:spPr>
        <p:txBody>
          <a:bodyPr wrap="square" lIns="0" tIns="0" rIns="0" bIns="0" rtlCol="0" anchor="t"/>
          <a:lstStyle/>
          <a:p>
            <a:pPr marL="0" indent="0">
              <a:buNone/>
            </a:pPr>
            <a:r>
              <a:rPr lang="en-US" sz="1100" b="1" kern="0" spc="200" dirty="0">
                <a:solidFill>
                  <a:srgbClr val="1F7A6D"/>
                </a:solidFill>
                <a:latin typeface="Calibri" pitchFamily="34" charset="0"/>
                <a:ea typeface="Calibri" pitchFamily="34" charset="-122"/>
                <a:cs typeface="Calibri" pitchFamily="34" charset="-120"/>
              </a:rPr>
              <a:t>BACKUP</a:t>
            </a:r>
            <a:endParaRPr lang="en-US" sz="1100" dirty="0"/>
          </a:p>
        </p:txBody>
      </p:sp>
      <p:sp>
        <p:nvSpPr>
          <p:cNvPr id="3" name="Text 1"/>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Training and decoding details</a:t>
            </a:r>
            <a:endParaRPr lang="en-US" sz="3200" dirty="0"/>
          </a:p>
        </p:txBody>
      </p:sp>
      <p:sp>
        <p:nvSpPr>
          <p:cNvPr id="4" name="Shape 2"/>
          <p:cNvSpPr/>
          <p:nvPr/>
        </p:nvSpPr>
        <p:spPr>
          <a:xfrm>
            <a:off x="822960" y="1463040"/>
            <a:ext cx="5120640" cy="4480560"/>
          </a:xfrm>
          <a:prstGeom prst="roundRect">
            <a:avLst>
              <a:gd name="adj" fmla="val 2449"/>
            </a:avLst>
          </a:prstGeom>
          <a:solidFill>
            <a:srgbClr val="FDFCF8"/>
          </a:solidFill>
          <a:ln w="9525">
            <a:solidFill>
              <a:srgbClr val="E6E3DA"/>
            </a:solidFill>
            <a:prstDash val="solid"/>
          </a:ln>
        </p:spPr>
        <p:txBody>
          <a:bodyPr/>
          <a:lstStyle/>
          <a:p>
            <a:endParaRPr lang="es-ES"/>
          </a:p>
        </p:txBody>
      </p:sp>
      <p:sp>
        <p:nvSpPr>
          <p:cNvPr id="5" name="Text 3"/>
          <p:cNvSpPr txBox="1"/>
          <p:nvPr/>
        </p:nvSpPr>
        <p:spPr>
          <a:xfrm>
            <a:off x="1097280" y="1691640"/>
            <a:ext cx="4572000" cy="365760"/>
          </a:xfrm>
          <a:prstGeom prst="rect">
            <a:avLst/>
          </a:prstGeom>
          <a:noFill/>
          <a:ln/>
        </p:spPr>
        <p:txBody>
          <a:bodyPr wrap="square" lIns="0" tIns="0" rIns="0" bIns="0" rtlCol="0" anchor="ctr"/>
          <a:lstStyle/>
          <a:p>
            <a:pPr marL="0" indent="0">
              <a:buNone/>
            </a:pPr>
            <a:r>
              <a:rPr lang="en-US" sz="2000" b="1" dirty="0">
                <a:solidFill>
                  <a:srgbClr val="12212B"/>
                </a:solidFill>
                <a:latin typeface="Calibri" pitchFamily="34" charset="0"/>
                <a:ea typeface="Calibri" pitchFamily="34" charset="-122"/>
                <a:cs typeface="Calibri" pitchFamily="34" charset="-120"/>
              </a:rPr>
              <a:t>Training</a:t>
            </a:r>
            <a:endParaRPr lang="en-US" sz="2000" dirty="0"/>
          </a:p>
        </p:txBody>
      </p:sp>
      <p:sp>
        <p:nvSpPr>
          <p:cNvPr id="6" name="Text 4"/>
          <p:cNvSpPr txBox="1"/>
          <p:nvPr/>
        </p:nvSpPr>
        <p:spPr>
          <a:xfrm>
            <a:off x="1097280" y="2194560"/>
            <a:ext cx="457200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REINFORCE with a baseline built from augmented instances (Lee and Ahn)</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2,700 optimisation steps per epoch, batch of 256</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Each epoch is evaluated on 110,000 instances; a new best model is kept only if a t-test (0.05) confirms it</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One model for 18–36 stops and 2–4 vehicles, each configuration sampled equally</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Adam, learning rate decayed, then sampled around the best rate</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RTX 4060 GPU, 16 GB of RAM; about 40 h per dynamic model</a:t>
            </a:r>
            <a:endParaRPr lang="en-US" sz="1500" dirty="0"/>
          </a:p>
        </p:txBody>
      </p:sp>
      <p:sp>
        <p:nvSpPr>
          <p:cNvPr id="7" name="Shape 5"/>
          <p:cNvSpPr/>
          <p:nvPr/>
        </p:nvSpPr>
        <p:spPr>
          <a:xfrm>
            <a:off x="6245352" y="1463040"/>
            <a:ext cx="5120640" cy="4480560"/>
          </a:xfrm>
          <a:prstGeom prst="roundRect">
            <a:avLst>
              <a:gd name="adj" fmla="val 2449"/>
            </a:avLst>
          </a:prstGeom>
          <a:solidFill>
            <a:srgbClr val="FDFCF8"/>
          </a:solidFill>
          <a:ln w="9525">
            <a:solidFill>
              <a:srgbClr val="E6E3DA"/>
            </a:solidFill>
            <a:prstDash val="solid"/>
          </a:ln>
        </p:spPr>
        <p:txBody>
          <a:bodyPr/>
          <a:lstStyle/>
          <a:p>
            <a:endParaRPr lang="es-ES"/>
          </a:p>
        </p:txBody>
      </p:sp>
      <p:sp>
        <p:nvSpPr>
          <p:cNvPr id="8" name="Text 6"/>
          <p:cNvSpPr txBox="1"/>
          <p:nvPr/>
        </p:nvSpPr>
        <p:spPr>
          <a:xfrm>
            <a:off x="6519672" y="1691640"/>
            <a:ext cx="4572000" cy="365760"/>
          </a:xfrm>
          <a:prstGeom prst="rect">
            <a:avLst/>
          </a:prstGeom>
          <a:noFill/>
          <a:ln/>
        </p:spPr>
        <p:txBody>
          <a:bodyPr wrap="square" lIns="0" tIns="0" rIns="0" bIns="0" rtlCol="0" anchor="ctr"/>
          <a:lstStyle/>
          <a:p>
            <a:pPr marL="0" indent="0">
              <a:buNone/>
            </a:pPr>
            <a:r>
              <a:rPr lang="en-US" sz="2000" b="1" dirty="0">
                <a:solidFill>
                  <a:srgbClr val="12212B"/>
                </a:solidFill>
                <a:latin typeface="Calibri" pitchFamily="34" charset="0"/>
                <a:ea typeface="Calibri" pitchFamily="34" charset="-122"/>
                <a:cs typeface="Calibri" pitchFamily="34" charset="-120"/>
              </a:rPr>
              <a:t>Decoding at inference</a:t>
            </a:r>
            <a:endParaRPr lang="en-US" sz="2000" dirty="0"/>
          </a:p>
        </p:txBody>
      </p:sp>
      <p:sp>
        <p:nvSpPr>
          <p:cNvPr id="9" name="Text 7"/>
          <p:cNvSpPr txBox="1"/>
          <p:nvPr/>
        </p:nvSpPr>
        <p:spPr>
          <a:xfrm>
            <a:off x="6519672" y="2194560"/>
            <a:ext cx="457200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M: greedy decoding, the most probable stop at each step</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M+: also solves 8 reflections of the instance and keeps the best</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MO: also solves 32 rotations of the instance and keeps the best</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MO+: reflections × rotations = 256 versions of each instance</a:t>
            </a:r>
            <a:endParaRPr lang="en-US" sz="1500" dirty="0"/>
          </a:p>
        </p:txBody>
      </p:sp>
      <p:sp>
        <p:nvSpPr>
          <p:cNvPr id="10" name="Text 8"/>
          <p:cNvSpPr txBox="1"/>
          <p:nvPr/>
        </p:nvSpPr>
        <p:spPr>
          <a:xfrm>
            <a:off x="6519672" y="4572000"/>
            <a:ext cx="4572000" cy="1097280"/>
          </a:xfrm>
          <a:prstGeom prst="rect">
            <a:avLst/>
          </a:prstGeom>
          <a:noFill/>
          <a:ln/>
        </p:spPr>
        <p:txBody>
          <a:bodyPr wrap="square" lIns="0" tIns="0" rIns="0" bIns="0" rtlCol="0" anchor="t"/>
          <a:lstStyle/>
          <a:p>
            <a:pPr marL="0" indent="0">
              <a:buNone/>
            </a:pPr>
            <a:r>
              <a:rPr lang="en-US" sz="1400" dirty="0">
                <a:solidFill>
                  <a:srgbClr val="6B7580"/>
                </a:solidFill>
                <a:latin typeface="Calibri" pitchFamily="34" charset="0"/>
                <a:ea typeface="Calibri" pitchFamily="34" charset="-122"/>
                <a:cs typeface="Calibri" pitchFamily="34" charset="-120"/>
              </a:rPr>
              <a:t>Mean time per plan. Deterministic: 0.0014 s, 0.044 s, 0.07 s, 0.34 s. Dynamic: 0.0022 s, 0.052 s, 0.095 s, 0.54 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1083</TotalTime>
  <Words>2317</Words>
  <Application>Microsoft Office PowerPoint</Application>
  <PresentationFormat>Panorámica</PresentationFormat>
  <Paragraphs>195</Paragraphs>
  <Slides>13</Slides>
  <Notes>13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13</vt:i4>
      </vt:variant>
    </vt:vector>
  </HeadingPairs>
  <TitlesOfParts>
    <vt:vector size="16"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Transformers and RL for the TOP under dynamic conditions</dc:title>
  <dc:subject>PptxGenJS Presentation</dc:subject>
  <dc:creator>PptxGenJS</dc:creator>
  <cp:lastModifiedBy>Javier Salvatierra</cp:lastModifiedBy>
  <cp:revision>3</cp:revision>
  <dcterms:created xsi:type="dcterms:W3CDTF">2026-09-21T18:42:50Z</dcterms:created>
  <dcterms:modified xsi:type="dcterms:W3CDTF">2026-09-22T12:46:57Z</dcterms:modified>
</cp:coreProperties>
</file>