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β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1-C48E-46E8-A87C-5E6F16FEB01D}"/>
              </c:ext>
            </c:extLst>
          </c:dPt>
          <c:dPt>
            <c:idx val="1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3-C48E-46E8-A87C-5E6F16FEB01D}"/>
              </c:ext>
            </c:extLst>
          </c:dPt>
          <c:dPt>
            <c:idx val="2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5-C48E-46E8-A87C-5E6F16FEB01D}"/>
              </c:ext>
            </c:extLst>
          </c:dPt>
          <c:dPt>
            <c:idx val="3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7-C48E-46E8-A87C-5E6F16FEB01D}"/>
              </c:ext>
            </c:extLst>
          </c:dPt>
          <c:dPt>
            <c:idx val="4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9-C48E-46E8-A87C-5E6F16FEB01D}"/>
              </c:ext>
            </c:extLst>
          </c:dPt>
          <c:dPt>
            <c:idx val="5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B-C48E-46E8-A87C-5E6F16FEB01D}"/>
              </c:ext>
            </c:extLst>
          </c:dPt>
          <c:dPt>
            <c:idx val="6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D-C48E-46E8-A87C-5E6F16FEB01D}"/>
              </c:ext>
            </c:extLst>
          </c:dPt>
          <c:dPt>
            <c:idx val="7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F-C48E-46E8-A87C-5E6F16FEB01D}"/>
              </c:ext>
            </c:extLst>
          </c:dPt>
          <c:dPt>
            <c:idx val="8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11-C48E-46E8-A87C-5E6F16FEB01D}"/>
              </c:ext>
            </c:extLst>
          </c:dPt>
          <c:dPt>
            <c:idx val="9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13-C48E-46E8-A87C-5E6F16FEB01D}"/>
              </c:ext>
            </c:extLst>
          </c:dPt>
          <c:dPt>
            <c:idx val="10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15-C48E-46E8-A87C-5E6F16FEB01D}"/>
              </c:ext>
            </c:extLst>
          </c:dPt>
          <c:dPt>
            <c:idx val="11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17-C48E-46E8-A87C-5E6F16FEB01D}"/>
              </c:ext>
            </c:extLst>
          </c:dPt>
          <c:dPt>
            <c:idx val="12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19-C48E-46E8-A87C-5E6F16FEB01D}"/>
              </c:ext>
            </c:extLst>
          </c:dPt>
          <c:dPt>
            <c:idx val="13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1B-C48E-46E8-A87C-5E6F16FEB01D}"/>
              </c:ext>
            </c:extLst>
          </c:dPt>
          <c:dPt>
            <c:idx val="14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1D-C48E-46E8-A87C-5E6F16FEB01D}"/>
              </c:ext>
            </c:extLst>
          </c:dPt>
          <c:dPt>
            <c:idx val="15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1F-C48E-46E8-A87C-5E6F16FEB01D}"/>
              </c:ext>
            </c:extLst>
          </c:dPt>
          <c:dPt>
            <c:idx val="16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21-C48E-46E8-A87C-5E6F16FEB01D}"/>
              </c:ext>
            </c:extLst>
          </c:dPt>
          <c:dPt>
            <c:idx val="17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23-C48E-46E8-A87C-5E6F16FEB01D}"/>
              </c:ext>
            </c:extLst>
          </c:dPt>
          <c:dPt>
            <c:idx val="18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25-C48E-46E8-A87C-5E6F16FEB01D}"/>
              </c:ext>
            </c:extLst>
          </c:dPt>
          <c:dPt>
            <c:idx val="19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27-C48E-46E8-A87C-5E6F16FEB01D}"/>
              </c:ext>
            </c:extLst>
          </c:dPt>
          <c:dPt>
            <c:idx val="20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29-C48E-46E8-A87C-5E6F16FEB01D}"/>
              </c:ext>
            </c:extLst>
          </c:dPt>
          <c:dPt>
            <c:idx val="21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2B-C48E-46E8-A87C-5E6F16FEB01D}"/>
              </c:ext>
            </c:extLst>
          </c:dPt>
          <c:dPt>
            <c:idx val="22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2D-C48E-46E8-A87C-5E6F16FEB01D}"/>
              </c:ext>
            </c:extLst>
          </c:dPt>
          <c:dPt>
            <c:idx val="23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2F-C48E-46E8-A87C-5E6F16FEB01D}"/>
              </c:ext>
            </c:extLst>
          </c:dPt>
          <c:dPt>
            <c:idx val="24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31-C48E-46E8-A87C-5E6F16FEB01D}"/>
              </c:ext>
            </c:extLst>
          </c:dPt>
          <c:dPt>
            <c:idx val="25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33-C48E-46E8-A87C-5E6F16FEB01D}"/>
              </c:ext>
            </c:extLst>
          </c:dPt>
          <c:dPt>
            <c:idx val="26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35-C48E-46E8-A87C-5E6F16FEB01D}"/>
              </c:ext>
            </c:extLst>
          </c:dPt>
          <c:dPt>
            <c:idx val="27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37-C48E-46E8-A87C-5E6F16FEB01D}"/>
              </c:ext>
            </c:extLst>
          </c:dPt>
          <c:dPt>
            <c:idx val="28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39-C48E-46E8-A87C-5E6F16FEB01D}"/>
              </c:ext>
            </c:extLst>
          </c:dPt>
          <c:dPt>
            <c:idx val="29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3B-C48E-46E8-A87C-5E6F16FEB01D}"/>
              </c:ext>
            </c:extLst>
          </c:dPt>
          <c:dPt>
            <c:idx val="30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3D-C48E-46E8-A87C-5E6F16FEB01D}"/>
              </c:ext>
            </c:extLst>
          </c:dPt>
          <c:dPt>
            <c:idx val="31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3F-C48E-46E8-A87C-5E6F16FEB01D}"/>
              </c:ext>
            </c:extLst>
          </c:dPt>
          <c:dPt>
            <c:idx val="32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41-C48E-46E8-A87C-5E6F16FEB01D}"/>
              </c:ext>
            </c:extLst>
          </c:dPt>
          <c:dPt>
            <c:idx val="33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43-C48E-46E8-A87C-5E6F16FEB01D}"/>
              </c:ext>
            </c:extLst>
          </c:dPt>
          <c:dPt>
            <c:idx val="34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45-C48E-46E8-A87C-5E6F16FEB01D}"/>
              </c:ext>
            </c:extLst>
          </c:dPt>
          <c:dPt>
            <c:idx val="35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47-C48E-46E8-A87C-5E6F16FEB01D}"/>
              </c:ext>
            </c:extLst>
          </c:dPt>
          <c:dPt>
            <c:idx val="36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49-C48E-46E8-A87C-5E6F16FEB01D}"/>
              </c:ext>
            </c:extLst>
          </c:dPt>
          <c:dPt>
            <c:idx val="37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4B-C48E-46E8-A87C-5E6F16FEB01D}"/>
              </c:ext>
            </c:extLst>
          </c:dPt>
          <c:dPt>
            <c:idx val="38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4D-C48E-46E8-A87C-5E6F16FEB01D}"/>
              </c:ext>
            </c:extLst>
          </c:dPt>
          <c:dPt>
            <c:idx val="39"/>
            <c:invertIfNegative val="1"/>
            <c:bubble3D val="0"/>
            <c:spPr>
              <a:solidFill>
                <a:srgbClr val="B5471E"/>
              </a:solidFill>
            </c:spPr>
            <c:extLst>
              <c:ext xmlns:c16="http://schemas.microsoft.com/office/drawing/2014/chart" uri="{C3380CC4-5D6E-409C-BE32-E72D297353CC}">
                <c16:uniqueId val="{0000004F-C48E-46E8-A87C-5E6F16FEB01D}"/>
              </c:ext>
            </c:extLst>
          </c:dPt>
          <c:dPt>
            <c:idx val="40"/>
            <c:invertIfNegative val="1"/>
            <c:bubble3D val="0"/>
            <c:spPr>
              <a:solidFill>
                <a:srgbClr val="B5471E"/>
              </a:solidFill>
            </c:spPr>
            <c:extLst>
              <c:ext xmlns:c16="http://schemas.microsoft.com/office/drawing/2014/chart" uri="{C3380CC4-5D6E-409C-BE32-E72D297353CC}">
                <c16:uniqueId val="{00000051-C48E-46E8-A87C-5E6F16FEB01D}"/>
              </c:ext>
            </c:extLst>
          </c:dPt>
          <c:dPt>
            <c:idx val="41"/>
            <c:invertIfNegative val="1"/>
            <c:bubble3D val="0"/>
            <c:spPr>
              <a:solidFill>
                <a:srgbClr val="B5471E"/>
              </a:solidFill>
            </c:spPr>
            <c:extLst>
              <c:ext xmlns:c16="http://schemas.microsoft.com/office/drawing/2014/chart" uri="{C3380CC4-5D6E-409C-BE32-E72D297353CC}">
                <c16:uniqueId val="{00000053-C48E-46E8-A87C-5E6F16FEB01D}"/>
              </c:ext>
            </c:extLst>
          </c:dPt>
          <c:dPt>
            <c:idx val="42"/>
            <c:invertIfNegative val="1"/>
            <c:bubble3D val="0"/>
            <c:spPr>
              <a:solidFill>
                <a:srgbClr val="B5471E"/>
              </a:solidFill>
            </c:spPr>
            <c:extLst>
              <c:ext xmlns:c16="http://schemas.microsoft.com/office/drawing/2014/chart" uri="{C3380CC4-5D6E-409C-BE32-E72D297353CC}">
                <c16:uniqueId val="{00000055-C48E-46E8-A87C-5E6F16FEB01D}"/>
              </c:ext>
            </c:extLst>
          </c:dPt>
          <c:dPt>
            <c:idx val="43"/>
            <c:invertIfNegative val="1"/>
            <c:bubble3D val="0"/>
            <c:spPr>
              <a:solidFill>
                <a:srgbClr val="B5471E"/>
              </a:solidFill>
            </c:spPr>
            <c:extLst>
              <c:ext xmlns:c16="http://schemas.microsoft.com/office/drawing/2014/chart" uri="{C3380CC4-5D6E-409C-BE32-E72D297353CC}">
                <c16:uniqueId val="{00000057-C48E-46E8-A87C-5E6F16FEB01D}"/>
              </c:ext>
            </c:extLst>
          </c:dPt>
          <c:dPt>
            <c:idx val="44"/>
            <c:invertIfNegative val="1"/>
            <c:bubble3D val="0"/>
            <c:spPr>
              <a:solidFill>
                <a:srgbClr val="B5471E"/>
              </a:solidFill>
            </c:spPr>
            <c:extLst>
              <c:ext xmlns:c16="http://schemas.microsoft.com/office/drawing/2014/chart" uri="{C3380CC4-5D6E-409C-BE32-E72D297353CC}">
                <c16:uniqueId val="{00000059-C48E-46E8-A87C-5E6F16FEB01D}"/>
              </c:ext>
            </c:extLst>
          </c:dPt>
          <c:cat>
            <c:strRef>
              <c:f>Sheet1!$A$2:$A$46</c:f>
              <c:strCache>
                <c:ptCount val="4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</c:strCache>
            </c:strRef>
          </c:cat>
          <c:val>
            <c:numRef>
              <c:f>Sheet1!$B$2:$B$46</c:f>
              <c:numCache>
                <c:formatCode>General</c:formatCode>
                <c:ptCount val="45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  <c:pt idx="6">
                  <c:v>0.15000000000000002</c:v>
                </c:pt>
                <c:pt idx="7">
                  <c:v>0.15000000000000002</c:v>
                </c:pt>
                <c:pt idx="8">
                  <c:v>0.15000000000000002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0.25</c:v>
                </c:pt>
                <c:pt idx="13">
                  <c:v>0.25</c:v>
                </c:pt>
                <c:pt idx="14">
                  <c:v>0.25</c:v>
                </c:pt>
                <c:pt idx="15">
                  <c:v>0.3</c:v>
                </c:pt>
                <c:pt idx="16">
                  <c:v>0.3</c:v>
                </c:pt>
                <c:pt idx="17">
                  <c:v>0.3</c:v>
                </c:pt>
                <c:pt idx="18">
                  <c:v>0.35000000000000003</c:v>
                </c:pt>
                <c:pt idx="19">
                  <c:v>0.35000000000000003</c:v>
                </c:pt>
                <c:pt idx="20">
                  <c:v>0.35000000000000003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0.45</c:v>
                </c:pt>
                <c:pt idx="25">
                  <c:v>0.45</c:v>
                </c:pt>
                <c:pt idx="26">
                  <c:v>0.45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0.55000000000000004</c:v>
                </c:pt>
                <c:pt idx="31">
                  <c:v>0.55000000000000004</c:v>
                </c:pt>
                <c:pt idx="32">
                  <c:v>0.55000000000000004</c:v>
                </c:pt>
                <c:pt idx="33">
                  <c:v>0.60000000000000009</c:v>
                </c:pt>
                <c:pt idx="34">
                  <c:v>0.60000000000000009</c:v>
                </c:pt>
                <c:pt idx="35">
                  <c:v>0.60000000000000009</c:v>
                </c:pt>
                <c:pt idx="36">
                  <c:v>0.65000000000000013</c:v>
                </c:pt>
                <c:pt idx="37">
                  <c:v>0.65000000000000013</c:v>
                </c:pt>
                <c:pt idx="38">
                  <c:v>0.65000000000000013</c:v>
                </c:pt>
                <c:pt idx="39">
                  <c:v>0.7</c:v>
                </c:pt>
                <c:pt idx="40">
                  <c:v>0.7</c:v>
                </c:pt>
                <c:pt idx="41">
                  <c:v>0.7</c:v>
                </c:pt>
                <c:pt idx="42">
                  <c:v>0.7</c:v>
                </c:pt>
                <c:pt idx="43">
                  <c:v>0.7</c:v>
                </c:pt>
                <c:pt idx="44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A-C48E-46E8-A87C-5E6F16FEB0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BD1D6"/>
            </a:solidFill>
          </a:ln>
        </c:spPr>
        <c:txPr>
          <a:bodyPr/>
          <a:lstStyle/>
          <a:p>
            <a:pPr>
              <a:defRPr sz="1000">
                <a:solidFill>
                  <a:srgbClr val="4A5568"/>
                </a:solidFill>
              </a:defRPr>
            </a:pPr>
            <a:endParaRPr lang="es-ES"/>
          </a:p>
        </c:txPr>
        <c:crossAx val="-2113994440"/>
        <c:crosses val="autoZero"/>
        <c:auto val="1"/>
        <c:lblAlgn val="ctr"/>
        <c:lblOffset val="100"/>
        <c:tickLblSkip val="3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Gridlines>
          <c:spPr>
            <a:ln w="9525">
              <a:solidFill>
                <a:srgbClr val="E3E0D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580"/>
                </a:solidFill>
              </a:defRPr>
            </a:pPr>
            <a:endParaRPr lang="es-ES"/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NEH</c:v>
                </c:pt>
              </c:strCache>
            </c:strRef>
          </c:tx>
          <c:spPr>
            <a:solidFill>
              <a:srgbClr val="CBD1D6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tai001</c:v>
                </c:pt>
                <c:pt idx="1">
                  <c:v>tai051</c:v>
                </c:pt>
                <c:pt idx="2">
                  <c:v>tai081</c:v>
                </c:pt>
                <c:pt idx="3">
                  <c:v>tai101</c:v>
                </c:pt>
                <c:pt idx="4">
                  <c:v>tai117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0.626</c:v>
                </c:pt>
                <c:pt idx="1">
                  <c:v>6.1360000000000001</c:v>
                </c:pt>
                <c:pt idx="2">
                  <c:v>5.9960000000000004</c:v>
                </c:pt>
                <c:pt idx="3">
                  <c:v>3.9079999999999999</c:v>
                </c:pt>
                <c:pt idx="4">
                  <c:v>1.546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9C-4A10-920D-67EC97FD19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Unif</c:v>
                </c:pt>
              </c:strCache>
            </c:strRef>
          </c:tx>
          <c:spPr>
            <a:solidFill>
              <a:srgbClr val="8FA0A8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tai001</c:v>
                </c:pt>
                <c:pt idx="1">
                  <c:v>tai051</c:v>
                </c:pt>
                <c:pt idx="2">
                  <c:v>tai081</c:v>
                </c:pt>
                <c:pt idx="3">
                  <c:v>tai101</c:v>
                </c:pt>
                <c:pt idx="4">
                  <c:v>tai117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0.50600000000000001</c:v>
                </c:pt>
                <c:pt idx="1">
                  <c:v>5.7450000000000001</c:v>
                </c:pt>
                <c:pt idx="2">
                  <c:v>5.8680000000000003</c:v>
                </c:pt>
                <c:pt idx="3">
                  <c:v>3.802</c:v>
                </c:pt>
                <c:pt idx="4">
                  <c:v>1.486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D9C-4A10-920D-67EC97FD19D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Tri</c:v>
                </c:pt>
              </c:strCache>
            </c:strRef>
          </c:tx>
          <c:spPr>
            <a:solidFill>
              <a:srgbClr val="E9B872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tai001</c:v>
                </c:pt>
                <c:pt idx="1">
                  <c:v>tai051</c:v>
                </c:pt>
                <c:pt idx="2">
                  <c:v>tai081</c:v>
                </c:pt>
                <c:pt idx="3">
                  <c:v>tai101</c:v>
                </c:pt>
                <c:pt idx="4">
                  <c:v>tai117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0.36799999999999999</c:v>
                </c:pt>
                <c:pt idx="1">
                  <c:v>5.6079999999999997</c:v>
                </c:pt>
                <c:pt idx="2">
                  <c:v>5.7450000000000001</c:v>
                </c:pt>
                <c:pt idx="3">
                  <c:v>3.766</c:v>
                </c:pt>
                <c:pt idx="4">
                  <c:v>1.45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D9C-4A10-920D-67EC97FD19D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Geo(0.3)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tai001</c:v>
                </c:pt>
                <c:pt idx="1">
                  <c:v>tai051</c:v>
                </c:pt>
                <c:pt idx="2">
                  <c:v>tai081</c:v>
                </c:pt>
                <c:pt idx="3">
                  <c:v>tai101</c:v>
                </c:pt>
                <c:pt idx="4">
                  <c:v>tai117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0.23200000000000001</c:v>
                </c:pt>
                <c:pt idx="1">
                  <c:v>5.5469999999999997</c:v>
                </c:pt>
                <c:pt idx="2">
                  <c:v>5.6539999999999999</c:v>
                </c:pt>
                <c:pt idx="3">
                  <c:v>3.7559999999999998</c:v>
                </c:pt>
                <c:pt idx="4">
                  <c:v>1.401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BD9C-4A10-920D-67EC97FD19D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Geo(0.7)</c:v>
                </c:pt>
              </c:strCache>
            </c:strRef>
          </c:tx>
          <c:spPr>
            <a:solidFill>
              <a:srgbClr val="1F7A6D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tai001</c:v>
                </c:pt>
                <c:pt idx="1">
                  <c:v>tai051</c:v>
                </c:pt>
                <c:pt idx="2">
                  <c:v>tai081</c:v>
                </c:pt>
                <c:pt idx="3">
                  <c:v>tai101</c:v>
                </c:pt>
                <c:pt idx="4">
                  <c:v>tai117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0.104</c:v>
                </c:pt>
                <c:pt idx="1">
                  <c:v>5.4009999999999998</c:v>
                </c:pt>
                <c:pt idx="2">
                  <c:v>5.742</c:v>
                </c:pt>
                <c:pt idx="3">
                  <c:v>3.714</c:v>
                </c:pt>
                <c:pt idx="4">
                  <c:v>1.4079999999999999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BD9C-4A10-920D-67EC97FD19D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Geo-adapt</c:v>
                </c:pt>
              </c:strCache>
            </c:strRef>
          </c:tx>
          <c:spPr>
            <a:solidFill>
              <a:srgbClr val="B5471E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tai001</c:v>
                </c:pt>
                <c:pt idx="1">
                  <c:v>tai051</c:v>
                </c:pt>
                <c:pt idx="2">
                  <c:v>tai081</c:v>
                </c:pt>
                <c:pt idx="3">
                  <c:v>tai101</c:v>
                </c:pt>
                <c:pt idx="4">
                  <c:v>tai117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0.35699999999999998</c:v>
                </c:pt>
                <c:pt idx="1">
                  <c:v>5.5839999999999996</c:v>
                </c:pt>
                <c:pt idx="2">
                  <c:v>5.6849999999999996</c:v>
                </c:pt>
                <c:pt idx="3">
                  <c:v>3.7320000000000002</c:v>
                </c:pt>
                <c:pt idx="4">
                  <c:v>1.411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BD9C-4A10-920D-67EC97FD19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BD1D6"/>
            </a:solidFill>
          </a:ln>
        </c:spPr>
        <c:txPr>
          <a:bodyPr/>
          <a:lstStyle/>
          <a:p>
            <a:pPr>
              <a:defRPr sz="1200">
                <a:solidFill>
                  <a:srgbClr val="4A5568"/>
                </a:solidFill>
              </a:defRPr>
            </a:pPr>
            <a:endParaRPr lang="es-E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"/>
          <c:min val="0"/>
        </c:scaling>
        <c:delete val="0"/>
        <c:axPos val="l"/>
        <c:majorGridlines>
          <c:spPr>
            <a:ln w="9525">
              <a:solidFill>
                <a:srgbClr val="E3E0D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580"/>
                </a:solidFill>
              </a:defRPr>
            </a:pPr>
            <a:endParaRPr lang="es-E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4A5568"/>
              </a:solidFill>
            </a:defRPr>
          </a:pPr>
          <a:endParaRPr lang="es-E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dLbls>
            <c:numFmt formatCode="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2212B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0.25</c:v>
                </c:pt>
                <c:pt idx="5">
                  <c:v>0.30</c:v>
                </c:pt>
                <c:pt idx="6">
                  <c:v>0.35</c:v>
                </c:pt>
                <c:pt idx="7">
                  <c:v>0.40</c:v>
                </c:pt>
                <c:pt idx="8">
                  <c:v>0.45</c:v>
                </c:pt>
                <c:pt idx="9">
                  <c:v>0.50</c:v>
                </c:pt>
                <c:pt idx="10">
                  <c:v>0.55</c:v>
                </c:pt>
                <c:pt idx="11">
                  <c:v>0.60</c:v>
                </c:pt>
                <c:pt idx="12">
                  <c:v>0.65</c:v>
                </c:pt>
                <c:pt idx="13">
                  <c:v>0.70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</c:v>
                </c:pt>
                <c:pt idx="1">
                  <c:v>6</c:v>
                </c:pt>
                <c:pt idx="2">
                  <c:v>6</c:v>
                </c:pt>
                <c:pt idx="3">
                  <c:v>4</c:v>
                </c:pt>
                <c:pt idx="4">
                  <c:v>2</c:v>
                </c:pt>
                <c:pt idx="5">
                  <c:v>4</c:v>
                </c:pt>
                <c:pt idx="6">
                  <c:v>2</c:v>
                </c:pt>
                <c:pt idx="7">
                  <c:v>2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546-44BE-A1FE-92D4D22634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BD1D6"/>
            </a:solidFill>
          </a:ln>
        </c:spPr>
        <c:txPr>
          <a:bodyPr/>
          <a:lstStyle/>
          <a:p>
            <a:pPr>
              <a:defRPr sz="1000">
                <a:solidFill>
                  <a:srgbClr val="4A5568"/>
                </a:solidFill>
              </a:defRPr>
            </a:pPr>
            <a:endParaRPr lang="es-E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"/>
          <c:min val="0"/>
        </c:scaling>
        <c:delete val="0"/>
        <c:axPos val="l"/>
        <c:majorGridlines>
          <c:spPr>
            <a:ln w="9525">
              <a:solidFill>
                <a:srgbClr val="E3E0D6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580"/>
                </a:solidFill>
              </a:defRPr>
            </a:pPr>
            <a:endParaRPr lang="es-E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NEH</c:v>
                </c:pt>
              </c:strCache>
            </c:strRef>
          </c:tx>
          <c:spPr>
            <a:solidFill>
              <a:srgbClr val="CBD1D6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tai051</c:v>
                </c:pt>
                <c:pt idx="1">
                  <c:v>tai081</c:v>
                </c:pt>
                <c:pt idx="2">
                  <c:v>tai101</c:v>
                </c:pt>
                <c:pt idx="3">
                  <c:v>tai117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1.3029999999999999</c:v>
                </c:pt>
                <c:pt idx="1">
                  <c:v>2.4049999999999998</c:v>
                </c:pt>
                <c:pt idx="2">
                  <c:v>1.758</c:v>
                </c:pt>
                <c:pt idx="3">
                  <c:v>0.54200000000000004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422-4E0B-A146-0728188162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Unif</c:v>
                </c:pt>
              </c:strCache>
            </c:strRef>
          </c:tx>
          <c:spPr>
            <a:solidFill>
              <a:srgbClr val="8FA0A8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tai051</c:v>
                </c:pt>
                <c:pt idx="1">
                  <c:v>tai081</c:v>
                </c:pt>
                <c:pt idx="2">
                  <c:v>tai101</c:v>
                </c:pt>
                <c:pt idx="3">
                  <c:v>tai117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1.1180000000000001</c:v>
                </c:pt>
                <c:pt idx="1">
                  <c:v>2.3170000000000002</c:v>
                </c:pt>
                <c:pt idx="2">
                  <c:v>1.748</c:v>
                </c:pt>
                <c:pt idx="3">
                  <c:v>0.621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422-4E0B-A146-0728188162B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Tri</c:v>
                </c:pt>
              </c:strCache>
            </c:strRef>
          </c:tx>
          <c:spPr>
            <a:solidFill>
              <a:srgbClr val="E9B872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tai051</c:v>
                </c:pt>
                <c:pt idx="1">
                  <c:v>tai081</c:v>
                </c:pt>
                <c:pt idx="2">
                  <c:v>tai101</c:v>
                </c:pt>
                <c:pt idx="3">
                  <c:v>tai117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1.2250000000000001</c:v>
                </c:pt>
                <c:pt idx="1">
                  <c:v>2.15</c:v>
                </c:pt>
                <c:pt idx="2">
                  <c:v>1.718</c:v>
                </c:pt>
                <c:pt idx="3">
                  <c:v>0.57299999999999995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422-4E0B-A146-0728188162B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Geo(0.1)</c:v>
                </c:pt>
              </c:strCache>
            </c:strRef>
          </c:tx>
          <c:spPr>
            <a:solidFill>
              <a:srgbClr val="2A9D8F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tai051</c:v>
                </c:pt>
                <c:pt idx="1">
                  <c:v>tai081</c:v>
                </c:pt>
                <c:pt idx="2">
                  <c:v>tai101</c:v>
                </c:pt>
                <c:pt idx="3">
                  <c:v>tai117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1.329</c:v>
                </c:pt>
                <c:pt idx="1">
                  <c:v>2.1680000000000001</c:v>
                </c:pt>
                <c:pt idx="2">
                  <c:v>1.7829999999999999</c:v>
                </c:pt>
                <c:pt idx="3">
                  <c:v>0.59199999999999997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A422-4E0B-A146-0728188162B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Geo(0.3)</c:v>
                </c:pt>
              </c:strCache>
            </c:strRef>
          </c:tx>
          <c:spPr>
            <a:solidFill>
              <a:srgbClr val="1F7A6D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tai051</c:v>
                </c:pt>
                <c:pt idx="1">
                  <c:v>tai081</c:v>
                </c:pt>
                <c:pt idx="2">
                  <c:v>tai101</c:v>
                </c:pt>
                <c:pt idx="3">
                  <c:v>tai117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1.3340000000000001</c:v>
                </c:pt>
                <c:pt idx="1">
                  <c:v>2.194</c:v>
                </c:pt>
                <c:pt idx="2">
                  <c:v>1.7529999999999999</c:v>
                </c:pt>
                <c:pt idx="3">
                  <c:v>0.64500000000000002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A422-4E0B-A146-0728188162B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Geo-adapt</c:v>
                </c:pt>
              </c:strCache>
            </c:strRef>
          </c:tx>
          <c:spPr>
            <a:solidFill>
              <a:srgbClr val="B5471E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tai051</c:v>
                </c:pt>
                <c:pt idx="1">
                  <c:v>tai081</c:v>
                </c:pt>
                <c:pt idx="2">
                  <c:v>tai101</c:v>
                </c:pt>
                <c:pt idx="3">
                  <c:v>tai117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1.2949999999999999</c:v>
                </c:pt>
                <c:pt idx="1">
                  <c:v>2.1070000000000002</c:v>
                </c:pt>
                <c:pt idx="2">
                  <c:v>1.754</c:v>
                </c:pt>
                <c:pt idx="3">
                  <c:v>0.623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A422-4E0B-A146-0728188162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BD1D6"/>
            </a:solidFill>
          </a:ln>
        </c:spPr>
        <c:txPr>
          <a:bodyPr/>
          <a:lstStyle/>
          <a:p>
            <a:pPr>
              <a:defRPr sz="1200">
                <a:solidFill>
                  <a:srgbClr val="4A5568"/>
                </a:solidFill>
              </a:defRPr>
            </a:pPr>
            <a:endParaRPr lang="es-E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5"/>
          <c:min val="0"/>
        </c:scaling>
        <c:delete val="0"/>
        <c:axPos val="l"/>
        <c:majorGridlines>
          <c:spPr>
            <a:ln w="9525">
              <a:solidFill>
                <a:srgbClr val="E3E0D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580"/>
                </a:solidFill>
              </a:defRPr>
            </a:pPr>
            <a:endParaRPr lang="es-E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4A5568"/>
              </a:solidFill>
            </a:defRPr>
          </a:pPr>
          <a:endParaRPr lang="es-ES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GAP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5471E"/>
              </a:solidFill>
            </c:spPr>
            <c:extLst>
              <c:ext xmlns:c16="http://schemas.microsoft.com/office/drawing/2014/chart" uri="{C3380CC4-5D6E-409C-BE32-E72D297353CC}">
                <c16:uniqueId val="{00000001-6803-45FE-9BF9-7E42BB535E00}"/>
              </c:ext>
            </c:extLst>
          </c:dPt>
          <c:dPt>
            <c:idx val="1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3-6803-45FE-9BF9-7E42BB535E00}"/>
              </c:ext>
            </c:extLst>
          </c:dPt>
          <c:dPt>
            <c:idx val="2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5-6803-45FE-9BF9-7E42BB535E00}"/>
              </c:ext>
            </c:extLst>
          </c:dPt>
          <c:dPt>
            <c:idx val="3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7-6803-45FE-9BF9-7E42BB535E00}"/>
              </c:ext>
            </c:extLst>
          </c:dPt>
          <c:dPt>
            <c:idx val="4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9-6803-45FE-9BF9-7E42BB535E00}"/>
              </c:ext>
            </c:extLst>
          </c:dPt>
          <c:dPt>
            <c:idx val="5"/>
            <c:invertIfNegative val="1"/>
            <c:bubble3D val="0"/>
            <c:spPr>
              <a:solidFill>
                <a:srgbClr val="CBD1D6"/>
              </a:solidFill>
            </c:spPr>
            <c:extLst>
              <c:ext xmlns:c16="http://schemas.microsoft.com/office/drawing/2014/chart" uri="{C3380CC4-5D6E-409C-BE32-E72D297353CC}">
                <c16:uniqueId val="{0000000B-6803-45FE-9BF9-7E42BB535E0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2212B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Geo-adapt  (p = 0.017)</c:v>
                </c:pt>
                <c:pt idx="1">
                  <c:v>Tri  (p = 0.049)</c:v>
                </c:pt>
                <c:pt idx="2">
                  <c:v>Geo(0.1)  (p = 0.112)</c:v>
                </c:pt>
                <c:pt idx="3">
                  <c:v>Geo(0.3)  (p = 0.089)</c:v>
                </c:pt>
                <c:pt idx="4">
                  <c:v>Unif  (p = 0.307)</c:v>
                </c:pt>
                <c:pt idx="5">
                  <c:v>NEH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2.1070000000000002</c:v>
                </c:pt>
                <c:pt idx="1">
                  <c:v>2.15</c:v>
                </c:pt>
                <c:pt idx="2">
                  <c:v>2.1680000000000001</c:v>
                </c:pt>
                <c:pt idx="3">
                  <c:v>2.194</c:v>
                </c:pt>
                <c:pt idx="4">
                  <c:v>2.3170000000000002</c:v>
                </c:pt>
                <c:pt idx="5">
                  <c:v>2.4049999999999998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803-45FE-9BF9-7E42BB535E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BD1D6"/>
            </a:solidFill>
          </a:ln>
        </c:spPr>
        <c:txPr>
          <a:bodyPr/>
          <a:lstStyle/>
          <a:p>
            <a:pPr>
              <a:defRPr sz="1200">
                <a:solidFill>
                  <a:srgbClr val="4A5568"/>
                </a:solidFill>
              </a:defRPr>
            </a:pPr>
            <a:endParaRPr lang="es-E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6"/>
          <c:min val="2"/>
        </c:scaling>
        <c:delete val="1"/>
        <c:axPos val="t"/>
        <c:numFmt formatCode="0.0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686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2A9D8F"/>
                </a:solidFill>
                <a:latin typeface="Calibri"/>
              </a:rPr>
              <a:t>HEURISTICS · PERMUTATION FLOW-SHOP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52784"/>
            <a:ext cx="10543032" cy="11695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 dirty="0">
                <a:solidFill>
                  <a:srgbClr val="F7F5EF"/>
                </a:solidFill>
                <a:latin typeface="Arial"/>
              </a:rPr>
              <a:t>NEH, biased randomization</a:t>
            </a:r>
          </a:p>
          <a:p>
            <a:pPr algn="l">
              <a:spcAft>
                <a:spcPts val="0"/>
              </a:spcAft>
            </a:pPr>
            <a:r>
              <a:rPr sz="3800" b="1" i="0" dirty="0">
                <a:solidFill>
                  <a:srgbClr val="F7F5EF"/>
                </a:solidFill>
                <a:latin typeface="Arial"/>
              </a:rPr>
              <a:t>and an adaptive 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9D6DA"/>
                </a:solidFill>
                <a:latin typeface="Calibri"/>
              </a:rPr>
              <a:t>RandNEH and ILS-ESP of Juan et al. (2014), built in Python with Numba and tested on five Taillard instances, from 20 to 500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792" y="6035040"/>
            <a:ext cx="105430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 dirty="0">
                <a:solidFill>
                  <a:srgbClr val="8FA0A8"/>
                </a:solidFill>
                <a:latin typeface="Calibri"/>
              </a:rPr>
              <a:t>Javier Salvatierra Corchado</a:t>
            </a:r>
            <a:r>
              <a:rPr lang="es-ES" sz="1300" b="0" i="0" dirty="0">
                <a:solidFill>
                  <a:srgbClr val="8FA0A8"/>
                </a:solidFill>
                <a:latin typeface="Calibri"/>
              </a:rPr>
              <a:t> · Jesús Inurria Porrero </a:t>
            </a:r>
            <a:endParaRPr sz="1300" b="0" i="0" dirty="0">
              <a:solidFill>
                <a:srgbClr val="8FA0A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The permutation flow-shop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A5568"/>
                </a:solidFill>
                <a:latin typeface="Calibri"/>
              </a:rPr>
              <a:t>n jobs, m machines. Job j needs p[j,k] time units on machine 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2697480"/>
            <a:ext cx="429768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6974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A5568"/>
                </a:solidFill>
                <a:latin typeface="Calibri"/>
              </a:rPr>
              <a:t>Every job visits the machines in the same order, and every machine processes the jobs in the same permutation.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611880"/>
            <a:ext cx="429768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36118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A5568"/>
                </a:solidFill>
                <a:latin typeface="Calibri"/>
              </a:rPr>
              <a:t>Minimise the makespan: the time at which the last job leaves the last machine.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4526280"/>
            <a:ext cx="4297680" cy="0"/>
          </a:xfrm>
          <a:prstGeom prst="line">
            <a:avLst/>
          </a:prstGeom>
          <a:ln w="12700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461772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7A6D"/>
                </a:solidFill>
                <a:latin typeface="Calibri"/>
              </a:rPr>
              <a:t>The search space is n! permutations.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600240"/>
            <a:ext cx="54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SCHEDULE OF 4 JOBS ON 3 MACHINES (ORDER 1-2-3-4)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0720" y="1920240"/>
            <a:ext cx="420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12212B"/>
                </a:solidFill>
                <a:latin typeface="Arial"/>
              </a:rPr>
              <a:t>M1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920240"/>
            <a:ext cx="5400000" cy="6400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0" y="1920240"/>
            <a:ext cx="1012500" cy="640080"/>
          </a:xfrm>
          <a:prstGeom prst="rect">
            <a:avLst/>
          </a:prstGeom>
          <a:solidFill>
            <a:srgbClr val="2A9D8F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73220" y="1920240"/>
            <a:ext cx="675000" cy="640080"/>
          </a:xfrm>
          <a:prstGeom prst="rect">
            <a:avLst/>
          </a:prstGeom>
          <a:solidFill>
            <a:srgbClr val="E07040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8220" y="1920240"/>
            <a:ext cx="1350000" cy="640080"/>
          </a:xfrm>
          <a:prstGeom prst="rect">
            <a:avLst/>
          </a:prstGeom>
          <a:solidFill>
            <a:srgbClr val="8FA0A8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98220" y="1920240"/>
            <a:ext cx="675000" cy="640080"/>
          </a:xfrm>
          <a:prstGeom prst="rect">
            <a:avLst/>
          </a:prstGeom>
          <a:solidFill>
            <a:srgbClr val="1F7A6D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0720" y="2651760"/>
            <a:ext cx="420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12212B"/>
                </a:solidFill>
                <a:latin typeface="Arial"/>
              </a:rPr>
              <a:t>M2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651760"/>
            <a:ext cx="5400000" cy="6400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73220" y="2651760"/>
            <a:ext cx="675000" cy="640080"/>
          </a:xfrm>
          <a:prstGeom prst="rect">
            <a:avLst/>
          </a:prstGeom>
          <a:solidFill>
            <a:srgbClr val="2A9D8F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8220" y="2651760"/>
            <a:ext cx="1350000" cy="640080"/>
          </a:xfrm>
          <a:prstGeom prst="rect">
            <a:avLst/>
          </a:prstGeom>
          <a:solidFill>
            <a:srgbClr val="E07040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98220" y="2651760"/>
            <a:ext cx="337500" cy="640080"/>
          </a:xfrm>
          <a:prstGeom prst="rect">
            <a:avLst/>
          </a:prstGeom>
          <a:solidFill>
            <a:srgbClr val="8FA0A8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73220" y="2651760"/>
            <a:ext cx="1012500" cy="640080"/>
          </a:xfrm>
          <a:prstGeom prst="rect">
            <a:avLst/>
          </a:prstGeom>
          <a:solidFill>
            <a:srgbClr val="1F7A6D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0720" y="3383280"/>
            <a:ext cx="420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12212B"/>
                </a:solidFill>
                <a:latin typeface="Arial"/>
              </a:rPr>
              <a:t>M3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3383280"/>
            <a:ext cx="5400000" cy="6400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48220" y="3383280"/>
            <a:ext cx="1350000" cy="640080"/>
          </a:xfrm>
          <a:prstGeom prst="rect">
            <a:avLst/>
          </a:prstGeom>
          <a:solidFill>
            <a:srgbClr val="2A9D8F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98220" y="3383280"/>
            <a:ext cx="675000" cy="640080"/>
          </a:xfrm>
          <a:prstGeom prst="rect">
            <a:avLst/>
          </a:prstGeom>
          <a:solidFill>
            <a:srgbClr val="E07040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73220" y="3383280"/>
            <a:ext cx="1012500" cy="640080"/>
          </a:xfrm>
          <a:prstGeom prst="rect">
            <a:avLst/>
          </a:prstGeom>
          <a:solidFill>
            <a:srgbClr val="8FA0A8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85720" y="3383280"/>
            <a:ext cx="675000" cy="640080"/>
          </a:xfrm>
          <a:prstGeom prst="rect">
            <a:avLst/>
          </a:prstGeom>
          <a:solidFill>
            <a:srgbClr val="1F7A6D"/>
          </a:solidFill>
          <a:ln w="19050">
            <a:solidFill>
              <a:srgbClr val="F7F5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160720" y="1860240"/>
            <a:ext cx="0" cy="2254560"/>
          </a:xfrm>
          <a:prstGeom prst="line">
            <a:avLst/>
          </a:prstGeom>
          <a:ln w="28575">
            <a:solidFill>
              <a:srgbClr val="B5471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60720" y="4144800"/>
            <a:ext cx="15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B5471E"/>
                </a:solidFill>
                <a:latin typeface="Calibri"/>
              </a:rPr>
              <a:t>makespan = 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534800"/>
            <a:ext cx="5400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Reordering the jobs shifts every block to the right or to the left, so the permutation decides the makespan.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C[i][k] = max(C[i−1][k], C[i][k−1]) + p[π(i), k]. Evaluating one permutation costs O(n·m). GAP % = 100 · (value − BKS) / BKS.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NEH: the constructive heuristic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0543032" cy="1143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0000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B7580"/>
                </a:solidFill>
                <a:latin typeface="Calibri"/>
              </a:rPr>
              <a:t>TOTAL PROCESSING TIME OF JOB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0" i="0">
                <a:solidFill>
                  <a:srgbClr val="12212B"/>
                </a:solidFill>
                <a:latin typeface="Arial"/>
              </a:rPr>
              <a:t>TPT(j) = Σₖ p[j, k]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2395728" cy="141732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12B"/>
                </a:solidFill>
                <a:latin typeface="Calibri"/>
              </a:rPr>
              <a:t>1  Sort the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21214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by TPT, largest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35960" y="3726180"/>
            <a:ext cx="283464" cy="0"/>
          </a:xfrm>
          <a:prstGeom prst="line">
            <a:avLst/>
          </a:prstGeom>
          <a:ln w="19050">
            <a:solidFill>
              <a:srgbClr val="6B75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20440" y="3017520"/>
            <a:ext cx="2395728" cy="141732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3154680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12B"/>
                </a:solidFill>
                <a:latin typeface="Calibri"/>
              </a:rPr>
              <a:t>2  Take the next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66160"/>
            <a:ext cx="21214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in that order, one at a 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33440" y="3726180"/>
            <a:ext cx="283464" cy="0"/>
          </a:xfrm>
          <a:prstGeom prst="line">
            <a:avLst/>
          </a:prstGeom>
          <a:ln w="19050">
            <a:solidFill>
              <a:srgbClr val="6B75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17920" y="3017520"/>
            <a:ext cx="2395728" cy="1417320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154680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12B"/>
                </a:solidFill>
                <a:latin typeface="Calibri"/>
              </a:rPr>
              <a:t>3  Insert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66160"/>
            <a:ext cx="21214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at the position with the lowest partial makespan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30920" y="3726180"/>
            <a:ext cx="283464" cy="0"/>
          </a:xfrm>
          <a:prstGeom prst="line">
            <a:avLst/>
          </a:prstGeom>
          <a:ln w="19050">
            <a:solidFill>
              <a:srgbClr val="6B75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915400" y="3017520"/>
            <a:ext cx="2395728" cy="141732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3154680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2212B"/>
                </a:solidFill>
                <a:latin typeface="Calibri"/>
              </a:rPr>
              <a:t>4  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566160"/>
            <a:ext cx="212140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until the n jobs are placed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105430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7A6D"/>
                </a:solidFill>
                <a:latin typeface="Calibri"/>
              </a:rPr>
              <a:t>Deterministic: one run, one solution. A good start, but it never explores alternatives.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00000"/>
            <a:ext cx="10543032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Taillard's acceleration evaluates the k+1 insertion positions of a job in O(k·m) instead of O(k²·m), with forward (e), backward (q) and new-job (f) matrices. Ties go to the leftmost position.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Nawaz, Enscore and Ham (1983). Our implementation matches a naive NEH and reproduces the reference makespan of tai117 (26,797).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RandNEH: biased randomisation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568"/>
                </a:solidFill>
                <a:latin typeface="Calibri"/>
              </a:rPr>
              <a:t>Instead of always taking the first job of the TPT-sorted list, pick its position pos at random, biased towards the front. The whole list stays eligible: every remaining job has a probability, none is excluded.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423160"/>
            <a:ext cx="3319272" cy="173736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7A6D"/>
                </a:solidFill>
                <a:latin typeface="Calibri"/>
              </a:rPr>
              <a:t>Triangular (Juan et al.)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212B"/>
                </a:solidFill>
                <a:latin typeface="Arial"/>
              </a:rPr>
              <a:t>pos = ⌊ r · (1 − √(1 − u)) 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29535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No parameters. Probability falls linearly along the list.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423160"/>
            <a:ext cx="3319272" cy="173736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2560320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B5471E"/>
                </a:solidFill>
                <a:latin typeface="Calibri"/>
              </a:rPr>
              <a:t>Geometric (β)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017520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212B"/>
                </a:solidFill>
                <a:latin typeface="Arial"/>
              </a:rPr>
              <a:t>pos ~ Geom(β), truncated to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66160"/>
            <a:ext cx="29535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One parameter. A higher β concentrates the choice at the front.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423160"/>
            <a:ext cx="3319272" cy="173736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29535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6B7580"/>
                </a:solidFill>
                <a:latin typeface="Calibri"/>
              </a:rPr>
              <a:t>Uniform (control)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17520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212B"/>
                </a:solidFill>
                <a:latin typeface="Arial"/>
              </a:rPr>
              <a:t>pos = ⌊ r · u 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566160"/>
            <a:ext cx="29535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No bias at all: a random order. It shows what the bias is worth.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348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MEAN CHOSEN POSITION WITH R = 100 JOBS LEFT (0 = THE FIRST OF THE LIST)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54880"/>
            <a:ext cx="2395728" cy="10972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846320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212B"/>
                </a:solidFill>
                <a:latin typeface="Arial"/>
              </a:rPr>
              <a:t>32.8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349240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Triangular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38728" y="4754880"/>
            <a:ext cx="2395728" cy="10972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75888" y="4846320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212B"/>
                </a:solidFill>
                <a:latin typeface="Arial"/>
              </a:rPr>
              <a:t>9.0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5349240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Geo(0.1)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4754880"/>
            <a:ext cx="2395728" cy="10972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91656" y="4846320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212B"/>
                </a:solidFill>
                <a:latin typeface="Arial"/>
              </a:rPr>
              <a:t>2.3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5349240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Geo(0.3)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0264" y="4754880"/>
            <a:ext cx="2395728" cy="10972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07424" y="4846320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2212B"/>
                </a:solidFill>
                <a:latin typeface="Arial"/>
              </a:rPr>
              <a:t>49.5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5349240"/>
            <a:ext cx="212140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Uniform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u ~ U(0,1), r = jobs still to place. The PDF leaves b undefined in X = b·(1 − √(1 − u)); we take b = r (assumption). Geo(β) keeps the same bias for any 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The paper's RandNEH (Fig. 6)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6400800" cy="452628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RANDNEH(INSTANCE, DISTRIBUTION)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6035040" cy="3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2212B"/>
                </a:solidFill>
                <a:latin typeface="Courier New"/>
              </a:rPr>
              <a:t>best  = NEH()                    // deterministic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2212B"/>
                </a:solidFill>
                <a:latin typeface="Courier New"/>
              </a:rPr>
              <a:t>tries = 0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2212B"/>
                </a:solidFill>
                <a:latin typeface="Courier New"/>
              </a:rPr>
              <a:t>while best is NEH and tries &lt; n: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2212B"/>
                </a:solidFill>
                <a:latin typeface="Courier New"/>
              </a:rPr>
              <a:t>    tries += 1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2212B"/>
                </a:solidFill>
                <a:latin typeface="Courier New"/>
              </a:rPr>
              <a:t>    S = biased_construction()    // draw pos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2212B"/>
                </a:solidFill>
                <a:latin typeface="Courier New"/>
              </a:rPr>
              <a:t>                                 // for every job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2212B"/>
                </a:solidFill>
                <a:latin typeface="Courier New"/>
              </a:rPr>
              <a:t>    if makespan(S) &lt; makespan(NEH):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2212B"/>
                </a:solidFill>
                <a:latin typeface="Courier New"/>
              </a:rPr>
              <a:t>        best = 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2212B"/>
                </a:solidFill>
                <a:latin typeface="Courier New"/>
              </a:rPr>
              <a:t>return best      // never worse than NEH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63040"/>
            <a:ext cx="3867912" cy="452628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1600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7A6D"/>
                </a:solidFill>
                <a:latin typeface="Calibri"/>
              </a:rPr>
              <a:t>WHY A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011680"/>
            <a:ext cx="3411000" cy="3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</a:rPr>
              <a:t>One biased construction is not enough: in our first tests a single one did not beat NEH on average.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</a:rPr>
              <a:t>The loop keeps trying and stops at the first construction that wins, so the cost is the number of tries.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4A5568"/>
                </a:solidFill>
                <a:latin typeface="Calibri"/>
              </a:rPr>
              <a:t>The output is never worse than NEH, and it differs from run to run.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12212B"/>
                </a:solidFill>
                <a:latin typeface="Calibri"/>
              </a:rPr>
              <a:t>Example, tai117: </a:t>
            </a:r>
            <a:r>
              <a:rPr sz="1600" b="0" i="0">
                <a:solidFill>
                  <a:srgbClr val="4A5568"/>
                </a:solidFill>
                <a:latin typeface="Calibri"/>
              </a:rPr>
              <a:t>Geo(0.7) needs 2.4 constructions on average (53 ms).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Juan et al. (2014), Fig. 6. One construction = one full NEH pass with randomised job order. One run of the loop = one RandNEH 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ILS-ESP: the complete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63040"/>
            <a:ext cx="6400800" cy="4572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ILS-ESP · EACH RUN IS AN INDEPENDENT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6035040" cy="3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base = RandNEH();  base = local_search(base)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best = base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while time left: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    cur   = enhanced_swap(base)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    cur   = local_search(cur)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    delta = cost(cur) − cost(base)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    if delta &lt; 0:                  // improvement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        base = cur;  last_imp = −delta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        was_imp = True;  update best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    elif 0 &lt; delta ≤ last_imp and was_imp: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        base = cur;  was_imp = False   // Demon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2212B"/>
                </a:solidFill>
                <a:latin typeface="Courier New"/>
              </a:rPr>
              <a:t>return best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63040"/>
            <a:ext cx="3867912" cy="4572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26679" y="1600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7A6D"/>
                </a:solidFill>
                <a:latin typeface="Calibri"/>
              </a:rPr>
              <a:t>BUILDING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65960"/>
            <a:ext cx="3411000" cy="4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2212B"/>
                </a:solidFill>
                <a:latin typeface="Calibri"/>
              </a:rPr>
              <a:t>Enhanced swap. </a:t>
            </a:r>
            <a:r>
              <a:rPr sz="1500" b="0" i="0">
                <a:solidFill>
                  <a:srgbClr val="4A5568"/>
                </a:solidFill>
                <a:latin typeface="Calibri"/>
              </a:rPr>
              <a:t>Swap two random positions, then move each of the two jobs to its best position.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2212B"/>
                </a:solidFill>
                <a:latin typeface="Calibri"/>
              </a:rPr>
              <a:t>Local search. </a:t>
            </a:r>
            <a:r>
              <a:rPr sz="1500" b="0" i="0">
                <a:solidFill>
                  <a:srgbClr val="4A5568"/>
                </a:solidFill>
                <a:latin typeface="Calibri"/>
              </a:rPr>
              <a:t>Take each job out, in random order, and reinsert it at its best position; repeat until a full pass brings no gain.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2212B"/>
                </a:solidFill>
                <a:latin typeface="Calibri"/>
              </a:rPr>
              <a:t>Demon acceptance. </a:t>
            </a:r>
            <a:r>
              <a:rPr sz="1500" b="0" i="0">
                <a:solidFill>
                  <a:srgbClr val="4A5568"/>
                </a:solidFill>
                <a:latin typeface="Calibri"/>
              </a:rPr>
              <a:t>A worse solution is accepted only right after an improvement, and never by more than that improvement.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2212B"/>
                </a:solidFill>
                <a:latin typeface="Calibri"/>
              </a:rPr>
              <a:t>No parameters. </a:t>
            </a:r>
            <a:r>
              <a:rPr sz="1500" b="0" i="0">
                <a:solidFill>
                  <a:srgbClr val="4A5568"/>
                </a:solidFill>
                <a:latin typeface="Calibri"/>
              </a:rPr>
              <a:t>It stops by time: 2 ms · n ·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Juan et al. (2014). The slide's localSearch(baseSol) is corrected to currentSol. Parallel agents are independent seeds, emulated as the best of 10 runs.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Our proposal: an adaptive 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568"/>
                </a:solidFill>
                <a:latin typeface="Calibri"/>
              </a:rPr>
              <a:t>A fixed β has to be chosen in advance, and the best value depends on the instance. Geo-adapt starts with a wide selection and raises β every time the loop fails to beat NEH.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Β USED BY EACH ATTEMPT INSIDE ONE RANDNEH RUN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606040"/>
          <a:ext cx="65836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400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7580"/>
                </a:solidFill>
                <a:latin typeface="Calibri"/>
              </a:rPr>
              <a:t>Attempt number (1 to n, as the loop runs)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2423160"/>
            <a:ext cx="3685032" cy="105156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2560320"/>
            <a:ext cx="3685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β FOR ATTEMPT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880360"/>
            <a:ext cx="3685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2212B"/>
                </a:solidFill>
                <a:latin typeface="Arial"/>
              </a:rPr>
              <a:t>min(0.7, 0.05 + 0.05·⌊(t−1)/3⌋)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657600"/>
            <a:ext cx="3685032" cy="2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2212B"/>
                </a:solidFill>
                <a:latin typeface="Calibri"/>
              </a:rPr>
              <a:t>Start at β = 0.05: </a:t>
            </a:r>
            <a:r>
              <a:rPr sz="1400" b="0" i="0">
                <a:solidFill>
                  <a:srgbClr val="4A5568"/>
                </a:solidFill>
                <a:latin typeface="Calibri"/>
              </a:rPr>
              <a:t>a wide selection, very different constructions.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2212B"/>
                </a:solidFill>
                <a:latin typeface="Calibri"/>
              </a:rPr>
              <a:t>Every 3 failures, +0.05: </a:t>
            </a:r>
            <a:r>
              <a:rPr sz="1400" b="0" i="0">
                <a:solidFill>
                  <a:srgbClr val="4A5568"/>
                </a:solidFill>
                <a:latin typeface="Calibri"/>
              </a:rPr>
              <a:t>the choice concentrates near NEH.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2212B"/>
                </a:solidFill>
                <a:latin typeface="Calibri"/>
              </a:rPr>
              <a:t>Cap at 0.7. </a:t>
            </a:r>
            <a:r>
              <a:rPr sz="1400" b="0" i="0">
                <a:solidFill>
                  <a:srgbClr val="4A5568"/>
                </a:solidFill>
                <a:latin typeface="Calibri"/>
              </a:rPr>
              <a:t>A success ends the run; the next run restarts at 0.05.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00000"/>
            <a:ext cx="10543032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7A6D"/>
                </a:solidFill>
                <a:latin typeface="Calibri"/>
              </a:rPr>
              <a:t>The only signal used is whether a construction beat NEH. Parameters were fixed before the runs, not tuned.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Geo-adapt = the Fig. 6 loop with a different β at each attempt. Used as the constructive phase (Experiment A) and as the ILS-ESP start (Experiment B).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43032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4A5568"/>
                </a:solidFill>
                <a:latin typeface="Calibri"/>
              </a:rPr>
              <a:t>Five Taillard instances: tai001 (20×5), tai051 (50×20), tai081 (100×20), tai101 (200×20) and tai117 (500×20).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5120640" cy="2286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F7A6D"/>
                </a:solidFill>
                <a:latin typeface="Calibri"/>
              </a:rPr>
              <a:t>Experiment A · constructive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466344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NEH against RandNEH (Fig. 6) with 9 distributions plus Geo-adapt: Tri, Geo(β) for β = 0.05, 0.1, 0.2, 0.3, 0.5, 0.7, and Uniform.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749040"/>
            <a:ext cx="466344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12B"/>
                </a:solidFill>
                <a:latin typeface="Calibri"/>
              </a:rPr>
              <a:t>30 runs per distribution and instance.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057400"/>
            <a:ext cx="5120640" cy="2286000"/>
          </a:xfrm>
          <a:prstGeom prst="rect">
            <a:avLst/>
          </a:prstGeom>
          <a:solidFill>
            <a:srgbClr val="FDF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21945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B5471E"/>
                </a:solidFill>
                <a:latin typeface="Calibri"/>
              </a:rPr>
              <a:t>Experiment B · complete ILS-ESP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697480"/>
            <a:ext cx="466344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</a:rPr>
              <a:t>Only the start changes: NEH, Tri, Geo(0.1), Geo(0.3), Uniform and Geo-adapt, all with the Fig. 6 RandNEH.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3749040"/>
            <a:ext cx="466344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12B"/>
                </a:solidFill>
                <a:latin typeface="Calibri"/>
              </a:rPr>
              <a:t>10 seeds per start and instance, budget 2 ms · n · m, same time for 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HOW WE MEASURE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937760"/>
            <a:ext cx="3319272" cy="10972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029200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12B"/>
                </a:solidFill>
                <a:latin typeface="Calibri"/>
              </a:rPr>
              <a:t>GAP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440680"/>
            <a:ext cx="2953512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100 · (value − BKS) / BKS, the distance to the best known 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4937760"/>
            <a:ext cx="3319272" cy="10972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5029200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12B"/>
                </a:solidFill>
                <a:latin typeface="Calibri"/>
              </a:rPr>
              <a:t>Success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440680"/>
            <a:ext cx="2953512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% of runs that beat NEH (Experiment 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4937760"/>
            <a:ext cx="3319272" cy="1097280"/>
          </a:xfrm>
          <a:prstGeom prst="rect">
            <a:avLst/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5029200"/>
            <a:ext cx="29535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12B"/>
                </a:solidFill>
                <a:latin typeface="Calibri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440680"/>
            <a:ext cx="2953512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</a:rPr>
              <a:t>constructions and ms per run (A); iterations within the budget (B)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BKS: Taillard's table (tai001) and the Zenodo CSV (rest); only tai101 and tai117 are proven optimal. Mann-Whitney tests against NEH, uncorrected.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Every RandNEH beats NEH on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0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MEAN GAP % OF THE CONSTRUCTIVE SOLUTION, 30 RUNS PER CELL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37360"/>
          <a:ext cx="71323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21040" y="169164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7A6D"/>
                </a:solidFill>
                <a:latin typeface="Arial"/>
              </a:rPr>
              <a:t>100 %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313640"/>
            <a:ext cx="30449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of the runs beat NEH when n ≥ 50 (uniform: 67–97 % from tai081 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06324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F7A6D"/>
                </a:solidFill>
                <a:latin typeface="Arial"/>
              </a:rPr>
              <a:t>0.1 to 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685240"/>
            <a:ext cx="30449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GAP points won over NEH: modest, because the loop stops at the first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52628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B5471E"/>
                </a:solidFill>
                <a:latin typeface="Arial"/>
              </a:rPr>
              <a:t>150 vs 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5148280"/>
            <a:ext cx="30449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constructions per run on tai117: uniform against Geo(0.7)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NEH is deterministic. tai001 (n = 20) allows only 20 attempts, which is why its gaps are the most uneven. Axis starts at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Similar quality, very different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0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MEAN CONSTRUCTIONS PER RUN · AND MS PER RUN ON TAI117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7132316" cy="38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73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8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37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86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tai081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tai101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tai117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ms, tai117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GAP tai117</a:t>
                      </a:r>
                    </a:p>
                  </a:txBody>
                  <a:tcPr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Tri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14.3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14.5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7.9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Geo(0.1)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8.3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10.6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1.40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Geo(0.3)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1.40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Geo(0.5)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5.1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1.39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Geo(0.7)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5.6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1.41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Unif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57.2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103.6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149.9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2429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212B"/>
                          </a:solidFill>
                          <a:latin typeface="Calibri"/>
                        </a:rPr>
                        <a:t>1.49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5471E"/>
                          </a:solidFill>
                          <a:latin typeface="Calibri"/>
                        </a:rPr>
                        <a:t>Geo-adapt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7.2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11.3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12B"/>
                          </a:solidFill>
                          <a:latin typeface="Calibri"/>
                        </a:rPr>
                        <a:t>1.41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21040" y="1783080"/>
            <a:ext cx="3044952" cy="4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F7A6D"/>
                </a:solidFill>
                <a:latin typeface="Calibri"/>
              </a:rPr>
              <a:t>Plateau. </a:t>
            </a:r>
            <a:r>
              <a:rPr sz="1500" b="0" i="0">
                <a:solidFill>
                  <a:srgbClr val="4A5568"/>
                </a:solidFill>
                <a:latin typeface="Calibri"/>
              </a:rPr>
              <a:t>Geo(β) with β from 0.3 to 0.7 gives practically the same GAP, with 1.2 to 7 constructions on average.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B5471E"/>
                </a:solidFill>
                <a:latin typeface="Calibri"/>
              </a:rPr>
              <a:t>Geo-adapt. </a:t>
            </a:r>
            <a:r>
              <a:rPr sz="1500" b="0" i="0">
                <a:solidFill>
                  <a:srgbClr val="4A5568"/>
                </a:solidFill>
                <a:latin typeface="Calibri"/>
              </a:rPr>
              <a:t>Same quality, but it costs about as much as Geo(0.1)–(0.2): on tai101, 11.3 constructions against 5.6–6.9 for Geo(0.5)–(0.7).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12212B"/>
                </a:solidFill>
                <a:latin typeface="Calibri"/>
              </a:rPr>
              <a:t>Triangular and uniform </a:t>
            </a:r>
            <a:r>
              <a:rPr sz="1500" b="0" i="0">
                <a:solidFill>
                  <a:srgbClr val="4A5568"/>
                </a:solidFill>
                <a:latin typeface="Calibri"/>
              </a:rPr>
              <a:t>need many more tries: their bias weakens as r grows.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00000"/>
            <a:ext cx="713232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7A6D"/>
                </a:solidFill>
                <a:latin typeface="Calibri"/>
              </a:rPr>
              <a:t>Geo-adapt is neither cheaper nor better than a well-chosen fixed β. Its advantage is not having to choose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Mean over 30 runs per cell. The ms column is wall-clock on a shared machine, so read it as an order of magnitude.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Adaptive β: most runs succeed below β = 0.35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0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Β OF THE CONSTRUCTION THAT BEAT NEH · TAI101 · 30 RUNS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37360"/>
          <a:ext cx="658368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500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7580"/>
                </a:solidFill>
                <a:latin typeface="Calibri"/>
              </a:rPr>
              <a:t>β level reached when a construction beat NEH (number of runs)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691640"/>
            <a:ext cx="3410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7A6D"/>
                </a:solidFill>
                <a:latin typeface="Arial"/>
              </a:rPr>
              <a:t>0.05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313640"/>
            <a:ext cx="3410712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median β on tai051 and tai117: the first level is usually enough and the adaptation barely 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3200400"/>
            <a:ext cx="3410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7A6D"/>
                </a:solidFill>
                <a:latin typeface="Arial"/>
              </a:rPr>
              <a:t>0.175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822400"/>
            <a:ext cx="3410712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median β on tai101, the most dispersed (range 0.05–0.50); tai081 has one isolated case at 0.60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709160"/>
            <a:ext cx="341071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B5471E"/>
                </a:solidFill>
                <a:latin typeface="Arial"/>
              </a:rPr>
              <a:t>37 %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331160"/>
            <a:ext cx="3410712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of the tai001 runs never beat NEH: with n = 20 the ramp reaches only β = 0.35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Each run restarts at β = 0.05, so the table is the β that worked in each run, not a convergence across runs. A cap at 0.7 was almost never reached.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ILS-ESP: the start barely changes the final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0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MEAN FINAL GAP %, 10 SEEDS, BUDGET 2 MS · N · 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37360"/>
          <a:ext cx="71323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21040" y="169164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F7A6D"/>
                </a:solidFill>
                <a:latin typeface="Arial"/>
              </a:rPr>
              <a:t>&lt; 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313640"/>
            <a:ext cx="3044952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points between the six starts in every instance, like the spread between seeds (0.09–0.32)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320040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F7A6D"/>
                </a:solidFill>
                <a:latin typeface="Arial"/>
              </a:rPr>
              <a:t>60 / 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822400"/>
            <a:ext cx="3044952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tai001 runs reach GAP 0, whatever the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480560"/>
            <a:ext cx="30449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B5471E"/>
                </a:solidFill>
                <a:latin typeface="Arial"/>
              </a:rPr>
              <a:t>−0.30 / +0.08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5102560"/>
            <a:ext cx="3044952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Geo-adapt against NEH on tai081 (p = 0.017) and tai117 (p = 0.10), uncorrected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tai001 omitted from the chart: GAP 0 for every start. After local search the head start of RandNEH is gone (tai051: NEH 3.94, Tri 4.21, Geo-adapt 3.92).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tai081: randomised starts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000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B7580"/>
                </a:solidFill>
                <a:latin typeface="Calibri"/>
              </a:rPr>
              <a:t>MEAN FINAL GAP %, TAI081, 10 SEEDS · P-VALUE AGAINST NEH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37360"/>
          <a:ext cx="6858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000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7580"/>
                </a:solidFill>
                <a:latin typeface="Calibri"/>
              </a:rPr>
              <a:t>Axis starts at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691640"/>
            <a:ext cx="3227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7A6D"/>
                </a:solidFill>
                <a:latin typeface="Arial"/>
              </a:rPr>
              <a:t>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313640"/>
            <a:ext cx="3227832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randomised starts end below NEH (2.41), by 0.09–0.30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017520"/>
            <a:ext cx="3227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B5471E"/>
                </a:solidFill>
                <a:latin typeface="Arial"/>
              </a:rPr>
              <a:t>25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639520"/>
            <a:ext cx="3227832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uncorrected: none would survive a Bonferroni correction, so this is a hint, not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617720"/>
            <a:ext cx="3227832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12B"/>
                </a:solidFill>
                <a:latin typeface="Calibri"/>
              </a:rPr>
              <a:t>The opposite on tai117: </a:t>
            </a:r>
            <a:r>
              <a:rPr sz="1400" b="0" i="0">
                <a:solidFill>
                  <a:srgbClr val="4A5568"/>
                </a:solidFill>
                <a:latin typeface="Calibri"/>
              </a:rPr>
              <a:t>NEH is best on average (0.54 % against 0.57–0.65 %), plausible with only ~250 iterations.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Mean of 10 seeds; p: Mann-Whitney against NEH, uncorrected. Geo-adapt has the lowest spread between seeds here (std 0.14).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685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43032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7F5EF"/>
                </a:solidFill>
                <a:latin typeface="Arial"/>
              </a:rPr>
              <a:t>Adaptive β works, but a fixed β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7F5EF"/>
                </a:solidFill>
                <a:latin typeface="Arial"/>
              </a:rPr>
              <a:t>between 0.3 and 0.7 is cheaper.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9D6DA"/>
                </a:solidFill>
                <a:latin typeface="Calibri"/>
              </a:rPr>
              <a:t>RandNEH always beats NEH in the constructive phase; inside ILS-ESP the starting point barely matters.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FA0A8"/>
                </a:solidFill>
                <a:latin typeface="Calibri"/>
              </a:rPr>
              <a:t>WHAT WE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9D6DA"/>
                </a:solidFill>
                <a:latin typeface="Calibri"/>
              </a:rPr>
              <a:t>The Fig. 6 RandNEH beats NEH on average in all 5 instances with any distribution: 0.1–0.8 GAP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356616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9D6DA"/>
                </a:solidFill>
                <a:latin typeface="Calibri"/>
              </a:rPr>
              <a:t>Geo-adapt matches the quality of the fixed-β plateau without choosing β, at a higher cost than a high fixed 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56616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9D6DA"/>
                </a:solidFill>
                <a:latin typeface="Calibri"/>
              </a:rPr>
              <a:t>As an ILS-ESP start it does not stand out: −0.30 on tai081 (p = 0.017, uncorrected), +0.08 on tai117.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8FA0A8"/>
                </a:solidFill>
                <a:latin typeface="Calibri"/>
              </a:rPr>
              <a:t>WORTH ASKING 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D6DA"/>
                </a:solidFill>
                <a:latin typeface="Calibri"/>
              </a:rPr>
              <a:t>Small instances: with n = 20 the ramp is too slow, and 63 % of runs beat NEH against 87–97 % for Geo(0.3)–(0.7).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02920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D6DA"/>
                </a:solidFill>
                <a:latin typeface="Calibri"/>
              </a:rPr>
              <a:t>Noise: the mean final GAP moves ≈ 0.1 with the seed set, and p &lt; 0.05 with 25 uncorrected tests is only a hint.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029200"/>
            <a:ext cx="3291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1500" dirty="0" err="1">
                <a:solidFill>
                  <a:srgbClr val="C9D6DA"/>
                </a:solidFill>
                <a:latin typeface="Calibri"/>
              </a:rPr>
              <a:t>Trying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an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implementation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where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the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loop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doesn’t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stop at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the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first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RandNEH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successful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improvement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: are new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iterations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worth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the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 </a:t>
            </a:r>
            <a:r>
              <a:rPr lang="es-ES" sz="1500" dirty="0" err="1">
                <a:solidFill>
                  <a:srgbClr val="C9D6DA"/>
                </a:solidFill>
                <a:latin typeface="Calibri"/>
              </a:rPr>
              <a:t>cost</a:t>
            </a:r>
            <a:r>
              <a:rPr lang="es-ES" sz="1500" dirty="0">
                <a:solidFill>
                  <a:srgbClr val="C9D6DA"/>
                </a:solidFill>
                <a:latin typeface="Calibri"/>
              </a:rPr>
              <a:t>?</a:t>
            </a:r>
            <a:endParaRPr sz="1500" b="0" i="0" dirty="0">
              <a:solidFill>
                <a:srgbClr val="C9D6DA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A0A8"/>
                </a:solidFill>
                <a:latin typeface="Calibri"/>
              </a:rPr>
              <a:t>Thank you — questions?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9F8C3645-3054-1804-0A4B-E9D9664A9921}"/>
              </a:ext>
            </a:extLst>
          </p:cNvPr>
          <p:cNvSpPr txBox="1"/>
          <p:nvPr/>
        </p:nvSpPr>
        <p:spPr>
          <a:xfrm>
            <a:off x="8046720" y="466344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s-ES" sz="1200" b="1" i="0" dirty="0">
                <a:solidFill>
                  <a:srgbClr val="8FA0A8"/>
                </a:solidFill>
                <a:latin typeface="Calibri"/>
              </a:rPr>
              <a:t>NEXT STEPS</a:t>
            </a:r>
            <a:endParaRPr sz="1200" b="1" i="0" dirty="0">
              <a:solidFill>
                <a:srgbClr val="8FA0A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Experiment A: mean GAP % and runs that beat NEH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43028" cy="4235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7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1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7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71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71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tai001  (GAP · %beat)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tai051  (GAP · %beat)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tai081  (GAP · %beat)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tai101  (GAP · %beat)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tai117  (GAP · %beat)</a:t>
                      </a:r>
                    </a:p>
                  </a:txBody>
                  <a:tcPr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NEH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6.14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3.91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1.55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Tri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0.37  ·  57 %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5.61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5.75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3.77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1.45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Geo(0.05)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0.43  ·  40 %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5.51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5.74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3.76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1.44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Geo(0.1)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0.39  ·  53 %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5.66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5.61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3.71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1.40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Geo(0.2)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0.28  ·  70 %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5.47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5.72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3.72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1.40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Geo(0.3)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0.23  ·  87 %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5.55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5.65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3.76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1.40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Geo(0.5)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0.21  ·  97 %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5.44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5.68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3.75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1.39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Geo(0.7)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0.10  ·  97 %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5.40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5.74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3.71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1.41  ·  100 %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Unif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0.51  ·  33 %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5.75  ·  100 %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5.87  ·  67 %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3.80  ·  80 %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1.49  ·  97 %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5471E"/>
                          </a:solidFill>
                          <a:latin typeface="Calibri"/>
                        </a:rPr>
                        <a:t>Geo-adapt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0.36  ·  63 %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5.58  ·  100 %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5.68  ·  100 %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3.73  ·  100 %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1.41  ·  100 %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30 runs per cell. NEH is a single deterministic solution. Source: results/expA_randneh_resumen.csv.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2212B"/>
                </a:solidFill>
                <a:latin typeface="Arial"/>
              </a:rPr>
              <a:t>Experiment B: final GAP % and p-value against NEH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43028" cy="33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05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0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3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3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tai001  (mean ± std · p)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tai051  (mean ± std · p)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tai081  (mean ± std · p)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tai101  (mean ± std · p)</a:t>
                      </a:r>
                    </a:p>
                  </a:txBody>
                  <a:tcPr marT="30000" marB="30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6B7580"/>
                          </a:solidFill>
                          <a:latin typeface="Calibri"/>
                        </a:rPr>
                        <a:t>tai117  (mean ± std · p)</a:t>
                      </a:r>
                    </a:p>
                  </a:txBody>
                  <a:tcPr marT="30000" marB="30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NEH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0.00 ± 0.00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1.30 ± 0.09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2.40 ± 0.32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1.76 ± 0.15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0.54 ± 0.13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Unif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0.00 ± 0.00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1.12 ± 0.24 · 0.13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2.32 ± 0.23 · 0.31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1.75 ± 0.15 · 0.68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0.62 ± 0.11 · 0.07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Tri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0.00 ± 0.00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1.22 ± 0.22 · 0.35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2.15 ± 0.25 · 0.05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1.72 ± 0.14 · 0.45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0.57 ± 0.11 · 0.28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Geo(0.1)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0.00 ± 0.00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1.33 ± 0.10 · 0.59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2.17 ± 0.31 · 0.11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1.78 ± 0.14 · 0.94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0.59 ± 0.13 · 0.18</a:t>
                      </a:r>
                    </a:p>
                  </a:txBody>
                  <a:tcPr marT="30000" marB="30000" anchor="ctr">
                    <a:solidFill>
                      <a:srgbClr val="F1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Geo(0.3)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0.00 ± 0.00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1.33 ± 0.14 · 0.75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2.19 ± 0.22 · 0.09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1.75 ± 0.13 · 0.91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212B"/>
                          </a:solidFill>
                          <a:latin typeface="Calibri"/>
                        </a:rPr>
                        <a:t>0.64 ± 0.10 · 0.06</a:t>
                      </a:r>
                    </a:p>
                  </a:txBody>
                  <a:tcPr marT="30000" marB="30000" anchor="ctr"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5471E"/>
                          </a:solidFill>
                          <a:latin typeface="Calibri"/>
                        </a:rPr>
                        <a:t>Geo-adapt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0.00 ± 0.00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1.29 ± 0.15 · 0.78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2.11 ± 0.14 · 0.02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1.75 ± 0.13 · 0.65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2212B"/>
                          </a:solidFill>
                          <a:latin typeface="Calibri"/>
                        </a:rPr>
                        <a:t>0.62 ± 0.11 · 0.10</a:t>
                      </a:r>
                    </a:p>
                  </a:txBody>
                  <a:tcPr marT="30000" marB="30000" anchor="ctr">
                    <a:solidFill>
                      <a:srgbClr val="E4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900000"/>
            <a:ext cx="10543032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</a:rPr>
              <a:t>Best of 10 runs with Tri (equivalent to 10 parallel agents): tai001 0.00 · tai051 0.65 · tai081 1.72 · tai101 1.43 · tai117 0.45. The paper uses 10 ms·n·m and averages 10 instances per set, so this is not a direct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B7580"/>
                </a:solidFill>
                <a:latin typeface="Calibri"/>
              </a:rPr>
              <a:t>10 seeds per cell, budget 2 ms · n · m. p: Mann-Whitney, two-sided, uncorrected. Source: results/expB_ilsesp_resumen.csv and expB_tests_vs_NEH.csv.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2824</Words>
  <Application>Microsoft Office PowerPoint</Application>
  <PresentationFormat>Panorámica</PresentationFormat>
  <Paragraphs>349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Salvatierra</cp:lastModifiedBy>
  <cp:revision>2</cp:revision>
  <dcterms:created xsi:type="dcterms:W3CDTF">2013-01-27T09:14:16Z</dcterms:created>
  <dcterms:modified xsi:type="dcterms:W3CDTF">2026-10-18T21:40:51Z</dcterms:modified>
  <cp:category/>
</cp:coreProperties>
</file>