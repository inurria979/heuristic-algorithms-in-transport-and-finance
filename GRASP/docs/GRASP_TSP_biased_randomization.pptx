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method" id="{a83806a3-c5e3-a42d-0432-991752aede70}">
          <p14:sldIdLst>
            <p14:sldId id="256"/>
            <p14:sldId id="257"/>
            <p14:sldId id="258"/>
            <p14:sldId id="259"/>
            <p14:sldId id="260"/>
          </p14:sldIdLst>
        </p14:section>
        <p14:section name="Selection rules and design" id="{b9e201e5-58a4-cb65-76fe-c0344d0d762a}">
          <p14:sldIdLst>
            <p14:sldId id="261"/>
            <p14:sldId id="262"/>
            <p14:sldId id="263"/>
          </p14:sldIdLst>
        </p14:section>
        <p14:section name="Results" id="{a177d1fd-76fb-708c-e169-ff93d51e5d89}">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Probability</c:v>
                </c:pt>
              </c:strCache>
            </c:strRef>
          </c:tx>
          <c:spPr>
            <a:solidFill>
              <a:srgbClr val="B0B7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0.25</c:v>
                </c:pt>
                <c:pt idx="1">
                  <c:v>0.25</c:v>
                </c:pt>
                <c:pt idx="2">
                  <c:v>0.25</c:v>
                </c:pt>
                <c:pt idx="3">
                  <c:v>0.25</c:v>
                </c:pt>
                <c:pt idx="4">
                  <c:v>0</c:v>
                </c:pt>
                <c:pt idx="5">
                  <c:v>0</c:v>
                </c:pt>
                <c:pt idx="6">
                  <c:v>0</c:v>
                </c:pt>
                <c:pt idx="7">
                  <c:v>0</c:v>
                </c:pt>
                <c:pt idx="8">
                  <c:v>0</c:v>
                </c:pt>
                <c:pt idx="9">
                  <c:v>0</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580"/>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Probability</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0.4</c:v>
                </c:pt>
                <c:pt idx="1">
                  <c:v>0.24</c:v>
                </c:pt>
                <c:pt idx="2">
                  <c:v>0.144</c:v>
                </c:pt>
                <c:pt idx="3">
                  <c:v>0.0864</c:v>
                </c:pt>
                <c:pt idx="4">
                  <c:v>0.0518</c:v>
                </c:pt>
                <c:pt idx="5">
                  <c:v>0.0311</c:v>
                </c:pt>
                <c:pt idx="6">
                  <c:v>0.0187</c:v>
                </c:pt>
                <c:pt idx="7">
                  <c:v>0.0112</c:v>
                </c:pt>
                <c:pt idx="8">
                  <c:v>0.0067</c:v>
                </c:pt>
                <c:pt idx="9">
                  <c:v>0.004</c:v>
                </c:pt>
                <c:pt idx="10">
                  <c:v>0.0024</c:v>
                </c:pt>
                <c:pt idx="11">
                  <c:v>0.0015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580"/>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gap (%)</c:v>
                </c:pt>
              </c:strCache>
            </c:strRef>
          </c:tx>
          <c:spPr>
            <a:solidFill>
              <a:srgbClr val="C7CCD3"/>
            </a:solidFill>
            <a:effectLst/>
          </c:spPr>
          <c:invertIfNegative val="0"/>
          <c:dLbls>
            <c:numFmt formatCode="0.00" sourceLinked="0"/>
            <c:txPr>
              <a:bodyPr/>
              <a:lstStyle/>
              <a:p>
                <a:pPr>
                  <a:defRPr b="1" i="0" strike="noStrike" sz="1400" u="none">
                    <a:solidFill>
                      <a:srgbClr val="12212B"/>
                    </a:solidFill>
                    <a:latin typeface="+mn-lt"/>
                  </a:defRPr>
                </a:pPr>
              </a:p>
            </c:txPr>
            <c:showLegendKey val="0"/>
            <c:showVal val="1"/>
            <c:showCatName val="0"/>
            <c:showSerName val="0"/>
            <c:showPercent val="0"/>
            <c:showBubbleSize val="0"/>
            <c:showLeaderLines val="0"/>
          </c:dLbls>
          <c:dPt>
            <c:idx val="0"/>
            <c:invertIfNegative val="0"/>
            <c:bubble3D val="0"/>
            <c:spPr>
              <a:solidFill>
                <a:srgbClr val="C7CCD3"/>
              </a:solidFill>
              <a:effectLst/>
            </c:spPr>
          </c:dPt>
          <c:dPt>
            <c:idx val="1"/>
            <c:invertIfNegative val="0"/>
            <c:bubble3D val="0"/>
            <c:spPr>
              <a:solidFill>
                <a:srgbClr val="8E96A3"/>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2A9D8F"/>
              </a:solidFill>
              <a:effectLst/>
            </c:spPr>
          </c:dPt>
          <c:cat>
            <c:multiLvlStrRef>
              <c:f>Sheet1!$A$2:$A$7</c:f>
              <c:multiLvlStrCache>
                <c:ptCount val="6"/>
                <c:lvl>
                  <c:pt idx="0">
                    <c:v>CW + 2-opt</c:v>
                  </c:pt>
                  <c:pt idx="1">
                    <c:v>Classic RCL</c:v>
                  </c:pt>
                  <c:pt idx="2">
                    <c:v>Geometric</c:v>
                  </c:pt>
                  <c:pt idx="3">
                    <c:v>Triangular</c:v>
                  </c:pt>
                  <c:pt idx="4">
                    <c:v>Zipf</c:v>
                  </c:pt>
                  <c:pt idx="5">
                    <c:v>Softmax</c:v>
                  </c:pt>
                </c:lvl>
              </c:multiLvlStrCache>
            </c:multiLvlStrRef>
          </c:cat>
          <c:val>
            <c:numRef>
              <c:f>Sheet1!$B$2:$B$7</c:f>
              <c:numCache>
                <c:formatCode>General</c:formatCode>
                <c:ptCount val="6"/>
                <c:pt idx="0">
                  <c:v>5.07</c:v>
                </c:pt>
                <c:pt idx="1">
                  <c:v>2.22</c:v>
                </c:pt>
                <c:pt idx="2">
                  <c:v>1.7</c:v>
                </c:pt>
                <c:pt idx="3">
                  <c:v>2.1</c:v>
                </c:pt>
                <c:pt idx="4">
                  <c:v>2.18</c:v>
                </c:pt>
                <c:pt idx="5">
                  <c:v>2.25</c:v>
                </c:pt>
              </c:numCache>
            </c:numRef>
          </c:val>
        </c:ser>
        <c:dLbls>
          <c:numFmt formatCode="0.00" sourceLinked="0"/>
          <c:txPr>
            <a:bodyPr/>
            <a:lstStyle/>
            <a:p>
              <a:pPr>
                <a:defRPr b="1" i="0" strike="noStrike" sz="1400" u="none">
                  <a:solidFill>
                    <a:srgbClr val="12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12B"/>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the lab: implement a GRASP for the TSP, then add biased randomization and check whether it improves the standard version, using TSPLIB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TSP is the classic routing problem. We measure solution quality as the percentage gap to the known optimum from TSPLIB. Test instances: eil51, berlin52, st70, eil76, kroA100, ch130 and a280.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iteration is independent: construct, improve, keep the best. Greedy means the candidates are ranked by a score. Randomized means we do not always take the top candidate. Adaptive means the candidate list is updated after each pick. The experiment changes only the choice rule inside the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absurd solution where every city is visited from the hub and back. Joining two cities directly saves the two trips to the hub and costs only the direct edge. The list of savings is sorted once and reused in every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removes pairs that are no longer feasible: a city that already has two neighbours, or two cities in the same route. Step 2 is the experiment. Step 3 merges the routes. With n cities there are n − 1 clients besides the hub, so n − 2 merges leave a single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RCL is a hard threshold: inside the list every pair is equally likely, outside none. Biased randomization removes the threshold and assigns each rank a probability that decreases with the rank, so the best pairs are still favoured but any pair can be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triangular and Zipf only look at the position in the ranking. Softmax uses the normalised saving value: two pairs with almost the same saving get almost the same probability, whatever their rank. The parameter of each rule controls how greedy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on separate instances avoids favouring any method with parameters fitted on the test data. Every rule received the same tuning effort. Results are compared per instance with a two-sided Wilcoxon rank-sum test and Holm correction, and across instances with the Friedman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over the seven test instances. The deterministic baseline is Clarke-Wright followed by 2-opt (5.07%). The classic RCL GRASP reaches 2.22% and the geometric rule 1.70%, a reduction of about 23%. Zipf and softmax compute a weight for the whole list at every step, so they take roughly 1.7 times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gap to the optimum per instance. Marked cells differ significantly from the classic RCL after Holm correction. The geometric rule is better on two instances and never worse, but the global Friedman test does not reject equality of the five methods, so the evidence is moderate.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with Clarke-Wright savings, the geometric biased rule lowered the mean gap from 2.22% to 1.70% and was never significantly worse than the classic RCL; the other rules showed no clear gain. The evidence is moderate: the global Friedman test is not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5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ND">
    <p:bg>
      <p:bgPr>
        <a:solidFill>
          <a:srgbClr val="EEEBE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221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971800"/>
            <a:ext cx="9692640" cy="1783080"/>
          </a:xfrm>
          <a:prstGeom prst="rect">
            <a:avLst/>
          </a:prstGeom>
          <a:noFill/>
          <a:ln/>
        </p:spPr>
        <p:txBody>
          <a:bodyPr wrap="square" rtlCol="0"/>
          <a:lstStyle>
            <a:lvl1pPr algn="l" indent="0" marL="0">
              <a:buNone/>
              <a:defRPr lang="en-US" sz="3800" b="1" dirty="0">
                <a:solidFill>
                  <a:schemeClr val="bg2"/>
                </a:solidFill>
              </a:defRPr>
            </a:lvl1pPr>
          </a:lstStyle>
          <a:p>
            <a:pPr algn="l" indent="0" marL="0">
              <a:buNone/>
            </a:pPr>
            <a:endParaRPr lang="en-US" sz="3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1221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914400"/>
            <a:ext cx="10515600" cy="13716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822960" y="685800"/>
            <a:ext cx="822960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LAB ACTIVITY · GRASP FOR THE TSP</a:t>
            </a:r>
            <a:endParaRPr lang="en-US" sz="1300" dirty="0"/>
          </a:p>
        </p:txBody>
      </p:sp>
      <p:sp>
        <p:nvSpPr>
          <p:cNvPr id="4" name="Text 0"/>
          <p:cNvSpPr/>
          <p:nvPr>
            <p:ph idx="100" type="title" hasCustomPrompt="1"/>
          </p:nvPr>
        </p:nvSpPr>
        <p:spPr>
          <a:xfrm>
            <a:off x="822960" y="2971800"/>
            <a:ext cx="9692640" cy="1783080"/>
          </a:xfrm>
          <a:prstGeom prst="rect">
            <a:avLst/>
          </a:prstGeom>
          <a:noFill/>
          <a:ln/>
        </p:spPr>
        <p:txBody>
          <a:bodyPr wrap="square" lIns="0" tIns="0" rIns="0" bIns="0" rtlCol="0" anchor="t"/>
          <a:lstStyle/>
          <a:p>
            <a:pPr algn="l" indent="0" marL="0">
              <a:buNone/>
            </a:pPr>
            <a:r>
              <a:rPr lang="en-US" sz="3800" b="1" dirty="0">
                <a:solidFill>
                  <a:schemeClr val="bg2"/>
                </a:solidFill>
              </a:rPr>
              <a:t>Does biased randomization make GRASP better? A test on the travelling salesman problem</a:t>
            </a:r>
            <a:endParaRPr lang="en-US" sz="3800" dirty="0"/>
          </a:p>
        </p:txBody>
      </p:sp>
      <p:sp>
        <p:nvSpPr>
          <p:cNvPr id="5" name="Text 2"/>
          <p:cNvSpPr txBox="1"/>
          <p:nvPr/>
        </p:nvSpPr>
        <p:spPr>
          <a:xfrm>
            <a:off x="822960" y="4983480"/>
            <a:ext cx="10058400" cy="365760"/>
          </a:xfrm>
          <a:prstGeom prst="rect">
            <a:avLst/>
          </a:prstGeom>
          <a:noFill/>
          <a:ln/>
        </p:spPr>
        <p:txBody>
          <a:bodyPr wrap="square" lIns="0" tIns="0" rIns="0" bIns="0" rtlCol="0" anchor="t"/>
          <a:lstStyle/>
          <a:p>
            <a:pPr indent="0" marL="0">
              <a:buNone/>
            </a:pPr>
            <a:r>
              <a:rPr lang="en-US" sz="1800" dirty="0">
                <a:solidFill>
                  <a:srgbClr val="C9D3DC"/>
                </a:solidFill>
              </a:rPr>
              <a:t>Clarke-Wright savings, four selection rules and TSPLIB benchmarks</a:t>
            </a:r>
            <a:endParaRPr lang="en-US" sz="1800" dirty="0"/>
          </a:p>
        </p:txBody>
      </p:sp>
      <p:sp>
        <p:nvSpPr>
          <p:cNvPr id="6" name="Text 3"/>
          <p:cNvSpPr txBox="1"/>
          <p:nvPr/>
        </p:nvSpPr>
        <p:spPr>
          <a:xfrm>
            <a:off x="822960" y="5943600"/>
            <a:ext cx="7315200" cy="274320"/>
          </a:xfrm>
          <a:prstGeom prst="rect">
            <a:avLst/>
          </a:prstGeom>
          <a:noFill/>
          <a:ln/>
        </p:spPr>
        <p:txBody>
          <a:bodyPr wrap="square" lIns="0" tIns="0" rIns="0" bIns="0" rtlCol="0" anchor="t"/>
          <a:lstStyle/>
          <a:p>
            <a:pPr indent="0" marL="0">
              <a:buNone/>
            </a:pPr>
            <a:r>
              <a:rPr lang="en-US" sz="1400" dirty="0">
                <a:solidFill>
                  <a:srgbClr val="8FA0A8"/>
                </a:solidFill>
              </a:rPr>
              <a:t>Javier Salvatierra Corchado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The travelling salesman problem</a:t>
            </a:r>
            <a:endParaRPr lang="en-US" sz="3200" dirty="0"/>
          </a:p>
        </p:txBody>
      </p:sp>
      <p:sp>
        <p:nvSpPr>
          <p:cNvPr id="4" name="Text 1"/>
          <p:cNvSpPr txBox="1"/>
          <p:nvPr/>
        </p:nvSpPr>
        <p:spPr>
          <a:xfrm>
            <a:off x="822960" y="1691640"/>
            <a:ext cx="5120640" cy="914400"/>
          </a:xfrm>
          <a:prstGeom prst="rect">
            <a:avLst/>
          </a:prstGeom>
          <a:noFill/>
          <a:ln/>
        </p:spPr>
        <p:txBody>
          <a:bodyPr wrap="square" lIns="0" tIns="0" rIns="0" bIns="0" rtlCol="0" anchor="ctr"/>
          <a:lstStyle/>
          <a:p>
            <a:pPr indent="0" marL="0">
              <a:buNone/>
            </a:pPr>
            <a:r>
              <a:rPr lang="en-US" sz="1800" dirty="0">
                <a:solidFill>
                  <a:schemeClr val="tx2"/>
                </a:solidFill>
              </a:rPr>
              <a:t>Visit every city exactly once and return to the start.</a:t>
            </a:r>
            <a:endParaRPr lang="en-US" sz="1800" dirty="0"/>
          </a:p>
        </p:txBody>
      </p:sp>
      <p:sp>
        <p:nvSpPr>
          <p:cNvPr id="5" name="Shape 2"/>
          <p:cNvSpPr/>
          <p:nvPr/>
        </p:nvSpPr>
        <p:spPr>
          <a:xfrm>
            <a:off x="822960" y="2606040"/>
            <a:ext cx="5120640" cy="0"/>
          </a:xfrm>
          <a:prstGeom prst="line">
            <a:avLst/>
          </a:prstGeom>
          <a:noFill/>
          <a:ln w="12700">
            <a:solidFill>
              <a:srgbClr val="D9D6CC"/>
            </a:solidFill>
            <a:prstDash val="solid"/>
          </a:ln>
        </p:spPr>
      </p:sp>
      <p:sp>
        <p:nvSpPr>
          <p:cNvPr id="6" name="Text 3"/>
          <p:cNvSpPr txBox="1"/>
          <p:nvPr/>
        </p:nvSpPr>
        <p:spPr>
          <a:xfrm>
            <a:off x="822960" y="2606040"/>
            <a:ext cx="5120640" cy="914400"/>
          </a:xfrm>
          <a:prstGeom prst="rect">
            <a:avLst/>
          </a:prstGeom>
          <a:noFill/>
          <a:ln/>
        </p:spPr>
        <p:txBody>
          <a:bodyPr wrap="square" lIns="0" tIns="0" rIns="0" bIns="0" rtlCol="0" anchor="ctr"/>
          <a:lstStyle/>
          <a:p>
            <a:pPr indent="0" marL="0">
              <a:buNone/>
            </a:pPr>
            <a:r>
              <a:rPr lang="en-US" sz="1800" dirty="0">
                <a:solidFill>
                  <a:schemeClr val="tx2"/>
                </a:solidFill>
              </a:rPr>
              <a:t>Minimise the total length of the tour.</a:t>
            </a:r>
            <a:endParaRPr lang="en-US" sz="1800" dirty="0"/>
          </a:p>
        </p:txBody>
      </p:sp>
      <p:sp>
        <p:nvSpPr>
          <p:cNvPr id="7" name="Shape 4"/>
          <p:cNvSpPr/>
          <p:nvPr/>
        </p:nvSpPr>
        <p:spPr>
          <a:xfrm>
            <a:off x="822960" y="3520440"/>
            <a:ext cx="5120640" cy="0"/>
          </a:xfrm>
          <a:prstGeom prst="line">
            <a:avLst/>
          </a:prstGeom>
          <a:noFill/>
          <a:ln w="12700">
            <a:solidFill>
              <a:srgbClr val="D9D6CC"/>
            </a:solidFill>
            <a:prstDash val="solid"/>
          </a:ln>
        </p:spPr>
      </p:sp>
      <p:sp>
        <p:nvSpPr>
          <p:cNvPr id="8" name="Text 5"/>
          <p:cNvSpPr txBox="1"/>
          <p:nvPr/>
        </p:nvSpPr>
        <p:spPr>
          <a:xfrm>
            <a:off x="822960" y="3520440"/>
            <a:ext cx="5120640" cy="914400"/>
          </a:xfrm>
          <a:prstGeom prst="rect">
            <a:avLst/>
          </a:prstGeom>
          <a:noFill/>
          <a:ln/>
        </p:spPr>
        <p:txBody>
          <a:bodyPr wrap="square" lIns="0" tIns="0" rIns="0" bIns="0" rtlCol="0" anchor="ctr"/>
          <a:lstStyle/>
          <a:p>
            <a:pPr indent="0" marL="0">
              <a:buNone/>
            </a:pPr>
            <a:r>
              <a:rPr lang="en-US" sz="1800" dirty="0">
                <a:solidFill>
                  <a:schemeClr val="tx2"/>
                </a:solidFill>
              </a:rPr>
              <a:t>NP-hard: the number of possible tours grows factorially with the number of cities.</a:t>
            </a:r>
            <a:endParaRPr lang="en-US" sz="1800" dirty="0"/>
          </a:p>
        </p:txBody>
      </p:sp>
      <p:sp>
        <p:nvSpPr>
          <p:cNvPr id="9" name="Shape 6"/>
          <p:cNvSpPr/>
          <p:nvPr/>
        </p:nvSpPr>
        <p:spPr>
          <a:xfrm>
            <a:off x="822960" y="4434840"/>
            <a:ext cx="5120640" cy="0"/>
          </a:xfrm>
          <a:prstGeom prst="line">
            <a:avLst/>
          </a:prstGeom>
          <a:noFill/>
          <a:ln w="12700">
            <a:solidFill>
              <a:srgbClr val="D9D6CC"/>
            </a:solidFill>
            <a:prstDash val="solid"/>
          </a:ln>
        </p:spPr>
      </p:sp>
      <p:sp>
        <p:nvSpPr>
          <p:cNvPr id="10" name="Takeaway"/>
          <p:cNvSpPr txBox="1"/>
          <p:nvPr/>
        </p:nvSpPr>
        <p:spPr>
          <a:xfrm>
            <a:off x="822960" y="4617720"/>
            <a:ext cx="5120640" cy="822960"/>
          </a:xfrm>
          <a:prstGeom prst="rect">
            <a:avLst/>
          </a:prstGeom>
          <a:noFill/>
          <a:ln/>
        </p:spPr>
        <p:txBody>
          <a:bodyPr wrap="square" lIns="0" tIns="0" rIns="0" bIns="0" rtlCol="0" anchor="ctr"/>
          <a:lstStyle/>
          <a:p>
            <a:pPr indent="0" marL="0">
              <a:buNone/>
            </a:pPr>
            <a:r>
              <a:rPr lang="en-US" sz="2200" b="1" dirty="0">
                <a:solidFill>
                  <a:schemeClr val="accent3"/>
                </a:solidFill>
              </a:rPr>
              <a:t>How close can a fast heuristic get to the optimum?</a:t>
            </a:r>
            <a:endParaRPr lang="en-US" sz="2200" dirty="0"/>
          </a:p>
        </p:txBody>
      </p:sp>
      <p:sp>
        <p:nvSpPr>
          <p:cNvPr id="11" name="Shape 8"/>
          <p:cNvSpPr/>
          <p:nvPr/>
        </p:nvSpPr>
        <p:spPr>
          <a:xfrm flipV="1">
            <a:off x="7418527" y="2890418"/>
            <a:ext cx="455371" cy="1290218"/>
          </a:xfrm>
          <a:prstGeom prst="line">
            <a:avLst/>
          </a:prstGeom>
          <a:noFill/>
          <a:ln w="38100">
            <a:solidFill>
              <a:schemeClr val="accent1"/>
            </a:solidFill>
            <a:prstDash val="solid"/>
          </a:ln>
        </p:spPr>
      </p:sp>
      <p:sp>
        <p:nvSpPr>
          <p:cNvPr id="12" name="Shape 9"/>
          <p:cNvSpPr/>
          <p:nvPr/>
        </p:nvSpPr>
        <p:spPr>
          <a:xfrm flipV="1">
            <a:off x="7873898" y="2359152"/>
            <a:ext cx="910742" cy="531266"/>
          </a:xfrm>
          <a:prstGeom prst="line">
            <a:avLst/>
          </a:prstGeom>
          <a:noFill/>
          <a:ln w="38100">
            <a:solidFill>
              <a:schemeClr val="accent1"/>
            </a:solidFill>
            <a:prstDash val="solid"/>
          </a:ln>
        </p:spPr>
      </p:sp>
      <p:sp>
        <p:nvSpPr>
          <p:cNvPr id="13" name="Shape 10"/>
          <p:cNvSpPr/>
          <p:nvPr/>
        </p:nvSpPr>
        <p:spPr>
          <a:xfrm>
            <a:off x="8784641" y="2359152"/>
            <a:ext cx="986638" cy="303581"/>
          </a:xfrm>
          <a:prstGeom prst="line">
            <a:avLst/>
          </a:prstGeom>
          <a:noFill/>
          <a:ln w="38100">
            <a:solidFill>
              <a:schemeClr val="accent1"/>
            </a:solidFill>
            <a:prstDash val="solid"/>
          </a:ln>
        </p:spPr>
      </p:sp>
      <p:sp>
        <p:nvSpPr>
          <p:cNvPr id="14" name="Shape 11"/>
          <p:cNvSpPr/>
          <p:nvPr/>
        </p:nvSpPr>
        <p:spPr>
          <a:xfrm flipV="1">
            <a:off x="9771278" y="2283257"/>
            <a:ext cx="758952" cy="379476"/>
          </a:xfrm>
          <a:prstGeom prst="line">
            <a:avLst/>
          </a:prstGeom>
          <a:noFill/>
          <a:ln w="38100">
            <a:solidFill>
              <a:schemeClr val="accent1"/>
            </a:solidFill>
            <a:prstDash val="solid"/>
          </a:ln>
        </p:spPr>
      </p:sp>
      <p:sp>
        <p:nvSpPr>
          <p:cNvPr id="15" name="Shape 12"/>
          <p:cNvSpPr/>
          <p:nvPr/>
        </p:nvSpPr>
        <p:spPr>
          <a:xfrm>
            <a:off x="10530230" y="2283257"/>
            <a:ext cx="379476" cy="1214323"/>
          </a:xfrm>
          <a:prstGeom prst="line">
            <a:avLst/>
          </a:prstGeom>
          <a:noFill/>
          <a:ln w="38100">
            <a:solidFill>
              <a:schemeClr val="accent1"/>
            </a:solidFill>
            <a:prstDash val="solid"/>
          </a:ln>
        </p:spPr>
      </p:sp>
      <p:sp>
        <p:nvSpPr>
          <p:cNvPr id="16" name="Shape 13"/>
          <p:cNvSpPr/>
          <p:nvPr/>
        </p:nvSpPr>
        <p:spPr>
          <a:xfrm flipV="1">
            <a:off x="10378440" y="3497580"/>
            <a:ext cx="531266" cy="1062533"/>
          </a:xfrm>
          <a:prstGeom prst="line">
            <a:avLst/>
          </a:prstGeom>
          <a:noFill/>
          <a:ln w="38100">
            <a:solidFill>
              <a:schemeClr val="accent1"/>
            </a:solidFill>
            <a:prstDash val="solid"/>
          </a:ln>
        </p:spPr>
      </p:sp>
      <p:sp>
        <p:nvSpPr>
          <p:cNvPr id="17" name="Shape 14"/>
          <p:cNvSpPr/>
          <p:nvPr/>
        </p:nvSpPr>
        <p:spPr>
          <a:xfrm flipV="1">
            <a:off x="9467698" y="4560113"/>
            <a:ext cx="910742" cy="455371"/>
          </a:xfrm>
          <a:prstGeom prst="line">
            <a:avLst/>
          </a:prstGeom>
          <a:noFill/>
          <a:ln w="38100">
            <a:solidFill>
              <a:schemeClr val="accent1"/>
            </a:solidFill>
            <a:prstDash val="solid"/>
          </a:ln>
        </p:spPr>
      </p:sp>
      <p:sp>
        <p:nvSpPr>
          <p:cNvPr id="18" name="Shape 15"/>
          <p:cNvSpPr/>
          <p:nvPr/>
        </p:nvSpPr>
        <p:spPr>
          <a:xfrm>
            <a:off x="9012326" y="3801161"/>
            <a:ext cx="455371" cy="1214323"/>
          </a:xfrm>
          <a:prstGeom prst="line">
            <a:avLst/>
          </a:prstGeom>
          <a:noFill/>
          <a:ln w="38100">
            <a:solidFill>
              <a:schemeClr val="accent1"/>
            </a:solidFill>
            <a:prstDash val="solid"/>
          </a:ln>
        </p:spPr>
      </p:sp>
      <p:sp>
        <p:nvSpPr>
          <p:cNvPr id="19" name="Shape 16"/>
          <p:cNvSpPr/>
          <p:nvPr/>
        </p:nvSpPr>
        <p:spPr>
          <a:xfrm flipV="1">
            <a:off x="8405165" y="3801161"/>
            <a:ext cx="607162" cy="910742"/>
          </a:xfrm>
          <a:prstGeom prst="line">
            <a:avLst/>
          </a:prstGeom>
          <a:noFill/>
          <a:ln w="38100">
            <a:solidFill>
              <a:schemeClr val="accent1"/>
            </a:solidFill>
            <a:prstDash val="solid"/>
          </a:ln>
        </p:spPr>
      </p:sp>
      <p:sp>
        <p:nvSpPr>
          <p:cNvPr id="20" name="Shape 17"/>
          <p:cNvSpPr/>
          <p:nvPr/>
        </p:nvSpPr>
        <p:spPr>
          <a:xfrm>
            <a:off x="7418527" y="4180637"/>
            <a:ext cx="986638" cy="531266"/>
          </a:xfrm>
          <a:prstGeom prst="line">
            <a:avLst/>
          </a:prstGeom>
          <a:noFill/>
          <a:ln w="38100">
            <a:solidFill>
              <a:schemeClr val="accent1"/>
            </a:solidFill>
            <a:prstDash val="solid"/>
          </a:ln>
        </p:spPr>
      </p:sp>
      <p:sp>
        <p:nvSpPr>
          <p:cNvPr id="21" name="City 1"/>
          <p:cNvSpPr/>
          <p:nvPr/>
        </p:nvSpPr>
        <p:spPr>
          <a:xfrm>
            <a:off x="7290511" y="4052621"/>
            <a:ext cx="256032" cy="256032"/>
          </a:xfrm>
          <a:prstGeom prst="ellipse">
            <a:avLst/>
          </a:prstGeom>
          <a:solidFill>
            <a:schemeClr val="accent1"/>
          </a:solidFill>
          <a:ln w="19050">
            <a:solidFill>
              <a:srgbClr val="F7F5EF"/>
            </a:solidFill>
            <a:prstDash val="solid"/>
          </a:ln>
        </p:spPr>
      </p:sp>
      <p:sp>
        <p:nvSpPr>
          <p:cNvPr id="22" name="City 2"/>
          <p:cNvSpPr/>
          <p:nvPr/>
        </p:nvSpPr>
        <p:spPr>
          <a:xfrm>
            <a:off x="7745882" y="2762402"/>
            <a:ext cx="256032" cy="256032"/>
          </a:xfrm>
          <a:prstGeom prst="ellipse">
            <a:avLst/>
          </a:prstGeom>
          <a:solidFill>
            <a:schemeClr val="accent1"/>
          </a:solidFill>
          <a:ln w="19050">
            <a:solidFill>
              <a:srgbClr val="F7F5EF"/>
            </a:solidFill>
            <a:prstDash val="solid"/>
          </a:ln>
        </p:spPr>
      </p:sp>
      <p:sp>
        <p:nvSpPr>
          <p:cNvPr id="23" name="City 3"/>
          <p:cNvSpPr/>
          <p:nvPr/>
        </p:nvSpPr>
        <p:spPr>
          <a:xfrm>
            <a:off x="8656625" y="2231136"/>
            <a:ext cx="256032" cy="256032"/>
          </a:xfrm>
          <a:prstGeom prst="ellipse">
            <a:avLst/>
          </a:prstGeom>
          <a:solidFill>
            <a:schemeClr val="accent1"/>
          </a:solidFill>
          <a:ln w="19050">
            <a:solidFill>
              <a:srgbClr val="F7F5EF"/>
            </a:solidFill>
            <a:prstDash val="solid"/>
          </a:ln>
        </p:spPr>
      </p:sp>
      <p:sp>
        <p:nvSpPr>
          <p:cNvPr id="24" name="City 4"/>
          <p:cNvSpPr/>
          <p:nvPr/>
        </p:nvSpPr>
        <p:spPr>
          <a:xfrm>
            <a:off x="9643262" y="2534717"/>
            <a:ext cx="256032" cy="256032"/>
          </a:xfrm>
          <a:prstGeom prst="ellipse">
            <a:avLst/>
          </a:prstGeom>
          <a:solidFill>
            <a:schemeClr val="accent1"/>
          </a:solidFill>
          <a:ln w="19050">
            <a:solidFill>
              <a:srgbClr val="F7F5EF"/>
            </a:solidFill>
            <a:prstDash val="solid"/>
          </a:ln>
        </p:spPr>
      </p:sp>
      <p:sp>
        <p:nvSpPr>
          <p:cNvPr id="25" name="City 5"/>
          <p:cNvSpPr/>
          <p:nvPr/>
        </p:nvSpPr>
        <p:spPr>
          <a:xfrm>
            <a:off x="10402214" y="2155241"/>
            <a:ext cx="256032" cy="256032"/>
          </a:xfrm>
          <a:prstGeom prst="ellipse">
            <a:avLst/>
          </a:prstGeom>
          <a:solidFill>
            <a:schemeClr val="accent1"/>
          </a:solidFill>
          <a:ln w="19050">
            <a:solidFill>
              <a:srgbClr val="F7F5EF"/>
            </a:solidFill>
            <a:prstDash val="solid"/>
          </a:ln>
        </p:spPr>
      </p:sp>
      <p:sp>
        <p:nvSpPr>
          <p:cNvPr id="26" name="City 6"/>
          <p:cNvSpPr/>
          <p:nvPr/>
        </p:nvSpPr>
        <p:spPr>
          <a:xfrm>
            <a:off x="10781690" y="3369564"/>
            <a:ext cx="256032" cy="256032"/>
          </a:xfrm>
          <a:prstGeom prst="ellipse">
            <a:avLst/>
          </a:prstGeom>
          <a:solidFill>
            <a:schemeClr val="accent1"/>
          </a:solidFill>
          <a:ln w="19050">
            <a:solidFill>
              <a:srgbClr val="F7F5EF"/>
            </a:solidFill>
            <a:prstDash val="solid"/>
          </a:ln>
        </p:spPr>
      </p:sp>
      <p:sp>
        <p:nvSpPr>
          <p:cNvPr id="27" name="City 7"/>
          <p:cNvSpPr/>
          <p:nvPr/>
        </p:nvSpPr>
        <p:spPr>
          <a:xfrm>
            <a:off x="10250424" y="4432097"/>
            <a:ext cx="256032" cy="256032"/>
          </a:xfrm>
          <a:prstGeom prst="ellipse">
            <a:avLst/>
          </a:prstGeom>
          <a:solidFill>
            <a:schemeClr val="accent1"/>
          </a:solidFill>
          <a:ln w="19050">
            <a:solidFill>
              <a:srgbClr val="F7F5EF"/>
            </a:solidFill>
            <a:prstDash val="solid"/>
          </a:ln>
        </p:spPr>
      </p:sp>
      <p:sp>
        <p:nvSpPr>
          <p:cNvPr id="28" name="City 8"/>
          <p:cNvSpPr/>
          <p:nvPr/>
        </p:nvSpPr>
        <p:spPr>
          <a:xfrm>
            <a:off x="9339682" y="4887468"/>
            <a:ext cx="256032" cy="256032"/>
          </a:xfrm>
          <a:prstGeom prst="ellipse">
            <a:avLst/>
          </a:prstGeom>
          <a:solidFill>
            <a:schemeClr val="accent1"/>
          </a:solidFill>
          <a:ln w="19050">
            <a:solidFill>
              <a:srgbClr val="F7F5EF"/>
            </a:solidFill>
            <a:prstDash val="solid"/>
          </a:ln>
        </p:spPr>
      </p:sp>
      <p:sp>
        <p:nvSpPr>
          <p:cNvPr id="29" name="City 9"/>
          <p:cNvSpPr/>
          <p:nvPr/>
        </p:nvSpPr>
        <p:spPr>
          <a:xfrm>
            <a:off x="8884310" y="3673145"/>
            <a:ext cx="256032" cy="256032"/>
          </a:xfrm>
          <a:prstGeom prst="ellipse">
            <a:avLst/>
          </a:prstGeom>
          <a:solidFill>
            <a:schemeClr val="accent1"/>
          </a:solidFill>
          <a:ln w="19050">
            <a:solidFill>
              <a:srgbClr val="F7F5EF"/>
            </a:solidFill>
            <a:prstDash val="solid"/>
          </a:ln>
        </p:spPr>
      </p:sp>
      <p:sp>
        <p:nvSpPr>
          <p:cNvPr id="30" name="City 10"/>
          <p:cNvSpPr/>
          <p:nvPr/>
        </p:nvSpPr>
        <p:spPr>
          <a:xfrm>
            <a:off x="8277149" y="4583887"/>
            <a:ext cx="256032" cy="256032"/>
          </a:xfrm>
          <a:prstGeom prst="ellipse">
            <a:avLst/>
          </a:prstGeom>
          <a:solidFill>
            <a:schemeClr val="tx1"/>
          </a:solidFill>
          <a:ln w="19050">
            <a:solidFill>
              <a:srgbClr val="F7F5EF"/>
            </a:solidFill>
            <a:prstDash val="solid"/>
          </a:ln>
        </p:spPr>
      </p:sp>
      <p:sp>
        <p:nvSpPr>
          <p:cNvPr id="31"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Benchmark: TSPLIB, 7 test instances (51 to 280 cities) with known optima. Metric: gap = (tour cost / optimum − 1) × 100.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GRASP is one loop: build, improve, keep the best</a:t>
            </a:r>
            <a:endParaRPr lang="en-US" sz="3200" dirty="0"/>
          </a:p>
        </p:txBody>
      </p:sp>
      <p:sp>
        <p:nvSpPr>
          <p:cNvPr id="4" name="Shape 1"/>
          <p:cNvSpPr/>
          <p:nvPr/>
        </p:nvSpPr>
        <p:spPr>
          <a:xfrm>
            <a:off x="822960" y="1691640"/>
            <a:ext cx="3017520" cy="1463040"/>
          </a:xfrm>
          <a:prstGeom prst="roundRect">
            <a:avLst>
              <a:gd name="adj" fmla="val 7500"/>
            </a:avLst>
          </a:prstGeom>
          <a:solidFill>
            <a:schemeClr val="bg1"/>
          </a:solidFill>
          <a:ln w="31750">
            <a:solidFill>
              <a:schemeClr val="accent2"/>
            </a:solidFill>
            <a:prstDash val="solid"/>
          </a:ln>
        </p:spPr>
      </p:sp>
      <p:sp>
        <p:nvSpPr>
          <p:cNvPr id="5" name="Text 2"/>
          <p:cNvSpPr txBox="1"/>
          <p:nvPr/>
        </p:nvSpPr>
        <p:spPr>
          <a:xfrm>
            <a:off x="1051560" y="187452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1 · Construct</a:t>
            </a:r>
            <a:endParaRPr lang="en-US" sz="1800" dirty="0"/>
          </a:p>
        </p:txBody>
      </p:sp>
      <p:sp>
        <p:nvSpPr>
          <p:cNvPr id="6" name="Text 3"/>
          <p:cNvSpPr txBox="1"/>
          <p:nvPr/>
        </p:nvSpPr>
        <p:spPr>
          <a:xfrm>
            <a:off x="1051560" y="2331720"/>
            <a:ext cx="2560320" cy="731520"/>
          </a:xfrm>
          <a:prstGeom prst="rect">
            <a:avLst/>
          </a:prstGeom>
          <a:noFill/>
          <a:ln/>
        </p:spPr>
        <p:txBody>
          <a:bodyPr wrap="square" lIns="0" tIns="0" rIns="0" bIns="0" rtlCol="0" anchor="t"/>
          <a:lstStyle/>
          <a:p>
            <a:pPr indent="0" marL="0">
              <a:buNone/>
            </a:pPr>
            <a:r>
              <a:rPr lang="en-US" sz="1400" dirty="0">
                <a:solidFill>
                  <a:schemeClr val="tx2"/>
                </a:solidFill>
              </a:rPr>
              <a:t>Build a tour step by step, choosing among the best candidates with some randomness.</a:t>
            </a:r>
            <a:endParaRPr lang="en-US" sz="1400" dirty="0"/>
          </a:p>
        </p:txBody>
      </p:sp>
      <p:sp>
        <p:nvSpPr>
          <p:cNvPr id="7" name="Shape 4"/>
          <p:cNvSpPr/>
          <p:nvPr/>
        </p:nvSpPr>
        <p:spPr>
          <a:xfrm>
            <a:off x="4585716" y="1691640"/>
            <a:ext cx="3017520" cy="1463040"/>
          </a:xfrm>
          <a:prstGeom prst="roundRect">
            <a:avLst>
              <a:gd name="adj" fmla="val 7500"/>
            </a:avLst>
          </a:prstGeom>
          <a:solidFill>
            <a:srgbClr val="E4F1EE"/>
          </a:solidFill>
          <a:ln w="12700">
            <a:solidFill>
              <a:srgbClr val="9FD0C8"/>
            </a:solidFill>
            <a:prstDash val="solid"/>
          </a:ln>
        </p:spPr>
      </p:sp>
      <p:sp>
        <p:nvSpPr>
          <p:cNvPr id="8" name="Text 5"/>
          <p:cNvSpPr txBox="1"/>
          <p:nvPr/>
        </p:nvSpPr>
        <p:spPr>
          <a:xfrm>
            <a:off x="4814316" y="187452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2 · Improve</a:t>
            </a:r>
            <a:endParaRPr lang="en-US" sz="1800" dirty="0"/>
          </a:p>
        </p:txBody>
      </p:sp>
      <p:sp>
        <p:nvSpPr>
          <p:cNvPr id="9" name="Text 6"/>
          <p:cNvSpPr txBox="1"/>
          <p:nvPr/>
        </p:nvSpPr>
        <p:spPr>
          <a:xfrm>
            <a:off x="4814316" y="2331720"/>
            <a:ext cx="2560320" cy="731520"/>
          </a:xfrm>
          <a:prstGeom prst="rect">
            <a:avLst/>
          </a:prstGeom>
          <a:noFill/>
          <a:ln/>
        </p:spPr>
        <p:txBody>
          <a:bodyPr wrap="square" lIns="0" tIns="0" rIns="0" bIns="0" rtlCol="0" anchor="t"/>
          <a:lstStyle/>
          <a:p>
            <a:pPr indent="0" marL="0">
              <a:buNone/>
            </a:pPr>
            <a:r>
              <a:rPr lang="en-US" sz="1400" dirty="0">
                <a:solidFill>
                  <a:schemeClr val="tx2"/>
                </a:solidFill>
              </a:rPr>
              <a:t>Run a local search (2-opt) until no swap of two edges shortens the tour.</a:t>
            </a:r>
            <a:endParaRPr lang="en-US" sz="1400" dirty="0"/>
          </a:p>
        </p:txBody>
      </p:sp>
      <p:sp>
        <p:nvSpPr>
          <p:cNvPr id="10" name="Shape 7"/>
          <p:cNvSpPr/>
          <p:nvPr/>
        </p:nvSpPr>
        <p:spPr>
          <a:xfrm>
            <a:off x="8348472" y="1691640"/>
            <a:ext cx="3017520" cy="1463040"/>
          </a:xfrm>
          <a:prstGeom prst="roundRect">
            <a:avLst>
              <a:gd name="adj" fmla="val 7500"/>
            </a:avLst>
          </a:prstGeom>
          <a:solidFill>
            <a:srgbClr val="E4F1EE"/>
          </a:solidFill>
          <a:ln w="12700">
            <a:solidFill>
              <a:srgbClr val="9FD0C8"/>
            </a:solidFill>
            <a:prstDash val="solid"/>
          </a:ln>
        </p:spPr>
      </p:sp>
      <p:sp>
        <p:nvSpPr>
          <p:cNvPr id="11" name="Text 8"/>
          <p:cNvSpPr txBox="1"/>
          <p:nvPr/>
        </p:nvSpPr>
        <p:spPr>
          <a:xfrm>
            <a:off x="8577072" y="187452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3 · Keep</a:t>
            </a:r>
            <a:endParaRPr lang="en-US" sz="1800" dirty="0"/>
          </a:p>
        </p:txBody>
      </p:sp>
      <p:sp>
        <p:nvSpPr>
          <p:cNvPr id="12" name="Text 9"/>
          <p:cNvSpPr txBox="1"/>
          <p:nvPr/>
        </p:nvSpPr>
        <p:spPr>
          <a:xfrm>
            <a:off x="8577072" y="2331720"/>
            <a:ext cx="2560320" cy="731520"/>
          </a:xfrm>
          <a:prstGeom prst="rect">
            <a:avLst/>
          </a:prstGeom>
          <a:noFill/>
          <a:ln/>
        </p:spPr>
        <p:txBody>
          <a:bodyPr wrap="square" lIns="0" tIns="0" rIns="0" bIns="0" rtlCol="0" anchor="t"/>
          <a:lstStyle/>
          <a:p>
            <a:pPr indent="0" marL="0">
              <a:buNone/>
            </a:pPr>
            <a:r>
              <a:rPr lang="en-US" sz="1400" dirty="0">
                <a:solidFill>
                  <a:schemeClr val="tx2"/>
                </a:solidFill>
              </a:rPr>
              <a:t>Store the tour if it is the shortest found so far.</a:t>
            </a:r>
            <a:endParaRPr lang="en-US" sz="1400" dirty="0"/>
          </a:p>
        </p:txBody>
      </p:sp>
      <p:sp>
        <p:nvSpPr>
          <p:cNvPr id="13" name="Shape 10"/>
          <p:cNvSpPr/>
          <p:nvPr/>
        </p:nvSpPr>
        <p:spPr>
          <a:xfrm>
            <a:off x="3931920" y="2276856"/>
            <a:ext cx="566928" cy="292608"/>
          </a:xfrm>
          <a:prstGeom prst="rightArrow">
            <a:avLst/>
          </a:prstGeom>
          <a:solidFill>
            <a:schemeClr val="accent6"/>
          </a:solidFill>
          <a:ln w="6350">
            <a:solidFill>
              <a:schemeClr val="accent6"/>
            </a:solidFill>
            <a:prstDash val="solid"/>
          </a:ln>
        </p:spPr>
      </p:sp>
      <p:sp>
        <p:nvSpPr>
          <p:cNvPr id="14" name="Shape 11"/>
          <p:cNvSpPr/>
          <p:nvPr/>
        </p:nvSpPr>
        <p:spPr>
          <a:xfrm>
            <a:off x="7699248" y="2276856"/>
            <a:ext cx="566928" cy="292608"/>
          </a:xfrm>
          <a:prstGeom prst="rightArrow">
            <a:avLst/>
          </a:prstGeom>
          <a:solidFill>
            <a:schemeClr val="accent6"/>
          </a:solidFill>
          <a:ln w="6350">
            <a:solidFill>
              <a:schemeClr val="accent6"/>
            </a:solidFill>
            <a:prstDash val="solid"/>
          </a:ln>
        </p:spPr>
      </p:sp>
      <p:sp>
        <p:nvSpPr>
          <p:cNvPr id="15" name="Shape 12"/>
          <p:cNvSpPr/>
          <p:nvPr/>
        </p:nvSpPr>
        <p:spPr>
          <a:xfrm>
            <a:off x="9857232" y="3154680"/>
            <a:ext cx="0" cy="502920"/>
          </a:xfrm>
          <a:prstGeom prst="line">
            <a:avLst/>
          </a:prstGeom>
          <a:noFill/>
          <a:ln w="28575">
            <a:solidFill>
              <a:schemeClr val="accent1"/>
            </a:solidFill>
            <a:prstDash val="solid"/>
          </a:ln>
        </p:spPr>
      </p:sp>
      <p:sp>
        <p:nvSpPr>
          <p:cNvPr id="16" name="Shape 13"/>
          <p:cNvSpPr/>
          <p:nvPr/>
        </p:nvSpPr>
        <p:spPr>
          <a:xfrm>
            <a:off x="2331720" y="3657600"/>
            <a:ext cx="7525512" cy="0"/>
          </a:xfrm>
          <a:prstGeom prst="line">
            <a:avLst/>
          </a:prstGeom>
          <a:noFill/>
          <a:ln w="28575">
            <a:solidFill>
              <a:schemeClr val="accent1"/>
            </a:solidFill>
            <a:prstDash val="solid"/>
          </a:ln>
        </p:spPr>
      </p:sp>
      <p:sp>
        <p:nvSpPr>
          <p:cNvPr id="17" name="Shape 14"/>
          <p:cNvSpPr/>
          <p:nvPr/>
        </p:nvSpPr>
        <p:spPr>
          <a:xfrm flipV="1">
            <a:off x="2331720" y="3154680"/>
            <a:ext cx="0" cy="502920"/>
          </a:xfrm>
          <a:prstGeom prst="line">
            <a:avLst/>
          </a:prstGeom>
          <a:noFill/>
          <a:ln w="28575">
            <a:solidFill>
              <a:schemeClr val="accent1"/>
            </a:solidFill>
            <a:prstDash val="solid"/>
            <a:tailEnd type="triangle"/>
          </a:ln>
        </p:spPr>
      </p:sp>
      <p:sp>
        <p:nvSpPr>
          <p:cNvPr id="18" name="Text 15"/>
          <p:cNvSpPr txBox="1"/>
          <p:nvPr/>
        </p:nvSpPr>
        <p:spPr>
          <a:xfrm>
            <a:off x="2487168" y="3218688"/>
            <a:ext cx="2926080" cy="228600"/>
          </a:xfrm>
          <a:prstGeom prst="rect">
            <a:avLst/>
          </a:prstGeom>
          <a:noFill/>
          <a:ln/>
        </p:spPr>
        <p:txBody>
          <a:bodyPr wrap="square" lIns="0" tIns="0" rIns="0" bIns="0" rtlCol="0" anchor="t"/>
          <a:lstStyle/>
          <a:p>
            <a:pPr indent="0" marL="0">
              <a:buNone/>
            </a:pPr>
            <a:r>
              <a:rPr lang="en-US" sz="1200" b="1" dirty="0">
                <a:solidFill>
                  <a:schemeClr val="accent4"/>
                </a:solidFill>
              </a:rPr>
              <a:t>The only step that differs</a:t>
            </a:r>
            <a:endParaRPr lang="en-US" sz="1200" dirty="0"/>
          </a:p>
        </p:txBody>
      </p:sp>
      <p:sp>
        <p:nvSpPr>
          <p:cNvPr id="19" name="Text 16"/>
          <p:cNvSpPr txBox="1"/>
          <p:nvPr/>
        </p:nvSpPr>
        <p:spPr>
          <a:xfrm>
            <a:off x="2331720" y="3749040"/>
            <a:ext cx="7525512" cy="274320"/>
          </a:xfrm>
          <a:prstGeom prst="rect">
            <a:avLst/>
          </a:prstGeom>
          <a:noFill/>
          <a:ln/>
        </p:spPr>
        <p:txBody>
          <a:bodyPr wrap="square" lIns="0" tIns="0" rIns="0" bIns="0" rtlCol="0" anchor="t"/>
          <a:lstStyle/>
          <a:p>
            <a:pPr algn="ctr" indent="0" marL="0">
              <a:buNone/>
            </a:pPr>
            <a:r>
              <a:rPr lang="en-US" sz="1400" dirty="0">
                <a:solidFill>
                  <a:schemeClr val="accent3"/>
                </a:solidFill>
              </a:rPr>
              <a:t>repeat for every iteration (150 per run in the experiments)</a:t>
            </a:r>
            <a:endParaRPr lang="en-US" sz="1400" dirty="0"/>
          </a:p>
        </p:txBody>
      </p:sp>
      <p:sp>
        <p:nvSpPr>
          <p:cNvPr id="20" name="Text 17"/>
          <p:cNvSpPr txBox="1"/>
          <p:nvPr/>
        </p:nvSpPr>
        <p:spPr>
          <a:xfrm>
            <a:off x="822960" y="4343400"/>
            <a:ext cx="338328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GREEDY</a:t>
            </a:r>
            <a:endParaRPr lang="en-US" sz="1100" dirty="0"/>
          </a:p>
        </p:txBody>
      </p:sp>
      <p:sp>
        <p:nvSpPr>
          <p:cNvPr id="21" name="Text 18"/>
          <p:cNvSpPr txBox="1"/>
          <p:nvPr/>
        </p:nvSpPr>
        <p:spPr>
          <a:xfrm>
            <a:off x="822960" y="4617720"/>
            <a:ext cx="3383280" cy="777240"/>
          </a:xfrm>
          <a:prstGeom prst="rect">
            <a:avLst/>
          </a:prstGeom>
          <a:noFill/>
          <a:ln/>
        </p:spPr>
        <p:txBody>
          <a:bodyPr wrap="square" lIns="0" tIns="0" rIns="0" bIns="0" rtlCol="0" anchor="t"/>
          <a:lstStyle/>
          <a:p>
            <a:pPr indent="0" marL="0">
              <a:buNone/>
            </a:pPr>
            <a:r>
              <a:rPr lang="en-US" sz="1500" dirty="0">
                <a:solidFill>
                  <a:schemeClr val="tx2"/>
                </a:solidFill>
              </a:rPr>
              <a:t>Candidates are ranked by a score; here, the saving of joining two cities.</a:t>
            </a:r>
            <a:endParaRPr lang="en-US" sz="1500" dirty="0"/>
          </a:p>
        </p:txBody>
      </p:sp>
      <p:sp>
        <p:nvSpPr>
          <p:cNvPr id="22" name="Text 19"/>
          <p:cNvSpPr txBox="1"/>
          <p:nvPr/>
        </p:nvSpPr>
        <p:spPr>
          <a:xfrm>
            <a:off x="4343400" y="4343400"/>
            <a:ext cx="338328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RANDOMIZED</a:t>
            </a:r>
            <a:endParaRPr lang="en-US" sz="1100" dirty="0"/>
          </a:p>
        </p:txBody>
      </p:sp>
      <p:sp>
        <p:nvSpPr>
          <p:cNvPr id="23" name="Text 20"/>
          <p:cNvSpPr txBox="1"/>
          <p:nvPr/>
        </p:nvSpPr>
        <p:spPr>
          <a:xfrm>
            <a:off x="4343400" y="4617720"/>
            <a:ext cx="3383280" cy="777240"/>
          </a:xfrm>
          <a:prstGeom prst="rect">
            <a:avLst/>
          </a:prstGeom>
          <a:noFill/>
          <a:ln/>
        </p:spPr>
        <p:txBody>
          <a:bodyPr wrap="square" lIns="0" tIns="0" rIns="0" bIns="0" rtlCol="0" anchor="t"/>
          <a:lstStyle/>
          <a:p>
            <a:pPr indent="0" marL="0">
              <a:buNone/>
            </a:pPr>
            <a:r>
              <a:rPr lang="en-US" sz="1500" dirty="0">
                <a:solidFill>
                  <a:schemeClr val="tx2"/>
                </a:solidFill>
              </a:rPr>
              <a:t>The pick is not always the top one, so each iteration builds a different tour.</a:t>
            </a:r>
            <a:endParaRPr lang="en-US" sz="1500" dirty="0"/>
          </a:p>
        </p:txBody>
      </p:sp>
      <p:sp>
        <p:nvSpPr>
          <p:cNvPr id="24" name="Text 21"/>
          <p:cNvSpPr txBox="1"/>
          <p:nvPr/>
        </p:nvSpPr>
        <p:spPr>
          <a:xfrm>
            <a:off x="7863840" y="4343400"/>
            <a:ext cx="338328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ADAPTIVE</a:t>
            </a:r>
            <a:endParaRPr lang="en-US" sz="1100" dirty="0"/>
          </a:p>
        </p:txBody>
      </p:sp>
      <p:sp>
        <p:nvSpPr>
          <p:cNvPr id="25" name="Text 22"/>
          <p:cNvSpPr txBox="1"/>
          <p:nvPr/>
        </p:nvSpPr>
        <p:spPr>
          <a:xfrm>
            <a:off x="7863840" y="4617720"/>
            <a:ext cx="3383280" cy="777240"/>
          </a:xfrm>
          <a:prstGeom prst="rect">
            <a:avLst/>
          </a:prstGeom>
          <a:noFill/>
          <a:ln/>
        </p:spPr>
        <p:txBody>
          <a:bodyPr wrap="square" lIns="0" tIns="0" rIns="0" bIns="0" rtlCol="0" anchor="t"/>
          <a:lstStyle/>
          <a:p>
            <a:pPr indent="0" marL="0">
              <a:buNone/>
            </a:pPr>
            <a:r>
              <a:rPr lang="en-US" sz="1500" dirty="0">
                <a:solidFill>
                  <a:schemeClr val="tx2"/>
                </a:solidFill>
              </a:rPr>
              <a:t>After each pick, the list of valid candidates is updated.</a:t>
            </a:r>
            <a:endParaRPr lang="en-US" sz="1500" dirty="0"/>
          </a:p>
        </p:txBody>
      </p:sp>
      <p:sp>
        <p:nvSpPr>
          <p:cNvPr id="26" name="Takeaway"/>
          <p:cNvSpPr txBox="1"/>
          <p:nvPr/>
        </p:nvSpPr>
        <p:spPr>
          <a:xfrm>
            <a:off x="822960" y="5623560"/>
            <a:ext cx="10543032" cy="457200"/>
          </a:xfrm>
          <a:prstGeom prst="rect">
            <a:avLst/>
          </a:prstGeom>
          <a:noFill/>
          <a:ln/>
        </p:spPr>
        <p:txBody>
          <a:bodyPr wrap="square" lIns="0" tIns="0" rIns="0" bIns="0" rtlCol="0" anchor="t"/>
          <a:lstStyle/>
          <a:p>
            <a:pPr indent="0" marL="0">
              <a:buNone/>
            </a:pPr>
            <a:r>
              <a:rPr lang="en-US" sz="2200" b="1" dirty="0">
                <a:solidFill>
                  <a:schemeClr val="accent3"/>
                </a:solidFill>
              </a:rPr>
              <a:t>Only the choice rule in step 1 differs between the methods we compare.</a:t>
            </a:r>
            <a:endParaRPr lang="en-US" sz="2200" dirty="0"/>
          </a:p>
        </p:txBody>
      </p:sp>
      <p:sp>
        <p:nvSpPr>
          <p:cNvPr id="27"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GRASP: Greedy Randomized Adaptive Search Procedure. The local search is 2-opt, first improvement, in every variant.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Clarke-Wright savings rank the candidates</a:t>
            </a:r>
            <a:endParaRPr lang="en-US" sz="3200" dirty="0"/>
          </a:p>
        </p:txBody>
      </p:sp>
      <p:sp>
        <p:nvSpPr>
          <p:cNvPr id="4" name="Shape 1"/>
          <p:cNvSpPr/>
          <p:nvPr/>
        </p:nvSpPr>
        <p:spPr>
          <a:xfrm>
            <a:off x="822960" y="1645920"/>
            <a:ext cx="6126480" cy="1005840"/>
          </a:xfrm>
          <a:prstGeom prst="roundRect">
            <a:avLst>
              <a:gd name="adj" fmla="val 10909"/>
            </a:avLst>
          </a:prstGeom>
          <a:solidFill>
            <a:schemeClr val="bg1"/>
          </a:solidFill>
          <a:ln w="12700">
            <a:solidFill>
              <a:srgbClr val="E6E3DA"/>
            </a:solidFill>
            <a:prstDash val="solid"/>
          </a:ln>
        </p:spPr>
      </p:sp>
      <p:sp>
        <p:nvSpPr>
          <p:cNvPr id="5" name="Formula"/>
          <p:cNvSpPr txBox="1"/>
          <p:nvPr/>
        </p:nvSpPr>
        <p:spPr>
          <a:xfrm>
            <a:off x="822960" y="1645920"/>
            <a:ext cx="6126480" cy="100584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s(i, j) = d(h, i) + d(h, j) − d(i, j)</a:t>
            </a:r>
            <a:endParaRPr lang="en-US" sz="2400" dirty="0"/>
          </a:p>
        </p:txBody>
      </p:sp>
      <p:sp>
        <p:nvSpPr>
          <p:cNvPr id="6" name="Text 3"/>
          <p:cNvSpPr txBox="1"/>
          <p:nvPr/>
        </p:nvSpPr>
        <p:spPr>
          <a:xfrm>
            <a:off x="822960" y="2834640"/>
            <a:ext cx="6126480" cy="777240"/>
          </a:xfrm>
          <a:prstGeom prst="rect">
            <a:avLst/>
          </a:prstGeom>
          <a:noFill/>
          <a:ln/>
        </p:spPr>
        <p:txBody>
          <a:bodyPr wrap="square" lIns="0" tIns="0" rIns="0" bIns="0" rtlCol="0" anchor="ctr"/>
          <a:lstStyle/>
          <a:p>
            <a:pPr indent="0" marL="0">
              <a:buNone/>
            </a:pPr>
            <a:r>
              <a:rPr lang="en-US" sz="1600" b="1" dirty="0">
                <a:solidFill>
                  <a:schemeClr val="tx1"/>
                </a:solidFill>
              </a:rPr>
              <a:t>h </a:t>
            </a:r>
            <a:pPr indent="0" marL="0">
              <a:buNone/>
            </a:pPr>
            <a:r>
              <a:rPr lang="en-US" sz="1600" dirty="0">
                <a:solidFill>
                  <a:schemeClr val="tx2"/>
                </a:solidFill>
              </a:rPr>
              <a:t>is the hub: the city closest to the centre of the instance.</a:t>
            </a:r>
            <a:endParaRPr lang="en-US" sz="1600" dirty="0"/>
          </a:p>
        </p:txBody>
      </p:sp>
      <p:sp>
        <p:nvSpPr>
          <p:cNvPr id="7" name="Shape 4"/>
          <p:cNvSpPr/>
          <p:nvPr/>
        </p:nvSpPr>
        <p:spPr>
          <a:xfrm>
            <a:off x="822960" y="3611880"/>
            <a:ext cx="6126480" cy="0"/>
          </a:xfrm>
          <a:prstGeom prst="line">
            <a:avLst/>
          </a:prstGeom>
          <a:noFill/>
          <a:ln w="12700">
            <a:solidFill>
              <a:srgbClr val="D9D6CC"/>
            </a:solidFill>
            <a:prstDash val="solid"/>
          </a:ln>
        </p:spPr>
      </p:sp>
      <p:sp>
        <p:nvSpPr>
          <p:cNvPr id="8" name="Text 5"/>
          <p:cNvSpPr txBox="1"/>
          <p:nvPr/>
        </p:nvSpPr>
        <p:spPr>
          <a:xfrm>
            <a:off x="822960" y="3611880"/>
            <a:ext cx="6126480" cy="777240"/>
          </a:xfrm>
          <a:prstGeom prst="rect">
            <a:avLst/>
          </a:prstGeom>
          <a:noFill/>
          <a:ln/>
        </p:spPr>
        <p:txBody>
          <a:bodyPr wrap="square" lIns="0" tIns="0" rIns="0" bIns="0" rtlCol="0" anchor="ctr"/>
          <a:lstStyle/>
          <a:p>
            <a:pPr indent="0" marL="0">
              <a:buNone/>
            </a:pPr>
            <a:r>
              <a:rPr lang="en-US" sz="1600" b="1" dirty="0">
                <a:solidFill>
                  <a:schemeClr val="tx1"/>
                </a:solidFill>
              </a:rPr>
              <a:t>i, j </a:t>
            </a:r>
            <a:pPr indent="0" marL="0">
              <a:buNone/>
            </a:pPr>
            <a:r>
              <a:rPr lang="en-US" sz="1600" dirty="0">
                <a:solidFill>
                  <a:schemeClr val="tx2"/>
                </a:solidFill>
              </a:rPr>
              <a:t>are any two other cities.</a:t>
            </a:r>
            <a:endParaRPr lang="en-US" sz="1600" dirty="0"/>
          </a:p>
        </p:txBody>
      </p:sp>
      <p:sp>
        <p:nvSpPr>
          <p:cNvPr id="9" name="Shape 6"/>
          <p:cNvSpPr/>
          <p:nvPr/>
        </p:nvSpPr>
        <p:spPr>
          <a:xfrm>
            <a:off x="822960" y="4389120"/>
            <a:ext cx="6126480" cy="0"/>
          </a:xfrm>
          <a:prstGeom prst="line">
            <a:avLst/>
          </a:prstGeom>
          <a:noFill/>
          <a:ln w="12700">
            <a:solidFill>
              <a:srgbClr val="D9D6CC"/>
            </a:solidFill>
            <a:prstDash val="solid"/>
          </a:ln>
        </p:spPr>
      </p:sp>
      <p:sp>
        <p:nvSpPr>
          <p:cNvPr id="10" name="Text 7"/>
          <p:cNvSpPr txBox="1"/>
          <p:nvPr/>
        </p:nvSpPr>
        <p:spPr>
          <a:xfrm>
            <a:off x="822960" y="4389120"/>
            <a:ext cx="6126480" cy="777240"/>
          </a:xfrm>
          <a:prstGeom prst="rect">
            <a:avLst/>
          </a:prstGeom>
          <a:noFill/>
          <a:ln/>
        </p:spPr>
        <p:txBody>
          <a:bodyPr wrap="square" lIns="0" tIns="0" rIns="0" bIns="0" rtlCol="0" anchor="ctr"/>
          <a:lstStyle/>
          <a:p>
            <a:pPr indent="0" marL="0">
              <a:buNone/>
            </a:pPr>
            <a:r>
              <a:rPr lang="en-US" sz="1600" b="1" dirty="0">
                <a:solidFill>
                  <a:schemeClr val="tx1"/>
                </a:solidFill>
              </a:rPr>
              <a:t>s(i, j) </a:t>
            </a:r>
            <a:pPr indent="0" marL="0">
              <a:buNone/>
            </a:pPr>
            <a:r>
              <a:rPr lang="en-US" sz="1600" dirty="0">
                <a:solidFill>
                  <a:schemeClr val="tx2"/>
                </a:solidFill>
              </a:rPr>
              <a:t>is the distance saved by travelling i → j directly instead of going back to the hub in between.</a:t>
            </a:r>
            <a:endParaRPr lang="en-US" sz="1600" dirty="0"/>
          </a:p>
        </p:txBody>
      </p:sp>
      <p:sp>
        <p:nvSpPr>
          <p:cNvPr id="11" name="Shape 8"/>
          <p:cNvSpPr/>
          <p:nvPr/>
        </p:nvSpPr>
        <p:spPr>
          <a:xfrm>
            <a:off x="822960" y="5166360"/>
            <a:ext cx="6126480" cy="0"/>
          </a:xfrm>
          <a:prstGeom prst="line">
            <a:avLst/>
          </a:prstGeom>
          <a:noFill/>
          <a:ln w="12700">
            <a:solidFill>
              <a:srgbClr val="D9D6CC"/>
            </a:solidFill>
            <a:prstDash val="solid"/>
          </a:ln>
        </p:spPr>
      </p:sp>
      <p:sp>
        <p:nvSpPr>
          <p:cNvPr id="12" name="Takeaway"/>
          <p:cNvSpPr txBox="1"/>
          <p:nvPr/>
        </p:nvSpPr>
        <p:spPr>
          <a:xfrm>
            <a:off x="822960" y="5349240"/>
            <a:ext cx="10543032" cy="457200"/>
          </a:xfrm>
          <a:prstGeom prst="rect">
            <a:avLst/>
          </a:prstGeom>
          <a:noFill/>
          <a:ln/>
        </p:spPr>
        <p:txBody>
          <a:bodyPr wrap="square" lIns="0" tIns="0" rIns="0" bIns="0" rtlCol="0" anchor="t"/>
          <a:lstStyle/>
          <a:p>
            <a:pPr indent="0" marL="0">
              <a:buNone/>
            </a:pPr>
            <a:r>
              <a:rPr lang="en-US" sz="2200" b="1" dirty="0">
                <a:solidFill>
                  <a:schemeClr val="accent3"/>
                </a:solidFill>
              </a:rPr>
              <a:t>A large saving makes a pair attractive to join.</a:t>
            </a:r>
            <a:endParaRPr lang="en-US" sz="2200" dirty="0"/>
          </a:p>
        </p:txBody>
      </p:sp>
      <p:sp>
        <p:nvSpPr>
          <p:cNvPr id="13" name="Shape 10"/>
          <p:cNvSpPr/>
          <p:nvPr/>
        </p:nvSpPr>
        <p:spPr>
          <a:xfrm>
            <a:off x="7315200" y="1645920"/>
            <a:ext cx="4050792" cy="3474720"/>
          </a:xfrm>
          <a:prstGeom prst="roundRect">
            <a:avLst>
              <a:gd name="adj" fmla="val 3158"/>
            </a:avLst>
          </a:prstGeom>
          <a:solidFill>
            <a:schemeClr val="bg1"/>
          </a:solidFill>
          <a:ln w="12700">
            <a:solidFill>
              <a:srgbClr val="E6E3DA"/>
            </a:solidFill>
            <a:prstDash val="solid"/>
          </a:ln>
        </p:spPr>
      </p:sp>
      <p:sp>
        <p:nvSpPr>
          <p:cNvPr id="14" name="Shape 11"/>
          <p:cNvSpPr/>
          <p:nvPr/>
        </p:nvSpPr>
        <p:spPr>
          <a:xfrm>
            <a:off x="8092440" y="2606040"/>
            <a:ext cx="1248156" cy="1737360"/>
          </a:xfrm>
          <a:prstGeom prst="line">
            <a:avLst/>
          </a:prstGeom>
          <a:noFill/>
          <a:ln w="31750">
            <a:solidFill>
              <a:schemeClr val="accent6"/>
            </a:solidFill>
            <a:prstDash val="dash"/>
          </a:ln>
        </p:spPr>
      </p:sp>
      <p:sp>
        <p:nvSpPr>
          <p:cNvPr id="15" name="Shape 12"/>
          <p:cNvSpPr/>
          <p:nvPr/>
        </p:nvSpPr>
        <p:spPr>
          <a:xfrm flipV="1">
            <a:off x="9340596" y="2606040"/>
            <a:ext cx="1248156" cy="1737360"/>
          </a:xfrm>
          <a:prstGeom prst="line">
            <a:avLst/>
          </a:prstGeom>
          <a:noFill/>
          <a:ln w="31750">
            <a:solidFill>
              <a:schemeClr val="accent6"/>
            </a:solidFill>
            <a:prstDash val="dash"/>
          </a:ln>
        </p:spPr>
      </p:sp>
      <p:sp>
        <p:nvSpPr>
          <p:cNvPr id="16" name="Shape 13"/>
          <p:cNvSpPr/>
          <p:nvPr/>
        </p:nvSpPr>
        <p:spPr>
          <a:xfrm>
            <a:off x="8092440" y="2606040"/>
            <a:ext cx="2496312" cy="0"/>
          </a:xfrm>
          <a:prstGeom prst="line">
            <a:avLst/>
          </a:prstGeom>
          <a:noFill/>
          <a:ln w="50800">
            <a:solidFill>
              <a:schemeClr val="accent2"/>
            </a:solidFill>
            <a:prstDash val="solid"/>
          </a:ln>
        </p:spPr>
      </p:sp>
      <p:sp>
        <p:nvSpPr>
          <p:cNvPr id="17" name="City i"/>
          <p:cNvSpPr/>
          <p:nvPr/>
        </p:nvSpPr>
        <p:spPr>
          <a:xfrm>
            <a:off x="7936992" y="2450592"/>
            <a:ext cx="310896" cy="310896"/>
          </a:xfrm>
          <a:prstGeom prst="ellipse">
            <a:avLst/>
          </a:prstGeom>
          <a:solidFill>
            <a:schemeClr val="accent1"/>
          </a:solidFill>
          <a:ln w="6350">
            <a:solidFill>
              <a:schemeClr val="accent1"/>
            </a:solidFill>
            <a:prstDash val="solid"/>
          </a:ln>
        </p:spPr>
      </p:sp>
      <p:sp>
        <p:nvSpPr>
          <p:cNvPr id="18" name="City j"/>
          <p:cNvSpPr/>
          <p:nvPr/>
        </p:nvSpPr>
        <p:spPr>
          <a:xfrm>
            <a:off x="10433304" y="2450592"/>
            <a:ext cx="310896" cy="310896"/>
          </a:xfrm>
          <a:prstGeom prst="ellipse">
            <a:avLst/>
          </a:prstGeom>
          <a:solidFill>
            <a:schemeClr val="accent1"/>
          </a:solidFill>
          <a:ln w="6350">
            <a:solidFill>
              <a:schemeClr val="accent1"/>
            </a:solidFill>
            <a:prstDash val="solid"/>
          </a:ln>
        </p:spPr>
      </p:sp>
      <p:sp>
        <p:nvSpPr>
          <p:cNvPr id="19" name="Hub"/>
          <p:cNvSpPr/>
          <p:nvPr/>
        </p:nvSpPr>
        <p:spPr>
          <a:xfrm>
            <a:off x="9185148" y="4187952"/>
            <a:ext cx="310896" cy="310896"/>
          </a:xfrm>
          <a:prstGeom prst="rect">
            <a:avLst/>
          </a:prstGeom>
          <a:solidFill>
            <a:schemeClr val="tx1"/>
          </a:solidFill>
          <a:ln w="6350">
            <a:solidFill>
              <a:schemeClr val="tx1"/>
            </a:solidFill>
            <a:prstDash val="solid"/>
          </a:ln>
        </p:spPr>
      </p:sp>
      <p:sp>
        <p:nvSpPr>
          <p:cNvPr id="20" name="Text 17"/>
          <p:cNvSpPr txBox="1"/>
          <p:nvPr/>
        </p:nvSpPr>
        <p:spPr>
          <a:xfrm>
            <a:off x="7543800" y="2468880"/>
            <a:ext cx="365760" cy="274320"/>
          </a:xfrm>
          <a:prstGeom prst="rect">
            <a:avLst/>
          </a:prstGeom>
          <a:noFill/>
          <a:ln/>
        </p:spPr>
        <p:txBody>
          <a:bodyPr wrap="square" lIns="0" tIns="0" rIns="0" bIns="0" rtlCol="0" anchor="t"/>
          <a:lstStyle/>
          <a:p>
            <a:pPr algn="r" indent="0" marL="0">
              <a:buNone/>
            </a:pPr>
            <a:r>
              <a:rPr lang="en-US" sz="1500" b="1" dirty="0">
                <a:solidFill>
                  <a:schemeClr val="tx1"/>
                </a:solidFill>
              </a:rPr>
              <a:t>i</a:t>
            </a:r>
            <a:endParaRPr lang="en-US" sz="1500" dirty="0"/>
          </a:p>
        </p:txBody>
      </p:sp>
      <p:sp>
        <p:nvSpPr>
          <p:cNvPr id="21" name="Text 18"/>
          <p:cNvSpPr txBox="1"/>
          <p:nvPr/>
        </p:nvSpPr>
        <p:spPr>
          <a:xfrm>
            <a:off x="10835640" y="2468880"/>
            <a:ext cx="365760" cy="274320"/>
          </a:xfrm>
          <a:prstGeom prst="rect">
            <a:avLst/>
          </a:prstGeom>
          <a:noFill/>
          <a:ln/>
        </p:spPr>
        <p:txBody>
          <a:bodyPr wrap="square" lIns="0" tIns="0" rIns="0" bIns="0" rtlCol="0" anchor="t"/>
          <a:lstStyle/>
          <a:p>
            <a:pPr indent="0" marL="0">
              <a:buNone/>
            </a:pPr>
            <a:r>
              <a:rPr lang="en-US" sz="1500" b="1" dirty="0">
                <a:solidFill>
                  <a:schemeClr val="tx1"/>
                </a:solidFill>
              </a:rPr>
              <a:t>j</a:t>
            </a:r>
            <a:endParaRPr lang="en-US" sz="1500" dirty="0"/>
          </a:p>
        </p:txBody>
      </p:sp>
      <p:sp>
        <p:nvSpPr>
          <p:cNvPr id="22" name="Text 19"/>
          <p:cNvSpPr txBox="1"/>
          <p:nvPr/>
        </p:nvSpPr>
        <p:spPr>
          <a:xfrm>
            <a:off x="8595360" y="4572000"/>
            <a:ext cx="1490472" cy="274320"/>
          </a:xfrm>
          <a:prstGeom prst="rect">
            <a:avLst/>
          </a:prstGeom>
          <a:noFill/>
          <a:ln/>
        </p:spPr>
        <p:txBody>
          <a:bodyPr wrap="square" lIns="0" tIns="0" rIns="0" bIns="0" rtlCol="0" anchor="t"/>
          <a:lstStyle/>
          <a:p>
            <a:pPr algn="ctr" indent="0" marL="0">
              <a:buNone/>
            </a:pPr>
            <a:r>
              <a:rPr lang="en-US" sz="1500" b="1" dirty="0">
                <a:solidFill>
                  <a:schemeClr val="tx1"/>
                </a:solidFill>
              </a:rPr>
              <a:t>hub h</a:t>
            </a:r>
            <a:endParaRPr lang="en-US" sz="1500" dirty="0"/>
          </a:p>
        </p:txBody>
      </p:sp>
      <p:sp>
        <p:nvSpPr>
          <p:cNvPr id="23" name="Text 20"/>
          <p:cNvSpPr txBox="1"/>
          <p:nvPr/>
        </p:nvSpPr>
        <p:spPr>
          <a:xfrm>
            <a:off x="8595360" y="2057400"/>
            <a:ext cx="1490472" cy="274320"/>
          </a:xfrm>
          <a:prstGeom prst="rect">
            <a:avLst/>
          </a:prstGeom>
          <a:noFill/>
          <a:ln/>
        </p:spPr>
        <p:txBody>
          <a:bodyPr wrap="square" lIns="0" tIns="0" rIns="0" bIns="0" rtlCol="0" anchor="t"/>
          <a:lstStyle/>
          <a:p>
            <a:pPr algn="ctr" indent="0" marL="0">
              <a:buNone/>
            </a:pPr>
            <a:r>
              <a:rPr lang="en-US" sz="1500" b="1" dirty="0">
                <a:solidFill>
                  <a:schemeClr val="accent4"/>
                </a:solidFill>
              </a:rPr>
              <a:t>d(i, j)</a:t>
            </a:r>
            <a:endParaRPr lang="en-US" sz="1500" dirty="0"/>
          </a:p>
        </p:txBody>
      </p:sp>
      <p:sp>
        <p:nvSpPr>
          <p:cNvPr id="24" name="Text 21"/>
          <p:cNvSpPr txBox="1"/>
          <p:nvPr/>
        </p:nvSpPr>
        <p:spPr>
          <a:xfrm>
            <a:off x="7498080" y="3337560"/>
            <a:ext cx="1051560" cy="274320"/>
          </a:xfrm>
          <a:prstGeom prst="rect">
            <a:avLst/>
          </a:prstGeom>
          <a:noFill/>
          <a:ln/>
        </p:spPr>
        <p:txBody>
          <a:bodyPr wrap="square" lIns="0" tIns="0" rIns="0" bIns="0" rtlCol="0" anchor="t"/>
          <a:lstStyle/>
          <a:p>
            <a:pPr algn="r" indent="0" marL="0">
              <a:buNone/>
            </a:pPr>
            <a:r>
              <a:rPr lang="en-US" sz="1300" dirty="0">
                <a:solidFill>
                  <a:schemeClr val="accent5"/>
                </a:solidFill>
              </a:rPr>
              <a:t>d(h, i)</a:t>
            </a:r>
            <a:endParaRPr lang="en-US" sz="1300" dirty="0"/>
          </a:p>
        </p:txBody>
      </p:sp>
      <p:sp>
        <p:nvSpPr>
          <p:cNvPr id="25" name="Text 22"/>
          <p:cNvSpPr txBox="1"/>
          <p:nvPr/>
        </p:nvSpPr>
        <p:spPr>
          <a:xfrm>
            <a:off x="10104120" y="3337560"/>
            <a:ext cx="1051560" cy="274320"/>
          </a:xfrm>
          <a:prstGeom prst="rect">
            <a:avLst/>
          </a:prstGeom>
          <a:noFill/>
          <a:ln/>
        </p:spPr>
        <p:txBody>
          <a:bodyPr wrap="square" lIns="0" tIns="0" rIns="0" bIns="0" rtlCol="0" anchor="t"/>
          <a:lstStyle/>
          <a:p>
            <a:pPr indent="0" marL="0">
              <a:buNone/>
            </a:pPr>
            <a:r>
              <a:rPr lang="en-US" sz="1300" dirty="0">
                <a:solidFill>
                  <a:schemeClr val="accent5"/>
                </a:solidFill>
              </a:rPr>
              <a:t>d(h, j)</a:t>
            </a:r>
            <a:endParaRPr lang="en-US" sz="1300" dirty="0"/>
          </a:p>
        </p:txBody>
      </p:sp>
      <p:sp>
        <p:nvSpPr>
          <p:cNvPr id="26"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The savings of all pairs are computed once per instance and sorted from largest to smallest. Clarke and Wright (1964).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Building one tour: filter, choose, merge</a:t>
            </a:r>
            <a:endParaRPr lang="en-US" sz="3200" dirty="0"/>
          </a:p>
        </p:txBody>
      </p:sp>
      <p:sp>
        <p:nvSpPr>
          <p:cNvPr id="4" name="Shape 1"/>
          <p:cNvSpPr/>
          <p:nvPr/>
        </p:nvSpPr>
        <p:spPr>
          <a:xfrm>
            <a:off x="822960" y="1691640"/>
            <a:ext cx="3154680" cy="2788920"/>
          </a:xfrm>
          <a:prstGeom prst="roundRect">
            <a:avLst>
              <a:gd name="adj" fmla="val 3934"/>
            </a:avLst>
          </a:prstGeom>
          <a:solidFill>
            <a:srgbClr val="E4F1EE"/>
          </a:solidFill>
          <a:ln w="12700">
            <a:solidFill>
              <a:srgbClr val="9FD0C8"/>
            </a:solidFill>
            <a:prstDash val="solid"/>
          </a:ln>
        </p:spPr>
      </p:sp>
      <p:sp>
        <p:nvSpPr>
          <p:cNvPr id="5" name="Text 2"/>
          <p:cNvSpPr txBox="1"/>
          <p:nvPr/>
        </p:nvSpPr>
        <p:spPr>
          <a:xfrm>
            <a:off x="1078992" y="1920240"/>
            <a:ext cx="269748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STEP 1</a:t>
            </a:r>
            <a:endParaRPr lang="en-US" sz="1100" dirty="0"/>
          </a:p>
        </p:txBody>
      </p:sp>
      <p:sp>
        <p:nvSpPr>
          <p:cNvPr id="6" name="Text 3"/>
          <p:cNvSpPr txBox="1"/>
          <p:nvPr/>
        </p:nvSpPr>
        <p:spPr>
          <a:xfrm>
            <a:off x="1078992" y="2240280"/>
            <a:ext cx="26974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Filter</a:t>
            </a:r>
            <a:endParaRPr lang="en-US" sz="2200" dirty="0"/>
          </a:p>
        </p:txBody>
      </p:sp>
      <p:sp>
        <p:nvSpPr>
          <p:cNvPr id="7" name="Text 4"/>
          <p:cNvSpPr txBox="1"/>
          <p:nvPr/>
        </p:nvSpPr>
        <p:spPr>
          <a:xfrm>
            <a:off x="1078992" y="2788920"/>
            <a:ext cx="2642616" cy="1554480"/>
          </a:xfrm>
          <a:prstGeom prst="rect">
            <a:avLst/>
          </a:prstGeom>
          <a:noFill/>
          <a:ln/>
        </p:spPr>
        <p:txBody>
          <a:bodyPr wrap="square" lIns="0" tIns="0" rIns="0" bIns="0" rtlCol="0" anchor="t"/>
          <a:lstStyle/>
          <a:p>
            <a:pPr indent="0" marL="0">
              <a:buNone/>
            </a:pPr>
            <a:r>
              <a:rPr lang="en-US" sz="1500" dirty="0">
                <a:solidFill>
                  <a:schemeClr val="tx2"/>
                </a:solidFill>
              </a:rPr>
              <a:t>Keep only pairs (i, j) where both cities are ends of their route and the routes are different. Anything else would create a branch or a cycle.</a:t>
            </a:r>
            <a:endParaRPr lang="en-US" sz="1500" dirty="0"/>
          </a:p>
        </p:txBody>
      </p:sp>
      <p:sp>
        <p:nvSpPr>
          <p:cNvPr id="8" name="Shape 5"/>
          <p:cNvSpPr/>
          <p:nvPr/>
        </p:nvSpPr>
        <p:spPr>
          <a:xfrm>
            <a:off x="4517136" y="1691640"/>
            <a:ext cx="3154680" cy="2788920"/>
          </a:xfrm>
          <a:prstGeom prst="roundRect">
            <a:avLst>
              <a:gd name="adj" fmla="val 3934"/>
            </a:avLst>
          </a:prstGeom>
          <a:solidFill>
            <a:schemeClr val="bg1"/>
          </a:solidFill>
          <a:ln w="31750">
            <a:solidFill>
              <a:schemeClr val="accent2"/>
            </a:solidFill>
            <a:prstDash val="solid"/>
          </a:ln>
        </p:spPr>
      </p:sp>
      <p:sp>
        <p:nvSpPr>
          <p:cNvPr id="9" name="Text 6"/>
          <p:cNvSpPr txBox="1"/>
          <p:nvPr/>
        </p:nvSpPr>
        <p:spPr>
          <a:xfrm>
            <a:off x="4773168" y="1920240"/>
            <a:ext cx="269748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STEP 2 · WHERE METHODS DIFFER</a:t>
            </a:r>
            <a:endParaRPr lang="en-US" sz="1100" dirty="0"/>
          </a:p>
        </p:txBody>
      </p:sp>
      <p:sp>
        <p:nvSpPr>
          <p:cNvPr id="10" name="Text 7"/>
          <p:cNvSpPr txBox="1"/>
          <p:nvPr/>
        </p:nvSpPr>
        <p:spPr>
          <a:xfrm>
            <a:off x="4773168" y="2240280"/>
            <a:ext cx="26974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Choose</a:t>
            </a:r>
            <a:endParaRPr lang="en-US" sz="2200" dirty="0"/>
          </a:p>
        </p:txBody>
      </p:sp>
      <p:sp>
        <p:nvSpPr>
          <p:cNvPr id="11" name="Text 8"/>
          <p:cNvSpPr txBox="1"/>
          <p:nvPr/>
        </p:nvSpPr>
        <p:spPr>
          <a:xfrm>
            <a:off x="4773168" y="2788920"/>
            <a:ext cx="2642616" cy="1554480"/>
          </a:xfrm>
          <a:prstGeom prst="rect">
            <a:avLst/>
          </a:prstGeom>
          <a:noFill/>
          <a:ln/>
        </p:spPr>
        <p:txBody>
          <a:bodyPr wrap="square" lIns="0" tIns="0" rIns="0" bIns="0" rtlCol="0" anchor="t"/>
          <a:lstStyle/>
          <a:p>
            <a:pPr indent="0" marL="0">
              <a:buNone/>
            </a:pPr>
            <a:r>
              <a:rPr lang="en-US" sz="1500" dirty="0">
                <a:solidFill>
                  <a:schemeClr val="tx2"/>
                </a:solidFill>
              </a:rPr>
              <a:t>Pick one pair from the ranked list. The classic GRASP uses an RCL; biased randomization uses a probability that decays with the rank.</a:t>
            </a:r>
            <a:endParaRPr lang="en-US" sz="1500" dirty="0"/>
          </a:p>
        </p:txBody>
      </p:sp>
      <p:sp>
        <p:nvSpPr>
          <p:cNvPr id="12" name="Shape 9"/>
          <p:cNvSpPr/>
          <p:nvPr/>
        </p:nvSpPr>
        <p:spPr>
          <a:xfrm>
            <a:off x="8211312" y="1691640"/>
            <a:ext cx="3154680" cy="2788920"/>
          </a:xfrm>
          <a:prstGeom prst="roundRect">
            <a:avLst>
              <a:gd name="adj" fmla="val 3934"/>
            </a:avLst>
          </a:prstGeom>
          <a:solidFill>
            <a:srgbClr val="E4F1EE"/>
          </a:solidFill>
          <a:ln w="12700">
            <a:solidFill>
              <a:srgbClr val="9FD0C8"/>
            </a:solidFill>
            <a:prstDash val="solid"/>
          </a:ln>
        </p:spPr>
      </p:sp>
      <p:sp>
        <p:nvSpPr>
          <p:cNvPr id="13" name="Text 10"/>
          <p:cNvSpPr txBox="1"/>
          <p:nvPr/>
        </p:nvSpPr>
        <p:spPr>
          <a:xfrm>
            <a:off x="8467344" y="1920240"/>
            <a:ext cx="269748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STEP 3</a:t>
            </a:r>
            <a:endParaRPr lang="en-US" sz="1100" dirty="0"/>
          </a:p>
        </p:txBody>
      </p:sp>
      <p:sp>
        <p:nvSpPr>
          <p:cNvPr id="14" name="Text 11"/>
          <p:cNvSpPr txBox="1"/>
          <p:nvPr/>
        </p:nvSpPr>
        <p:spPr>
          <a:xfrm>
            <a:off x="8467344" y="2240280"/>
            <a:ext cx="26974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Merge</a:t>
            </a:r>
            <a:endParaRPr lang="en-US" sz="2200" dirty="0"/>
          </a:p>
        </p:txBody>
      </p:sp>
      <p:sp>
        <p:nvSpPr>
          <p:cNvPr id="15" name="Text 12"/>
          <p:cNvSpPr txBox="1"/>
          <p:nvPr/>
        </p:nvSpPr>
        <p:spPr>
          <a:xfrm>
            <a:off x="8467344" y="2788920"/>
            <a:ext cx="2642616" cy="1554480"/>
          </a:xfrm>
          <a:prstGeom prst="rect">
            <a:avLst/>
          </a:prstGeom>
          <a:noFill/>
          <a:ln/>
        </p:spPr>
        <p:txBody>
          <a:bodyPr wrap="square" lIns="0" tIns="0" rIns="0" bIns="0" rtlCol="0" anchor="t"/>
          <a:lstStyle/>
          <a:p>
            <a:pPr indent="0" marL="0">
              <a:buNone/>
            </a:pPr>
            <a:r>
              <a:rPr lang="en-US" sz="1500" dirty="0">
                <a:solidFill>
                  <a:schemeClr val="tx2"/>
                </a:solidFill>
              </a:rPr>
              <a:t>Join the two routes with the chosen pair and go back to step 1. After n − 2 merges one path is left, closed through the hub.</a:t>
            </a:r>
            <a:endParaRPr lang="en-US" sz="1500" dirty="0"/>
          </a:p>
        </p:txBody>
      </p:sp>
      <p:sp>
        <p:nvSpPr>
          <p:cNvPr id="16" name="Shape 13"/>
          <p:cNvSpPr/>
          <p:nvPr/>
        </p:nvSpPr>
        <p:spPr>
          <a:xfrm>
            <a:off x="4023360" y="2926080"/>
            <a:ext cx="420624" cy="274320"/>
          </a:xfrm>
          <a:prstGeom prst="rightArrow">
            <a:avLst/>
          </a:prstGeom>
          <a:solidFill>
            <a:schemeClr val="accent6"/>
          </a:solidFill>
          <a:ln w="6350">
            <a:solidFill>
              <a:schemeClr val="accent6"/>
            </a:solidFill>
            <a:prstDash val="solid"/>
          </a:ln>
        </p:spPr>
      </p:sp>
      <p:sp>
        <p:nvSpPr>
          <p:cNvPr id="17" name="Shape 14"/>
          <p:cNvSpPr/>
          <p:nvPr/>
        </p:nvSpPr>
        <p:spPr>
          <a:xfrm>
            <a:off x="7717536" y="2926080"/>
            <a:ext cx="420624" cy="274320"/>
          </a:xfrm>
          <a:prstGeom prst="rightArrow">
            <a:avLst/>
          </a:prstGeom>
          <a:solidFill>
            <a:schemeClr val="accent6"/>
          </a:solidFill>
          <a:ln w="6350">
            <a:solidFill>
              <a:schemeClr val="accent6"/>
            </a:solidFill>
            <a:prstDash val="solid"/>
          </a:ln>
        </p:spPr>
      </p:sp>
      <p:sp>
        <p:nvSpPr>
          <p:cNvPr id="18" name="Shape 15"/>
          <p:cNvSpPr/>
          <p:nvPr/>
        </p:nvSpPr>
        <p:spPr>
          <a:xfrm>
            <a:off x="822960" y="4754880"/>
            <a:ext cx="10543032" cy="1097280"/>
          </a:xfrm>
          <a:prstGeom prst="roundRect">
            <a:avLst>
              <a:gd name="adj" fmla="val 10000"/>
            </a:avLst>
          </a:prstGeom>
          <a:solidFill>
            <a:schemeClr val="bg1"/>
          </a:solidFill>
          <a:ln w="12700">
            <a:solidFill>
              <a:srgbClr val="E6E3DA"/>
            </a:solidFill>
            <a:prstDash val="solid"/>
          </a:ln>
        </p:spPr>
      </p:sp>
      <p:sp>
        <p:nvSpPr>
          <p:cNvPr id="19" name="Text 16"/>
          <p:cNvSpPr txBox="1"/>
          <p:nvPr/>
        </p:nvSpPr>
        <p:spPr>
          <a:xfrm>
            <a:off x="1097280" y="4919472"/>
            <a:ext cx="548640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WORKED EXAMPLE · 4 CITIES</a:t>
            </a:r>
            <a:endParaRPr lang="en-US" sz="1100" dirty="0"/>
          </a:p>
        </p:txBody>
      </p:sp>
      <p:sp>
        <p:nvSpPr>
          <p:cNvPr id="20" name="Text 17"/>
          <p:cNvSpPr txBox="1"/>
          <p:nvPr/>
        </p:nvSpPr>
        <p:spPr>
          <a:xfrm>
            <a:off x="1097280" y="5257800"/>
            <a:ext cx="9966960" cy="457200"/>
          </a:xfrm>
          <a:prstGeom prst="rect">
            <a:avLst/>
          </a:prstGeom>
          <a:noFill/>
          <a:ln/>
        </p:spPr>
        <p:txBody>
          <a:bodyPr wrap="square" lIns="0" tIns="0" rIns="0" bIns="0" rtlCol="0" anchor="t"/>
          <a:lstStyle/>
          <a:p>
            <a:pPr indent="0" marL="0">
              <a:buNone/>
            </a:pPr>
            <a:r>
              <a:rPr lang="en-US" sz="1700" dirty="0">
                <a:solidFill>
                  <a:schemeClr val="tx1"/>
                </a:solidFill>
              </a:rPr>
              <a:t>Join A–B, then B–C, then C–D. The path A–B–C–D, closed through the hub, is the tour.</a:t>
            </a:r>
            <a:endParaRPr lang="en-US" sz="1700" dirty="0"/>
          </a:p>
        </p:txBody>
      </p:sp>
      <p:sp>
        <p:nvSpPr>
          <p:cNvPr id="21"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The candidate list shrinks after every merge: this is the adaptive part of GRASP.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Two ways to pick the next pair</a:t>
            </a:r>
            <a:endParaRPr lang="en-US" sz="3200" dirty="0"/>
          </a:p>
        </p:txBody>
      </p:sp>
      <p:sp>
        <p:nvSpPr>
          <p:cNvPr id="4" name="Shape 1"/>
          <p:cNvSpPr/>
          <p:nvPr/>
        </p:nvSpPr>
        <p:spPr>
          <a:xfrm>
            <a:off x="822960" y="1600200"/>
            <a:ext cx="5166360" cy="3749040"/>
          </a:xfrm>
          <a:prstGeom prst="roundRect">
            <a:avLst>
              <a:gd name="adj" fmla="val 2927"/>
            </a:avLst>
          </a:prstGeom>
          <a:solidFill>
            <a:schemeClr val="bg1"/>
          </a:solidFill>
          <a:ln w="12700">
            <a:solidFill>
              <a:srgbClr val="E6E3DA"/>
            </a:solidFill>
            <a:prstDash val="solid"/>
          </a:ln>
        </p:spPr>
      </p:sp>
      <p:sp>
        <p:nvSpPr>
          <p:cNvPr id="5" name="Text 2"/>
          <p:cNvSpPr txBox="1"/>
          <p:nvPr/>
        </p:nvSpPr>
        <p:spPr>
          <a:xfrm>
            <a:off x="1097280" y="1783080"/>
            <a:ext cx="461772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Classic GRASP: the RCL</a:t>
            </a:r>
            <a:endParaRPr lang="en-US" sz="2000" dirty="0"/>
          </a:p>
        </p:txBody>
      </p:sp>
      <p:sp>
        <p:nvSpPr>
          <p:cNvPr id="6" name="Text 3"/>
          <p:cNvSpPr txBox="1"/>
          <p:nvPr/>
        </p:nvSpPr>
        <p:spPr>
          <a:xfrm>
            <a:off x="1097280" y="2240280"/>
            <a:ext cx="4617720" cy="822960"/>
          </a:xfrm>
          <a:prstGeom prst="rect">
            <a:avLst/>
          </a:prstGeom>
          <a:noFill/>
          <a:ln/>
        </p:spPr>
        <p:txBody>
          <a:bodyPr wrap="square" lIns="0" tIns="0" rIns="0" bIns="0" rtlCol="0" anchor="t"/>
          <a:lstStyle/>
          <a:p>
            <a:pPr indent="0" marL="0">
              <a:buNone/>
            </a:pPr>
            <a:r>
              <a:rPr lang="en-US" sz="1500" dirty="0">
                <a:solidFill>
                  <a:schemeClr val="tx2"/>
                </a:solidFill>
              </a:rPr>
              <a:t>Keep the pairs whose saving is within a fraction α of the best one. Pick one of them with equal probability.</a:t>
            </a:r>
            <a:endParaRPr lang="en-US" sz="1500" dirty="0"/>
          </a:p>
        </p:txBody>
      </p:sp>
      <p:graphicFrame>
        <p:nvGraphicFramePr>
          <p:cNvPr id="7" name="Chart 0" descr=""/>
          <p:cNvGraphicFramePr/>
          <p:nvPr/>
        </p:nvGraphicFramePr>
        <p:xfrm>
          <a:off x="1005840" y="3108960"/>
          <a:ext cx="4800600" cy="18288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1097280" y="4983480"/>
            <a:ext cx="4617720" cy="274320"/>
          </a:xfrm>
          <a:prstGeom prst="rect">
            <a:avLst/>
          </a:prstGeom>
          <a:noFill/>
          <a:ln/>
        </p:spPr>
        <p:txBody>
          <a:bodyPr wrap="square" lIns="0" tIns="0" rIns="0" bIns="0" rtlCol="0" anchor="t"/>
          <a:lstStyle/>
          <a:p>
            <a:pPr indent="0" marL="0">
              <a:buNone/>
            </a:pPr>
            <a:r>
              <a:rPr lang="en-US" sz="1200" dirty="0">
                <a:solidFill>
                  <a:schemeClr val="accent5"/>
                </a:solidFill>
              </a:rPr>
              <a:t>Rank in the list, best saving on the left. Uniform inside, zero outside.</a:t>
            </a:r>
            <a:endParaRPr lang="en-US" sz="1200" dirty="0"/>
          </a:p>
        </p:txBody>
      </p:sp>
      <p:sp>
        <p:nvSpPr>
          <p:cNvPr id="9" name="Shape 5"/>
          <p:cNvSpPr/>
          <p:nvPr/>
        </p:nvSpPr>
        <p:spPr>
          <a:xfrm>
            <a:off x="6199632" y="1600200"/>
            <a:ext cx="5166360" cy="3749040"/>
          </a:xfrm>
          <a:prstGeom prst="roundRect">
            <a:avLst>
              <a:gd name="adj" fmla="val 2927"/>
            </a:avLst>
          </a:prstGeom>
          <a:solidFill>
            <a:srgbClr val="E4F1EE"/>
          </a:solidFill>
          <a:ln w="12700">
            <a:solidFill>
              <a:srgbClr val="9FD0C8"/>
            </a:solidFill>
            <a:prstDash val="solid"/>
          </a:ln>
        </p:spPr>
      </p:sp>
      <p:sp>
        <p:nvSpPr>
          <p:cNvPr id="10" name="Text 6"/>
          <p:cNvSpPr txBox="1"/>
          <p:nvPr/>
        </p:nvSpPr>
        <p:spPr>
          <a:xfrm>
            <a:off x="6473952" y="1783080"/>
            <a:ext cx="461772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Biased randomization</a:t>
            </a:r>
            <a:endParaRPr lang="en-US" sz="2000" dirty="0"/>
          </a:p>
        </p:txBody>
      </p:sp>
      <p:sp>
        <p:nvSpPr>
          <p:cNvPr id="11" name="Text 7"/>
          <p:cNvSpPr txBox="1"/>
          <p:nvPr/>
        </p:nvSpPr>
        <p:spPr>
          <a:xfrm>
            <a:off x="6473952" y="2240280"/>
            <a:ext cx="4617720" cy="822960"/>
          </a:xfrm>
          <a:prstGeom prst="rect">
            <a:avLst/>
          </a:prstGeom>
          <a:noFill/>
          <a:ln/>
        </p:spPr>
        <p:txBody>
          <a:bodyPr wrap="square" lIns="0" tIns="0" rIns="0" bIns="0" rtlCol="0" anchor="t"/>
          <a:lstStyle/>
          <a:p>
            <a:pPr indent="0" marL="0">
              <a:buNone/>
            </a:pPr>
            <a:r>
              <a:rPr lang="en-US" sz="1500" dirty="0">
                <a:solidFill>
                  <a:schemeClr val="tx2"/>
                </a:solidFill>
              </a:rPr>
              <a:t>Rank every feasible pair by saving. Rank k is picked with a probability that decays as k grows. No cut-off: every pair keeps a chance.</a:t>
            </a:r>
            <a:endParaRPr lang="en-US" sz="1500" dirty="0"/>
          </a:p>
        </p:txBody>
      </p:sp>
      <p:graphicFrame>
        <p:nvGraphicFramePr>
          <p:cNvPr id="12" name="Chart 1" descr=""/>
          <p:cNvGraphicFramePr/>
          <p:nvPr/>
        </p:nvGraphicFramePr>
        <p:xfrm>
          <a:off x="6382512" y="3108960"/>
          <a:ext cx="4800600" cy="18288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6473952" y="4983480"/>
            <a:ext cx="4617720" cy="274320"/>
          </a:xfrm>
          <a:prstGeom prst="rect">
            <a:avLst/>
          </a:prstGeom>
          <a:noFill/>
          <a:ln/>
        </p:spPr>
        <p:txBody>
          <a:bodyPr wrap="square" lIns="0" tIns="0" rIns="0" bIns="0" rtlCol="0" anchor="t"/>
          <a:lstStyle/>
          <a:p>
            <a:pPr indent="0" marL="0">
              <a:buNone/>
            </a:pPr>
            <a:r>
              <a:rPr lang="en-US" sz="1200" dirty="0">
                <a:solidFill>
                  <a:schemeClr val="accent5"/>
                </a:solidFill>
              </a:rPr>
              <a:t>Rank in the list, best saving on the left. Smooth decay, long tail.</a:t>
            </a:r>
            <a:endParaRPr lang="en-US" sz="1200" dirty="0"/>
          </a:p>
        </p:txBody>
      </p:sp>
      <p:sp>
        <p:nvSpPr>
          <p:cNvPr id="14" name="Takeaway"/>
          <p:cNvSpPr txBox="1"/>
          <p:nvPr/>
        </p:nvSpPr>
        <p:spPr>
          <a:xfrm>
            <a:off x="822960" y="5577840"/>
            <a:ext cx="10543032" cy="457200"/>
          </a:xfrm>
          <a:prstGeom prst="rect">
            <a:avLst/>
          </a:prstGeom>
          <a:noFill/>
          <a:ln/>
        </p:spPr>
        <p:txBody>
          <a:bodyPr wrap="square" lIns="0" tIns="0" rIns="0" bIns="0" rtlCol="0" anchor="t"/>
          <a:lstStyle/>
          <a:p>
            <a:pPr indent="0" marL="0">
              <a:buNone/>
            </a:pPr>
            <a:r>
              <a:rPr lang="en-US" sz="2200" b="1" dirty="0">
                <a:solidFill>
                  <a:schemeClr val="accent3"/>
                </a:solidFill>
              </a:rPr>
              <a:t>Same ranked list, same local search: only the probability rule changes.</a:t>
            </a:r>
            <a:endParaRPr lang="en-US" sz="2200" dirty="0"/>
          </a:p>
        </p:txBody>
      </p:sp>
      <p:sp>
        <p:nvSpPr>
          <p:cNvPr id="15"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Illustrative shapes: an RCL with 4 pairs and a geometric rule with β = 0.4, drawn on the same probability scale.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Four ways to bias the choice</a:t>
            </a:r>
            <a:endParaRPr lang="en-US" sz="3200" dirty="0"/>
          </a:p>
        </p:txBody>
      </p:sp>
      <p:graphicFrame>
        <p:nvGraphicFramePr>
          <p:cNvPr id="8" name="Rules table"/>
          <p:cNvGraphicFramePr>
            <a:graphicFrameLocks noGrp="1"/>
          </p:cNvGraphicFramePr>
          <p:nvPr>
            <p:extLst>
              <p:ext uri="{D42A27DB-BD31-4B8C-83A1-F6EECF244321}">
                <p14:modId xmlns:p14="http://schemas.microsoft.com/office/powerpoint/2010/main" val="1579011935"/>
              </p:ext>
            </p:extLst>
          </p:nvPr>
        </p:nvGraphicFramePr>
        <p:xfrm>
          <a:off x="822960" y="1691640"/>
          <a:ext cx="10543032" cy="914400"/>
        </p:xfrm>
        <a:graphic>
          <a:graphicData uri="http://schemas.openxmlformats.org/drawingml/2006/table">
            <a:tbl>
              <a:tblPr/>
              <a:tblGrid>
                <a:gridCol w="1920240"/>
                <a:gridCol w="4754880"/>
                <a:gridCol w="1463040"/>
                <a:gridCol w="2404872"/>
              </a:tblGrid>
              <a:tr h="411480">
                <a:tc>
                  <a:txBody>
                    <a:bodyPr/>
                    <a:lstStyle/>
                    <a:p>
                      <a:pPr indent="0" marL="0">
                        <a:buNone/>
                      </a:pPr>
                      <a:r>
                        <a:rPr lang="en-US" sz="1200" b="1" dirty="0">
                          <a:solidFill>
                            <a:schemeClr val="accent5"/>
                          </a:solidFill>
                          <a:latin typeface="+mn-lt" pitchFamily="34" charset="0"/>
                          <a:ea typeface="+mn-lt" pitchFamily="34" charset="-122"/>
                          <a:cs typeface="+mn-lt" pitchFamily="34" charset="-120"/>
                        </a:rPr>
                        <a:t>RULE</a:t>
                      </a:r>
                      <a:endParaRPr lang="en-US" sz="12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200" b="1" dirty="0">
                          <a:solidFill>
                            <a:schemeClr val="accent5"/>
                          </a:solidFill>
                          <a:latin typeface="+mn-lt" pitchFamily="34" charset="0"/>
                          <a:ea typeface="+mn-lt" pitchFamily="34" charset="-122"/>
                          <a:cs typeface="+mn-lt" pitchFamily="34" charset="-120"/>
                        </a:rPr>
                        <a:t>PROBABILITY OF PICKING RANK k</a:t>
                      </a:r>
                      <a:endParaRPr lang="en-US" sz="12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200" b="1" dirty="0">
                          <a:solidFill>
                            <a:schemeClr val="accent5"/>
                          </a:solidFill>
                          <a:latin typeface="+mn-lt" pitchFamily="34" charset="0"/>
                          <a:ea typeface="+mn-lt" pitchFamily="34" charset="-122"/>
                          <a:cs typeface="+mn-lt" pitchFamily="34" charset="-120"/>
                        </a:rPr>
                        <a:t>PARAMETER</a:t>
                      </a:r>
                      <a:endParaRPr lang="en-US" sz="12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200" b="1" dirty="0">
                          <a:solidFill>
                            <a:schemeClr val="accent5"/>
                          </a:solidFill>
                          <a:latin typeface="+mn-lt" pitchFamily="34" charset="0"/>
                          <a:ea typeface="+mn-lt" pitchFamily="34" charset="-122"/>
                          <a:cs typeface="+mn-lt" pitchFamily="34" charset="-120"/>
                        </a:rPr>
                        <a:t>LOOKS AT</a:t>
                      </a:r>
                      <a:endParaRPr lang="en-US" sz="12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640080">
                <a:tc>
                  <a:txBody>
                    <a:bodyPr/>
                    <a:lstStyle/>
                    <a:p>
                      <a:pPr indent="0" marL="0">
                        <a:buNone/>
                      </a:pPr>
                      <a:r>
                        <a:rPr lang="en-US" sz="1700" b="1" dirty="0">
                          <a:solidFill>
                            <a:schemeClr val="accent3"/>
                          </a:solidFill>
                          <a:latin typeface="+mn-lt" pitchFamily="34" charset="0"/>
                          <a:ea typeface="+mn-lt" pitchFamily="34" charset="-122"/>
                          <a:cs typeface="+mn-lt" pitchFamily="34" charset="-120"/>
                        </a:rPr>
                        <a:t>Geometric</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 β (1 − β)^k</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β</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the rank</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640080">
                <a:tc>
                  <a:txBody>
                    <a:bodyPr/>
                    <a:lstStyle/>
                    <a:p>
                      <a:pPr indent="0" marL="0">
                        <a:buNone/>
                      </a:pPr>
                      <a:r>
                        <a:rPr lang="en-US" sz="1700" b="1" dirty="0">
                          <a:solidFill>
                            <a:schemeClr val="accent3"/>
                          </a:solidFill>
                          <a:latin typeface="+mn-lt" pitchFamily="34" charset="0"/>
                          <a:ea typeface="+mn-lt" pitchFamily="34" charset="-122"/>
                          <a:cs typeface="+mn-lt" pitchFamily="34" charset="-120"/>
                        </a:rPr>
                        <a:t>Triangular</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linear decay over the top ⌈f · m⌉ ranks</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f</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the rank</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640080">
                <a:tc>
                  <a:txBody>
                    <a:bodyPr/>
                    <a:lstStyle/>
                    <a:p>
                      <a:pPr indent="0" marL="0">
                        <a:buNone/>
                      </a:pPr>
                      <a:r>
                        <a:rPr lang="en-US" sz="1700" b="1" dirty="0">
                          <a:solidFill>
                            <a:schemeClr val="accent3"/>
                          </a:solidFill>
                          <a:latin typeface="+mn-lt" pitchFamily="34" charset="0"/>
                          <a:ea typeface="+mn-lt" pitchFamily="34" charset="-122"/>
                          <a:cs typeface="+mn-lt" pitchFamily="34" charset="-120"/>
                        </a:rPr>
                        <a:t>Zipf</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 1 / (k + 1)^e</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e</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the rank</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640080">
                <a:tc>
                  <a:txBody>
                    <a:bodyPr/>
                    <a:lstStyle/>
                    <a:p>
                      <a:pPr indent="0" marL="0">
                        <a:buNone/>
                      </a:pPr>
                      <a:r>
                        <a:rPr lang="en-US" sz="1700" b="1" dirty="0">
                          <a:solidFill>
                            <a:schemeClr val="accent4"/>
                          </a:solidFill>
                          <a:latin typeface="+mn-lt" pitchFamily="34" charset="0"/>
                          <a:ea typeface="+mn-lt" pitchFamily="34" charset="-122"/>
                          <a:cs typeface="+mn-lt" pitchFamily="34" charset="-120"/>
                        </a:rPr>
                        <a:t>Softmax</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 exp(z_k / T), z_k = normalised saving</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dirty="0">
                          <a:solidFill>
                            <a:schemeClr val="tx2"/>
                          </a:solidFill>
                          <a:latin typeface="+mn-lt" pitchFamily="34" charset="0"/>
                          <a:ea typeface="+mn-lt" pitchFamily="34" charset="-122"/>
                          <a:cs typeface="+mn-lt" pitchFamily="34" charset="-120"/>
                        </a:rPr>
                        <a:t>T</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indent="0" marL="0">
                        <a:buNone/>
                      </a:pPr>
                      <a:r>
                        <a:rPr lang="en-US" sz="1700" b="1" dirty="0">
                          <a:solidFill>
                            <a:schemeClr val="accent4"/>
                          </a:solidFill>
                          <a:latin typeface="+mn-lt" pitchFamily="34" charset="0"/>
                          <a:ea typeface="+mn-lt" pitchFamily="34" charset="-122"/>
                          <a:cs typeface="+mn-lt" pitchFamily="34" charset="-120"/>
                        </a:rPr>
                        <a:t>the saving value</a:t>
                      </a:r>
                      <a:endParaRPr lang="en-US" sz="1700" dirty="0">
                        <a:latin typeface="+mn-lt" charset="0"/>
                        <a:ea typeface="+mn-lt" charset="0"/>
                        <a:cs typeface="+mn-lt" charset="0"/>
                      </a:endParaRPr>
                    </a:p>
                  </a:txBody>
                  <a:tcPr marL="91440" marR="91440"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bl>
          </a:graphicData>
        </a:graphic>
      </p:graphicFrame>
      <p:sp>
        <p:nvSpPr>
          <p:cNvPr id="5" name="Takeaway"/>
          <p:cNvSpPr txBox="1"/>
          <p:nvPr/>
        </p:nvSpPr>
        <p:spPr>
          <a:xfrm>
            <a:off x="822960" y="5074920"/>
            <a:ext cx="10543032" cy="777240"/>
          </a:xfrm>
          <a:prstGeom prst="rect">
            <a:avLst/>
          </a:prstGeom>
          <a:noFill/>
          <a:ln/>
        </p:spPr>
        <p:txBody>
          <a:bodyPr wrap="square" lIns="0" tIns="0" rIns="0" bIns="0" rtlCol="0" anchor="t"/>
          <a:lstStyle/>
          <a:p>
            <a:pPr indent="0" marL="0">
              <a:buNone/>
            </a:pPr>
            <a:r>
              <a:rPr lang="en-US" sz="2200" b="1" dirty="0">
                <a:solidFill>
                  <a:schemeClr val="accent3"/>
                </a:solidFill>
              </a:rPr>
              <a:t>Three rules use only the rank. Softmax also sees how much better one saving is than another.</a:t>
            </a:r>
            <a:endParaRPr lang="en-US" sz="2200" dirty="0"/>
          </a:p>
        </p:txBody>
      </p:sp>
      <p:sp>
        <p:nvSpPr>
          <p:cNvPr id="6"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m = number of feasible pairs; k = rank, 0 for the best saving. Geometric is the usual choice in the biased-randomization literature.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A fair comparison: only the choice rule changes</a:t>
            </a:r>
            <a:endParaRPr lang="en-US" sz="3200" dirty="0"/>
          </a:p>
        </p:txBody>
      </p:sp>
      <p:sp>
        <p:nvSpPr>
          <p:cNvPr id="4" name="Shape 1"/>
          <p:cNvSpPr/>
          <p:nvPr/>
        </p:nvSpPr>
        <p:spPr>
          <a:xfrm>
            <a:off x="822960" y="1645920"/>
            <a:ext cx="3392424" cy="2560320"/>
          </a:xfrm>
          <a:prstGeom prst="roundRect">
            <a:avLst>
              <a:gd name="adj" fmla="val 4286"/>
            </a:avLst>
          </a:prstGeom>
          <a:solidFill>
            <a:schemeClr val="bg1"/>
          </a:solidFill>
          <a:ln w="12700">
            <a:solidFill>
              <a:srgbClr val="E6E3DA"/>
            </a:solidFill>
            <a:prstDash val="solid"/>
          </a:ln>
        </p:spPr>
      </p:sp>
      <p:sp>
        <p:nvSpPr>
          <p:cNvPr id="5" name="Text 2"/>
          <p:cNvSpPr txBox="1"/>
          <p:nvPr/>
        </p:nvSpPr>
        <p:spPr>
          <a:xfrm>
            <a:off x="1097280" y="1828800"/>
            <a:ext cx="28346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Held constant</a:t>
            </a:r>
            <a:endParaRPr lang="en-US" sz="1800" dirty="0"/>
          </a:p>
        </p:txBody>
      </p:sp>
      <p:sp>
        <p:nvSpPr>
          <p:cNvPr id="6" name="Text 3"/>
          <p:cNvSpPr txBox="1"/>
          <p:nvPr/>
        </p:nvSpPr>
        <p:spPr>
          <a:xfrm>
            <a:off x="1097280" y="233172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Clarke-Wright construction, same hub</a:t>
            </a:r>
            <a:endParaRPr lang="en-US" sz="1500" dirty="0"/>
          </a:p>
          <a:p>
            <a:pPr marL="342900" indent="-342900">
              <a:spcAft>
                <a:spcPts val="600"/>
              </a:spcAft>
              <a:buSzPct val="100000"/>
              <a:buChar char="•"/>
            </a:pPr>
            <a:r>
              <a:rPr lang="en-US" sz="1500" dirty="0">
                <a:solidFill>
                  <a:schemeClr val="tx2"/>
                </a:solidFill>
              </a:rPr>
              <a:t>2-opt local search, first improvement</a:t>
            </a:r>
            <a:endParaRPr lang="en-US" sz="1500" dirty="0"/>
          </a:p>
          <a:p>
            <a:pPr marL="342900" indent="-342900">
              <a:spcAft>
                <a:spcPts val="600"/>
              </a:spcAft>
              <a:buSzPct val="100000"/>
              <a:buChar char="•"/>
            </a:pPr>
            <a:r>
              <a:rPr lang="en-US" sz="1500" dirty="0">
                <a:solidFill>
                  <a:schemeClr val="tx2"/>
                </a:solidFill>
              </a:rPr>
              <a:t>150 iterations per run, same seeds</a:t>
            </a:r>
            <a:endParaRPr lang="en-US" sz="1500" dirty="0"/>
          </a:p>
        </p:txBody>
      </p:sp>
      <p:sp>
        <p:nvSpPr>
          <p:cNvPr id="7" name="Shape 4"/>
          <p:cNvSpPr/>
          <p:nvPr/>
        </p:nvSpPr>
        <p:spPr>
          <a:xfrm>
            <a:off x="4398264" y="1645920"/>
            <a:ext cx="3392424" cy="2560320"/>
          </a:xfrm>
          <a:prstGeom prst="roundRect">
            <a:avLst>
              <a:gd name="adj" fmla="val 4286"/>
            </a:avLst>
          </a:prstGeom>
          <a:solidFill>
            <a:schemeClr val="bg1"/>
          </a:solidFill>
          <a:ln w="12700">
            <a:solidFill>
              <a:srgbClr val="E6E3DA"/>
            </a:solidFill>
            <a:prstDash val="solid"/>
          </a:ln>
        </p:spPr>
      </p:sp>
      <p:sp>
        <p:nvSpPr>
          <p:cNvPr id="8" name="Text 5"/>
          <p:cNvSpPr txBox="1"/>
          <p:nvPr/>
        </p:nvSpPr>
        <p:spPr>
          <a:xfrm>
            <a:off x="4672584" y="1828800"/>
            <a:ext cx="28346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Tuned fairly</a:t>
            </a:r>
            <a:endParaRPr lang="en-US" sz="1800" dirty="0"/>
          </a:p>
        </p:txBody>
      </p:sp>
      <p:sp>
        <p:nvSpPr>
          <p:cNvPr id="9" name="Text 6"/>
          <p:cNvSpPr txBox="1"/>
          <p:nvPr/>
        </p:nvSpPr>
        <p:spPr>
          <a:xfrm>
            <a:off x="4672584" y="233172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Every rule gets a grid of 6 to 8 values</a:t>
            </a:r>
            <a:endParaRPr lang="en-US" sz="1500" dirty="0"/>
          </a:p>
          <a:p>
            <a:pPr marL="342900" indent="-342900">
              <a:spcAft>
                <a:spcPts val="600"/>
              </a:spcAft>
              <a:buSzPct val="100000"/>
              <a:buChar char="•"/>
            </a:pPr>
            <a:r>
              <a:rPr lang="en-US" sz="1500" dirty="0">
                <a:solidFill>
                  <a:schemeClr val="tx2"/>
                </a:solidFill>
              </a:rPr>
              <a:t>Tuned on kroB100, eil101 and ch150, never on the test set</a:t>
            </a:r>
            <a:endParaRPr lang="en-US" sz="1500" dirty="0"/>
          </a:p>
          <a:p>
            <a:pPr marL="342900" indent="-342900">
              <a:spcAft>
                <a:spcPts val="600"/>
              </a:spcAft>
              <a:buSzPct val="100000"/>
              <a:buChar char="•"/>
            </a:pPr>
            <a:r>
              <a:rPr lang="en-US" sz="1500" dirty="0">
                <a:solidFill>
                  <a:schemeClr val="tx2"/>
                </a:solidFill>
              </a:rPr>
              <a:t>Best value = lowest mean gap</a:t>
            </a:r>
            <a:endParaRPr lang="en-US" sz="1500" dirty="0"/>
          </a:p>
        </p:txBody>
      </p:sp>
      <p:sp>
        <p:nvSpPr>
          <p:cNvPr id="10" name="Shape 7"/>
          <p:cNvSpPr/>
          <p:nvPr/>
        </p:nvSpPr>
        <p:spPr>
          <a:xfrm>
            <a:off x="7973568" y="1645920"/>
            <a:ext cx="3392424" cy="2560320"/>
          </a:xfrm>
          <a:prstGeom prst="roundRect">
            <a:avLst>
              <a:gd name="adj" fmla="val 4286"/>
            </a:avLst>
          </a:prstGeom>
          <a:solidFill>
            <a:schemeClr val="bg1"/>
          </a:solidFill>
          <a:ln w="12700">
            <a:solidFill>
              <a:srgbClr val="E6E3DA"/>
            </a:solidFill>
            <a:prstDash val="solid"/>
          </a:ln>
        </p:spPr>
      </p:sp>
      <p:sp>
        <p:nvSpPr>
          <p:cNvPr id="11" name="Text 8"/>
          <p:cNvSpPr txBox="1"/>
          <p:nvPr/>
        </p:nvSpPr>
        <p:spPr>
          <a:xfrm>
            <a:off x="8247888" y="1828800"/>
            <a:ext cx="28346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Tested</a:t>
            </a:r>
            <a:endParaRPr lang="en-US" sz="1800" dirty="0"/>
          </a:p>
        </p:txBody>
      </p:sp>
      <p:sp>
        <p:nvSpPr>
          <p:cNvPr id="12" name="Text 9"/>
          <p:cNvSpPr txBox="1"/>
          <p:nvPr/>
        </p:nvSpPr>
        <p:spPr>
          <a:xfrm>
            <a:off x="8247888" y="233172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7 instances, 51 to 280 cities</a:t>
            </a:r>
            <a:endParaRPr lang="en-US" sz="1500" dirty="0"/>
          </a:p>
          <a:p>
            <a:pPr marL="342900" indent="-342900">
              <a:spcAft>
                <a:spcPts val="600"/>
              </a:spcAft>
              <a:buSzPct val="100000"/>
              <a:buChar char="•"/>
            </a:pPr>
            <a:r>
              <a:rPr lang="en-US" sz="1500" dirty="0">
                <a:solidFill>
                  <a:schemeClr val="tx2"/>
                </a:solidFill>
              </a:rPr>
              <a:t>20 runs per instance and rule</a:t>
            </a:r>
            <a:endParaRPr lang="en-US" sz="1500" dirty="0"/>
          </a:p>
          <a:p>
            <a:pPr marL="342900" indent="-342900">
              <a:spcAft>
                <a:spcPts val="600"/>
              </a:spcAft>
              <a:buSzPct val="100000"/>
              <a:buChar char="•"/>
            </a:pPr>
            <a:r>
              <a:rPr lang="en-US" sz="1500" dirty="0">
                <a:solidFill>
                  <a:schemeClr val="tx2"/>
                </a:solidFill>
              </a:rPr>
              <a:t>Wilcoxon rank-sum with Holm correction; Friedman across instances</a:t>
            </a:r>
            <a:endParaRPr lang="en-US" sz="1500" dirty="0"/>
          </a:p>
        </p:txBody>
      </p:sp>
      <p:sp>
        <p:nvSpPr>
          <p:cNvPr id="13" name="Text 10"/>
          <p:cNvSpPr txBox="1"/>
          <p:nvPr/>
        </p:nvSpPr>
        <p:spPr>
          <a:xfrm>
            <a:off x="822960" y="4480560"/>
            <a:ext cx="365760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TUNED PARAMETERS</a:t>
            </a:r>
            <a:endParaRPr lang="en-US" sz="1100" dirty="0"/>
          </a:p>
        </p:txBody>
      </p:sp>
      <p:sp>
        <p:nvSpPr>
          <p:cNvPr id="14" name="Pill RCL · α = 0.05"/>
          <p:cNvSpPr/>
          <p:nvPr/>
        </p:nvSpPr>
        <p:spPr>
          <a:xfrm>
            <a:off x="822960" y="4800600"/>
            <a:ext cx="1737360" cy="457200"/>
          </a:xfrm>
          <a:prstGeom prst="roundRect">
            <a:avLst>
              <a:gd name="adj" fmla="val 50000"/>
            </a:avLst>
          </a:prstGeom>
          <a:solidFill>
            <a:srgbClr val="D9DDE2"/>
          </a:solidFill>
          <a:ln w="6350">
            <a:solidFill>
              <a:srgbClr val="D9DDE2"/>
            </a:solidFill>
            <a:prstDash val="solid"/>
          </a:ln>
        </p:spPr>
      </p:sp>
      <p:sp>
        <p:nvSpPr>
          <p:cNvPr id="15" name="Text 12"/>
          <p:cNvSpPr txBox="1"/>
          <p:nvPr/>
        </p:nvSpPr>
        <p:spPr>
          <a:xfrm>
            <a:off x="822960" y="4800600"/>
            <a:ext cx="1737360" cy="457200"/>
          </a:xfrm>
          <a:prstGeom prst="rect">
            <a:avLst/>
          </a:prstGeom>
          <a:noFill/>
          <a:ln/>
        </p:spPr>
        <p:txBody>
          <a:bodyPr wrap="square" lIns="0" tIns="0" rIns="0" bIns="0" rtlCol="0" anchor="ctr"/>
          <a:lstStyle/>
          <a:p>
            <a:pPr algn="ctr" indent="0" marL="0">
              <a:buNone/>
            </a:pPr>
            <a:r>
              <a:rPr lang="en-US" sz="1400" b="1" dirty="0">
                <a:solidFill>
                  <a:schemeClr val="tx1"/>
                </a:solidFill>
              </a:rPr>
              <a:t>RCL · α = 0.05</a:t>
            </a:r>
            <a:endParaRPr lang="en-US" sz="1400" dirty="0"/>
          </a:p>
        </p:txBody>
      </p:sp>
      <p:sp>
        <p:nvSpPr>
          <p:cNvPr id="16" name="Pill Geometric · β = 0.4"/>
          <p:cNvSpPr/>
          <p:nvPr/>
        </p:nvSpPr>
        <p:spPr>
          <a:xfrm>
            <a:off x="2697480" y="4800600"/>
            <a:ext cx="2194560" cy="457200"/>
          </a:xfrm>
          <a:prstGeom prst="roundRect">
            <a:avLst>
              <a:gd name="adj" fmla="val 50000"/>
            </a:avLst>
          </a:prstGeom>
          <a:solidFill>
            <a:srgbClr val="C9E6E1"/>
          </a:solidFill>
          <a:ln w="6350">
            <a:solidFill>
              <a:srgbClr val="C9E6E1"/>
            </a:solidFill>
            <a:prstDash val="solid"/>
          </a:ln>
        </p:spPr>
      </p:sp>
      <p:sp>
        <p:nvSpPr>
          <p:cNvPr id="17" name="Text 14"/>
          <p:cNvSpPr txBox="1"/>
          <p:nvPr/>
        </p:nvSpPr>
        <p:spPr>
          <a:xfrm>
            <a:off x="2697480" y="4800600"/>
            <a:ext cx="2194560" cy="457200"/>
          </a:xfrm>
          <a:prstGeom prst="rect">
            <a:avLst/>
          </a:prstGeom>
          <a:noFill/>
          <a:ln/>
        </p:spPr>
        <p:txBody>
          <a:bodyPr wrap="square" lIns="0" tIns="0" rIns="0" bIns="0" rtlCol="0" anchor="ctr"/>
          <a:lstStyle/>
          <a:p>
            <a:pPr algn="ctr" indent="0" marL="0">
              <a:buNone/>
            </a:pPr>
            <a:r>
              <a:rPr lang="en-US" sz="1400" b="1" dirty="0">
                <a:solidFill>
                  <a:schemeClr val="tx1"/>
                </a:solidFill>
              </a:rPr>
              <a:t>Geometric · β = 0.4</a:t>
            </a:r>
            <a:endParaRPr lang="en-US" sz="1400" dirty="0"/>
          </a:p>
        </p:txBody>
      </p:sp>
      <p:sp>
        <p:nvSpPr>
          <p:cNvPr id="18" name="Pill Triangular · f = 0.002"/>
          <p:cNvSpPr/>
          <p:nvPr/>
        </p:nvSpPr>
        <p:spPr>
          <a:xfrm>
            <a:off x="5029200" y="4800600"/>
            <a:ext cx="2468880" cy="457200"/>
          </a:xfrm>
          <a:prstGeom prst="roundRect">
            <a:avLst>
              <a:gd name="adj" fmla="val 50000"/>
            </a:avLst>
          </a:prstGeom>
          <a:solidFill>
            <a:srgbClr val="C9E6E1"/>
          </a:solidFill>
          <a:ln w="6350">
            <a:solidFill>
              <a:srgbClr val="C9E6E1"/>
            </a:solidFill>
            <a:prstDash val="solid"/>
          </a:ln>
        </p:spPr>
      </p:sp>
      <p:sp>
        <p:nvSpPr>
          <p:cNvPr id="19" name="Text 16"/>
          <p:cNvSpPr txBox="1"/>
          <p:nvPr/>
        </p:nvSpPr>
        <p:spPr>
          <a:xfrm>
            <a:off x="5029200" y="4800600"/>
            <a:ext cx="2468880" cy="457200"/>
          </a:xfrm>
          <a:prstGeom prst="rect">
            <a:avLst/>
          </a:prstGeom>
          <a:noFill/>
          <a:ln/>
        </p:spPr>
        <p:txBody>
          <a:bodyPr wrap="square" lIns="0" tIns="0" rIns="0" bIns="0" rtlCol="0" anchor="ctr"/>
          <a:lstStyle/>
          <a:p>
            <a:pPr algn="ctr" indent="0" marL="0">
              <a:buNone/>
            </a:pPr>
            <a:r>
              <a:rPr lang="en-US" sz="1400" b="1" dirty="0">
                <a:solidFill>
                  <a:schemeClr val="tx1"/>
                </a:solidFill>
              </a:rPr>
              <a:t>Triangular · f = 0.002</a:t>
            </a:r>
            <a:endParaRPr lang="en-US" sz="1400" dirty="0"/>
          </a:p>
        </p:txBody>
      </p:sp>
      <p:sp>
        <p:nvSpPr>
          <p:cNvPr id="20" name="Pill Zipf · e = 3"/>
          <p:cNvSpPr/>
          <p:nvPr/>
        </p:nvSpPr>
        <p:spPr>
          <a:xfrm>
            <a:off x="7635240" y="4800600"/>
            <a:ext cx="1554480" cy="457200"/>
          </a:xfrm>
          <a:prstGeom prst="roundRect">
            <a:avLst>
              <a:gd name="adj" fmla="val 50000"/>
            </a:avLst>
          </a:prstGeom>
          <a:solidFill>
            <a:srgbClr val="C9E6E1"/>
          </a:solidFill>
          <a:ln w="6350">
            <a:solidFill>
              <a:srgbClr val="C9E6E1"/>
            </a:solidFill>
            <a:prstDash val="solid"/>
          </a:ln>
        </p:spPr>
      </p:sp>
      <p:sp>
        <p:nvSpPr>
          <p:cNvPr id="21" name="Text 18"/>
          <p:cNvSpPr txBox="1"/>
          <p:nvPr/>
        </p:nvSpPr>
        <p:spPr>
          <a:xfrm>
            <a:off x="7635240" y="4800600"/>
            <a:ext cx="1554480" cy="457200"/>
          </a:xfrm>
          <a:prstGeom prst="rect">
            <a:avLst/>
          </a:prstGeom>
          <a:noFill/>
          <a:ln/>
        </p:spPr>
        <p:txBody>
          <a:bodyPr wrap="square" lIns="0" tIns="0" rIns="0" bIns="0" rtlCol="0" anchor="ctr"/>
          <a:lstStyle/>
          <a:p>
            <a:pPr algn="ctr" indent="0" marL="0">
              <a:buNone/>
            </a:pPr>
            <a:r>
              <a:rPr lang="en-US" sz="1400" b="1" dirty="0">
                <a:solidFill>
                  <a:schemeClr val="tx1"/>
                </a:solidFill>
              </a:rPr>
              <a:t>Zipf · e = 3</a:t>
            </a:r>
            <a:endParaRPr lang="en-US" sz="1400" dirty="0"/>
          </a:p>
        </p:txBody>
      </p:sp>
      <p:sp>
        <p:nvSpPr>
          <p:cNvPr id="22" name="Pill Softmax · T = 0.02"/>
          <p:cNvSpPr/>
          <p:nvPr/>
        </p:nvSpPr>
        <p:spPr>
          <a:xfrm>
            <a:off x="9326880" y="4800600"/>
            <a:ext cx="2194560" cy="457200"/>
          </a:xfrm>
          <a:prstGeom prst="roundRect">
            <a:avLst>
              <a:gd name="adj" fmla="val 50000"/>
            </a:avLst>
          </a:prstGeom>
          <a:solidFill>
            <a:srgbClr val="C9E6E1"/>
          </a:solidFill>
          <a:ln w="6350">
            <a:solidFill>
              <a:srgbClr val="C9E6E1"/>
            </a:solidFill>
            <a:prstDash val="solid"/>
          </a:ln>
        </p:spPr>
      </p:sp>
      <p:sp>
        <p:nvSpPr>
          <p:cNvPr id="23" name="Text 20"/>
          <p:cNvSpPr txBox="1"/>
          <p:nvPr/>
        </p:nvSpPr>
        <p:spPr>
          <a:xfrm>
            <a:off x="9326880" y="4800600"/>
            <a:ext cx="2194560" cy="457200"/>
          </a:xfrm>
          <a:prstGeom prst="rect">
            <a:avLst/>
          </a:prstGeom>
          <a:noFill/>
          <a:ln/>
        </p:spPr>
        <p:txBody>
          <a:bodyPr wrap="square" lIns="0" tIns="0" rIns="0" bIns="0" rtlCol="0" anchor="ctr"/>
          <a:lstStyle/>
          <a:p>
            <a:pPr algn="ctr" indent="0" marL="0">
              <a:buNone/>
            </a:pPr>
            <a:r>
              <a:rPr lang="en-US" sz="1400" b="1" dirty="0">
                <a:solidFill>
                  <a:schemeClr val="tx1"/>
                </a:solidFill>
              </a:rPr>
              <a:t>Softmax · T = 0.02</a:t>
            </a:r>
            <a:endParaRPr lang="en-US" sz="1400" dirty="0"/>
          </a:p>
        </p:txBody>
      </p:sp>
      <p:sp>
        <p:nvSpPr>
          <p:cNvPr id="24" name="Takeaway"/>
          <p:cNvSpPr txBox="1"/>
          <p:nvPr/>
        </p:nvSpPr>
        <p:spPr>
          <a:xfrm>
            <a:off x="822960" y="5532120"/>
            <a:ext cx="10543032" cy="457200"/>
          </a:xfrm>
          <a:prstGeom prst="rect">
            <a:avLst/>
          </a:prstGeom>
          <a:noFill/>
          <a:ln/>
        </p:spPr>
        <p:txBody>
          <a:bodyPr wrap="square" lIns="0" tIns="0" rIns="0" bIns="0" rtlCol="0" anchor="t"/>
          <a:lstStyle/>
          <a:p>
            <a:pPr indent="0" marL="0">
              <a:buNone/>
            </a:pPr>
            <a:r>
              <a:rPr lang="en-US" sz="2200" b="1" dirty="0">
                <a:solidFill>
                  <a:schemeClr val="accent3"/>
                </a:solidFill>
              </a:rPr>
              <a:t>Any difference comes only from how the next pair is chosen.</a:t>
            </a:r>
            <a:endParaRPr lang="en-US" sz="2200" dirty="0"/>
          </a:p>
        </p:txBody>
      </p:sp>
      <p:sp>
        <p:nvSpPr>
          <p:cNvPr id="25"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Test instances: eil51, berlin52, st70, eil76, kroA100, ch130, a280.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Quality and time, by selection rule</a:t>
            </a:r>
            <a:endParaRPr lang="en-US" sz="3200" dirty="0"/>
          </a:p>
        </p:txBody>
      </p:sp>
      <p:sp>
        <p:nvSpPr>
          <p:cNvPr id="4" name="Shape 1"/>
          <p:cNvSpPr/>
          <p:nvPr/>
        </p:nvSpPr>
        <p:spPr>
          <a:xfrm>
            <a:off x="822960" y="1600200"/>
            <a:ext cx="6720840" cy="3749040"/>
          </a:xfrm>
          <a:prstGeom prst="roundRect">
            <a:avLst>
              <a:gd name="adj" fmla="val 2927"/>
            </a:avLst>
          </a:prstGeom>
          <a:solidFill>
            <a:schemeClr val="bg1"/>
          </a:solidFill>
          <a:ln w="12700">
            <a:solidFill>
              <a:srgbClr val="E6E3DA"/>
            </a:solidFill>
            <a:prstDash val="solid"/>
          </a:ln>
        </p:spPr>
      </p:sp>
      <p:sp>
        <p:nvSpPr>
          <p:cNvPr id="5" name="Text 2"/>
          <p:cNvSpPr txBox="1"/>
          <p:nvPr/>
        </p:nvSpPr>
        <p:spPr>
          <a:xfrm>
            <a:off x="1097280" y="1783080"/>
            <a:ext cx="621792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AVERAGE GAP TO THE OPTIMUM, % · LOWER IS BETTER</a:t>
            </a:r>
            <a:endParaRPr lang="en-US" sz="1100" dirty="0"/>
          </a:p>
        </p:txBody>
      </p:sp>
      <p:graphicFrame>
        <p:nvGraphicFramePr>
          <p:cNvPr id="6" name="Chart 0" descr=""/>
          <p:cNvGraphicFramePr/>
          <p:nvPr/>
        </p:nvGraphicFramePr>
        <p:xfrm>
          <a:off x="1005840" y="2103120"/>
          <a:ext cx="6355080" cy="31546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726680" y="1600200"/>
            <a:ext cx="3639312" cy="3749040"/>
          </a:xfrm>
          <a:prstGeom prst="roundRect">
            <a:avLst>
              <a:gd name="adj" fmla="val 3015"/>
            </a:avLst>
          </a:prstGeom>
          <a:solidFill>
            <a:schemeClr val="bg1"/>
          </a:solidFill>
          <a:ln w="12700">
            <a:solidFill>
              <a:srgbClr val="E6E3DA"/>
            </a:solidFill>
            <a:prstDash val="solid"/>
          </a:ln>
        </p:spPr>
      </p:sp>
      <p:sp>
        <p:nvSpPr>
          <p:cNvPr id="8" name="Text 4"/>
          <p:cNvSpPr txBox="1"/>
          <p:nvPr/>
        </p:nvSpPr>
        <p:spPr>
          <a:xfrm>
            <a:off x="8001000" y="1783080"/>
            <a:ext cx="310896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SECONDS PER RUN ON a280</a:t>
            </a:r>
            <a:endParaRPr lang="en-US" sz="1100" dirty="0"/>
          </a:p>
        </p:txBody>
      </p:sp>
      <p:sp>
        <p:nvSpPr>
          <p:cNvPr id="9" name="Shape 5"/>
          <p:cNvSpPr/>
          <p:nvPr/>
        </p:nvSpPr>
        <p:spPr>
          <a:xfrm>
            <a:off x="8001000" y="2377440"/>
            <a:ext cx="182880" cy="182880"/>
          </a:xfrm>
          <a:prstGeom prst="ellipse">
            <a:avLst/>
          </a:prstGeom>
          <a:solidFill>
            <a:srgbClr val="8E96A3"/>
          </a:solidFill>
          <a:ln w="6350">
            <a:solidFill>
              <a:srgbClr val="8E96A3"/>
            </a:solidFill>
            <a:prstDash val="solid"/>
          </a:ln>
        </p:spPr>
      </p:sp>
      <p:sp>
        <p:nvSpPr>
          <p:cNvPr id="10" name="Text 6"/>
          <p:cNvSpPr txBox="1"/>
          <p:nvPr/>
        </p:nvSpPr>
        <p:spPr>
          <a:xfrm>
            <a:off x="8321040" y="2194560"/>
            <a:ext cx="1645920" cy="548640"/>
          </a:xfrm>
          <a:prstGeom prst="rect">
            <a:avLst/>
          </a:prstGeom>
          <a:noFill/>
          <a:ln/>
        </p:spPr>
        <p:txBody>
          <a:bodyPr wrap="square" lIns="0" tIns="0" rIns="0" bIns="0" rtlCol="0" anchor="ctr"/>
          <a:lstStyle/>
          <a:p>
            <a:pPr indent="0" marL="0">
              <a:buNone/>
            </a:pPr>
            <a:r>
              <a:rPr lang="en-US" sz="1600" b="1" dirty="0">
                <a:solidFill>
                  <a:schemeClr val="tx1"/>
                </a:solidFill>
              </a:rPr>
              <a:t>Classic RCL</a:t>
            </a:r>
            <a:endParaRPr lang="en-US" sz="1600" dirty="0"/>
          </a:p>
        </p:txBody>
      </p:sp>
      <p:sp>
        <p:nvSpPr>
          <p:cNvPr id="11" name="Text 7"/>
          <p:cNvSpPr txBox="1"/>
          <p:nvPr/>
        </p:nvSpPr>
        <p:spPr>
          <a:xfrm>
            <a:off x="9966960" y="2194560"/>
            <a:ext cx="1097280" cy="548640"/>
          </a:xfrm>
          <a:prstGeom prst="rect">
            <a:avLst/>
          </a:prstGeom>
          <a:noFill/>
          <a:ln/>
        </p:spPr>
        <p:txBody>
          <a:bodyPr wrap="square" lIns="0" tIns="0" rIns="0" bIns="0" rtlCol="0" anchor="ctr"/>
          <a:lstStyle/>
          <a:p>
            <a:pPr algn="r" indent="0" marL="0">
              <a:buNone/>
            </a:pPr>
            <a:r>
              <a:rPr lang="en-US" sz="1600" b="1" dirty="0">
                <a:solidFill>
                  <a:schemeClr val="tx2"/>
                </a:solidFill>
              </a:rPr>
              <a:t>5.8 s</a:t>
            </a:r>
            <a:endParaRPr lang="en-US" sz="1600" dirty="0"/>
          </a:p>
        </p:txBody>
      </p:sp>
      <p:sp>
        <p:nvSpPr>
          <p:cNvPr id="12" name="Shape 8"/>
          <p:cNvSpPr/>
          <p:nvPr/>
        </p:nvSpPr>
        <p:spPr>
          <a:xfrm>
            <a:off x="8001000" y="2779776"/>
            <a:ext cx="3108960" cy="0"/>
          </a:xfrm>
          <a:prstGeom prst="line">
            <a:avLst/>
          </a:prstGeom>
          <a:noFill/>
          <a:ln w="12700">
            <a:solidFill>
              <a:srgbClr val="D9D6CC"/>
            </a:solidFill>
            <a:prstDash val="solid"/>
          </a:ln>
        </p:spPr>
      </p:sp>
      <p:sp>
        <p:nvSpPr>
          <p:cNvPr id="13" name="Shape 9"/>
          <p:cNvSpPr/>
          <p:nvPr/>
        </p:nvSpPr>
        <p:spPr>
          <a:xfrm>
            <a:off x="8001000" y="2999232"/>
            <a:ext cx="182880" cy="182880"/>
          </a:xfrm>
          <a:prstGeom prst="ellipse">
            <a:avLst/>
          </a:prstGeom>
          <a:solidFill>
            <a:srgbClr val="2A9D8F"/>
          </a:solidFill>
          <a:ln w="6350">
            <a:solidFill>
              <a:srgbClr val="2A9D8F"/>
            </a:solidFill>
            <a:prstDash val="solid"/>
          </a:ln>
        </p:spPr>
      </p:sp>
      <p:sp>
        <p:nvSpPr>
          <p:cNvPr id="14" name="Text 10"/>
          <p:cNvSpPr txBox="1"/>
          <p:nvPr/>
        </p:nvSpPr>
        <p:spPr>
          <a:xfrm>
            <a:off x="8321040" y="2816352"/>
            <a:ext cx="1645920" cy="548640"/>
          </a:xfrm>
          <a:prstGeom prst="rect">
            <a:avLst/>
          </a:prstGeom>
          <a:noFill/>
          <a:ln/>
        </p:spPr>
        <p:txBody>
          <a:bodyPr wrap="square" lIns="0" tIns="0" rIns="0" bIns="0" rtlCol="0" anchor="ctr"/>
          <a:lstStyle/>
          <a:p>
            <a:pPr indent="0" marL="0">
              <a:buNone/>
            </a:pPr>
            <a:r>
              <a:rPr lang="en-US" sz="1600" b="1" dirty="0">
                <a:solidFill>
                  <a:schemeClr val="tx1"/>
                </a:solidFill>
              </a:rPr>
              <a:t>Geometric</a:t>
            </a:r>
            <a:endParaRPr lang="en-US" sz="1600" dirty="0"/>
          </a:p>
        </p:txBody>
      </p:sp>
      <p:sp>
        <p:nvSpPr>
          <p:cNvPr id="15" name="Text 11"/>
          <p:cNvSpPr txBox="1"/>
          <p:nvPr/>
        </p:nvSpPr>
        <p:spPr>
          <a:xfrm>
            <a:off x="9966960" y="2816352"/>
            <a:ext cx="1097280" cy="548640"/>
          </a:xfrm>
          <a:prstGeom prst="rect">
            <a:avLst/>
          </a:prstGeom>
          <a:noFill/>
          <a:ln/>
        </p:spPr>
        <p:txBody>
          <a:bodyPr wrap="square" lIns="0" tIns="0" rIns="0" bIns="0" rtlCol="0" anchor="ctr"/>
          <a:lstStyle/>
          <a:p>
            <a:pPr algn="r" indent="0" marL="0">
              <a:buNone/>
            </a:pPr>
            <a:r>
              <a:rPr lang="en-US" sz="1600" b="1" dirty="0">
                <a:solidFill>
                  <a:schemeClr val="accent3"/>
                </a:solidFill>
              </a:rPr>
              <a:t>5.3 s</a:t>
            </a:r>
            <a:endParaRPr lang="en-US" sz="1600" dirty="0"/>
          </a:p>
        </p:txBody>
      </p:sp>
      <p:sp>
        <p:nvSpPr>
          <p:cNvPr id="16" name="Shape 12"/>
          <p:cNvSpPr/>
          <p:nvPr/>
        </p:nvSpPr>
        <p:spPr>
          <a:xfrm>
            <a:off x="8001000" y="3401568"/>
            <a:ext cx="3108960" cy="0"/>
          </a:xfrm>
          <a:prstGeom prst="line">
            <a:avLst/>
          </a:prstGeom>
          <a:noFill/>
          <a:ln w="12700">
            <a:solidFill>
              <a:srgbClr val="D9D6CC"/>
            </a:solidFill>
            <a:prstDash val="solid"/>
          </a:ln>
        </p:spPr>
      </p:sp>
      <p:sp>
        <p:nvSpPr>
          <p:cNvPr id="17" name="Shape 13"/>
          <p:cNvSpPr/>
          <p:nvPr/>
        </p:nvSpPr>
        <p:spPr>
          <a:xfrm>
            <a:off x="8001000" y="3621024"/>
            <a:ext cx="182880" cy="182880"/>
          </a:xfrm>
          <a:prstGeom prst="ellipse">
            <a:avLst/>
          </a:prstGeom>
          <a:solidFill>
            <a:srgbClr val="2A9D8F"/>
          </a:solidFill>
          <a:ln w="6350">
            <a:solidFill>
              <a:srgbClr val="2A9D8F"/>
            </a:solidFill>
            <a:prstDash val="solid"/>
          </a:ln>
        </p:spPr>
      </p:sp>
      <p:sp>
        <p:nvSpPr>
          <p:cNvPr id="18" name="Text 14"/>
          <p:cNvSpPr txBox="1"/>
          <p:nvPr/>
        </p:nvSpPr>
        <p:spPr>
          <a:xfrm>
            <a:off x="8321040" y="3438144"/>
            <a:ext cx="1645920" cy="548640"/>
          </a:xfrm>
          <a:prstGeom prst="rect">
            <a:avLst/>
          </a:prstGeom>
          <a:noFill/>
          <a:ln/>
        </p:spPr>
        <p:txBody>
          <a:bodyPr wrap="square" lIns="0" tIns="0" rIns="0" bIns="0" rtlCol="0" anchor="ctr"/>
          <a:lstStyle/>
          <a:p>
            <a:pPr indent="0" marL="0">
              <a:buNone/>
            </a:pPr>
            <a:r>
              <a:rPr lang="en-US" sz="1600" b="1" dirty="0">
                <a:solidFill>
                  <a:schemeClr val="tx1"/>
                </a:solidFill>
              </a:rPr>
              <a:t>Triangular</a:t>
            </a:r>
            <a:endParaRPr lang="en-US" sz="1600" dirty="0"/>
          </a:p>
        </p:txBody>
      </p:sp>
      <p:sp>
        <p:nvSpPr>
          <p:cNvPr id="19" name="Text 15"/>
          <p:cNvSpPr txBox="1"/>
          <p:nvPr/>
        </p:nvSpPr>
        <p:spPr>
          <a:xfrm>
            <a:off x="9966960" y="3438144"/>
            <a:ext cx="1097280" cy="548640"/>
          </a:xfrm>
          <a:prstGeom prst="rect">
            <a:avLst/>
          </a:prstGeom>
          <a:noFill/>
          <a:ln/>
        </p:spPr>
        <p:txBody>
          <a:bodyPr wrap="square" lIns="0" tIns="0" rIns="0" bIns="0" rtlCol="0" anchor="ctr"/>
          <a:lstStyle/>
          <a:p>
            <a:pPr algn="r" indent="0" marL="0">
              <a:buNone/>
            </a:pPr>
            <a:r>
              <a:rPr lang="en-US" sz="1600" b="1" dirty="0">
                <a:solidFill>
                  <a:schemeClr val="tx2"/>
                </a:solidFill>
              </a:rPr>
              <a:t>5.5 s</a:t>
            </a:r>
            <a:endParaRPr lang="en-US" sz="1600" dirty="0"/>
          </a:p>
        </p:txBody>
      </p:sp>
      <p:sp>
        <p:nvSpPr>
          <p:cNvPr id="20" name="Shape 16"/>
          <p:cNvSpPr/>
          <p:nvPr/>
        </p:nvSpPr>
        <p:spPr>
          <a:xfrm>
            <a:off x="8001000" y="4023360"/>
            <a:ext cx="3108960" cy="0"/>
          </a:xfrm>
          <a:prstGeom prst="line">
            <a:avLst/>
          </a:prstGeom>
          <a:noFill/>
          <a:ln w="12700">
            <a:solidFill>
              <a:srgbClr val="D9D6CC"/>
            </a:solidFill>
            <a:prstDash val="solid"/>
          </a:ln>
        </p:spPr>
      </p:sp>
      <p:sp>
        <p:nvSpPr>
          <p:cNvPr id="21" name="Shape 17"/>
          <p:cNvSpPr/>
          <p:nvPr/>
        </p:nvSpPr>
        <p:spPr>
          <a:xfrm>
            <a:off x="8001000" y="4242816"/>
            <a:ext cx="182880" cy="182880"/>
          </a:xfrm>
          <a:prstGeom prst="ellipse">
            <a:avLst/>
          </a:prstGeom>
          <a:solidFill>
            <a:srgbClr val="2A9D8F"/>
          </a:solidFill>
          <a:ln w="6350">
            <a:solidFill>
              <a:srgbClr val="2A9D8F"/>
            </a:solidFill>
            <a:prstDash val="solid"/>
          </a:ln>
        </p:spPr>
      </p:sp>
      <p:sp>
        <p:nvSpPr>
          <p:cNvPr id="22" name="Text 18"/>
          <p:cNvSpPr txBox="1"/>
          <p:nvPr/>
        </p:nvSpPr>
        <p:spPr>
          <a:xfrm>
            <a:off x="8321040" y="4059936"/>
            <a:ext cx="1645920" cy="548640"/>
          </a:xfrm>
          <a:prstGeom prst="rect">
            <a:avLst/>
          </a:prstGeom>
          <a:noFill/>
          <a:ln/>
        </p:spPr>
        <p:txBody>
          <a:bodyPr wrap="square" lIns="0" tIns="0" rIns="0" bIns="0" rtlCol="0" anchor="ctr"/>
          <a:lstStyle/>
          <a:p>
            <a:pPr indent="0" marL="0">
              <a:buNone/>
            </a:pPr>
            <a:r>
              <a:rPr lang="en-US" sz="1600" b="1" dirty="0">
                <a:solidFill>
                  <a:schemeClr val="tx1"/>
                </a:solidFill>
              </a:rPr>
              <a:t>Zipf</a:t>
            </a:r>
            <a:endParaRPr lang="en-US" sz="1600" dirty="0"/>
          </a:p>
        </p:txBody>
      </p:sp>
      <p:sp>
        <p:nvSpPr>
          <p:cNvPr id="23" name="Text 19"/>
          <p:cNvSpPr txBox="1"/>
          <p:nvPr/>
        </p:nvSpPr>
        <p:spPr>
          <a:xfrm>
            <a:off x="9966960" y="4059936"/>
            <a:ext cx="1097280" cy="548640"/>
          </a:xfrm>
          <a:prstGeom prst="rect">
            <a:avLst/>
          </a:prstGeom>
          <a:noFill/>
          <a:ln/>
        </p:spPr>
        <p:txBody>
          <a:bodyPr wrap="square" lIns="0" tIns="0" rIns="0" bIns="0" rtlCol="0" anchor="ctr"/>
          <a:lstStyle/>
          <a:p>
            <a:pPr algn="r" indent="0" marL="0">
              <a:buNone/>
            </a:pPr>
            <a:r>
              <a:rPr lang="en-US" sz="1600" b="1" dirty="0">
                <a:solidFill>
                  <a:schemeClr val="accent4"/>
                </a:solidFill>
              </a:rPr>
              <a:t>10.2 s</a:t>
            </a:r>
            <a:endParaRPr lang="en-US" sz="1600" dirty="0"/>
          </a:p>
        </p:txBody>
      </p:sp>
      <p:sp>
        <p:nvSpPr>
          <p:cNvPr id="24" name="Shape 20"/>
          <p:cNvSpPr/>
          <p:nvPr/>
        </p:nvSpPr>
        <p:spPr>
          <a:xfrm>
            <a:off x="8001000" y="4645152"/>
            <a:ext cx="3108960" cy="0"/>
          </a:xfrm>
          <a:prstGeom prst="line">
            <a:avLst/>
          </a:prstGeom>
          <a:noFill/>
          <a:ln w="12700">
            <a:solidFill>
              <a:srgbClr val="D9D6CC"/>
            </a:solidFill>
            <a:prstDash val="solid"/>
          </a:ln>
        </p:spPr>
      </p:sp>
      <p:sp>
        <p:nvSpPr>
          <p:cNvPr id="25" name="Shape 21"/>
          <p:cNvSpPr/>
          <p:nvPr/>
        </p:nvSpPr>
        <p:spPr>
          <a:xfrm>
            <a:off x="8001000" y="4864608"/>
            <a:ext cx="182880" cy="182880"/>
          </a:xfrm>
          <a:prstGeom prst="ellipse">
            <a:avLst/>
          </a:prstGeom>
          <a:solidFill>
            <a:srgbClr val="2A9D8F"/>
          </a:solidFill>
          <a:ln w="6350">
            <a:solidFill>
              <a:srgbClr val="2A9D8F"/>
            </a:solidFill>
            <a:prstDash val="solid"/>
          </a:ln>
        </p:spPr>
      </p:sp>
      <p:sp>
        <p:nvSpPr>
          <p:cNvPr id="26" name="Text 22"/>
          <p:cNvSpPr txBox="1"/>
          <p:nvPr/>
        </p:nvSpPr>
        <p:spPr>
          <a:xfrm>
            <a:off x="8321040" y="4681728"/>
            <a:ext cx="1645920" cy="548640"/>
          </a:xfrm>
          <a:prstGeom prst="rect">
            <a:avLst/>
          </a:prstGeom>
          <a:noFill/>
          <a:ln/>
        </p:spPr>
        <p:txBody>
          <a:bodyPr wrap="square" lIns="0" tIns="0" rIns="0" bIns="0" rtlCol="0" anchor="ctr"/>
          <a:lstStyle/>
          <a:p>
            <a:pPr indent="0" marL="0">
              <a:buNone/>
            </a:pPr>
            <a:r>
              <a:rPr lang="en-US" sz="1600" b="1" dirty="0">
                <a:solidFill>
                  <a:schemeClr val="tx1"/>
                </a:solidFill>
              </a:rPr>
              <a:t>Softmax</a:t>
            </a:r>
            <a:endParaRPr lang="en-US" sz="1600" dirty="0"/>
          </a:p>
        </p:txBody>
      </p:sp>
      <p:sp>
        <p:nvSpPr>
          <p:cNvPr id="27" name="Text 23"/>
          <p:cNvSpPr txBox="1"/>
          <p:nvPr/>
        </p:nvSpPr>
        <p:spPr>
          <a:xfrm>
            <a:off x="9966960" y="4681728"/>
            <a:ext cx="1097280" cy="548640"/>
          </a:xfrm>
          <a:prstGeom prst="rect">
            <a:avLst/>
          </a:prstGeom>
          <a:noFill/>
          <a:ln/>
        </p:spPr>
        <p:txBody>
          <a:bodyPr wrap="square" lIns="0" tIns="0" rIns="0" bIns="0" rtlCol="0" anchor="ctr"/>
          <a:lstStyle/>
          <a:p>
            <a:pPr algn="r" indent="0" marL="0">
              <a:buNone/>
            </a:pPr>
            <a:r>
              <a:rPr lang="en-US" sz="1600" b="1" dirty="0">
                <a:solidFill>
                  <a:schemeClr val="accent4"/>
                </a:solidFill>
              </a:rPr>
              <a:t>9.9 s</a:t>
            </a:r>
            <a:endParaRPr lang="en-US" sz="1600" dirty="0"/>
          </a:p>
        </p:txBody>
      </p:sp>
      <p:sp>
        <p:nvSpPr>
          <p:cNvPr id="28" name="Takeaway"/>
          <p:cNvSpPr txBox="1"/>
          <p:nvPr/>
        </p:nvSpPr>
        <p:spPr>
          <a:xfrm>
            <a:off x="822960" y="5486400"/>
            <a:ext cx="10543032" cy="640080"/>
          </a:xfrm>
          <a:prstGeom prst="rect">
            <a:avLst/>
          </a:prstGeom>
          <a:noFill/>
          <a:ln/>
        </p:spPr>
        <p:txBody>
          <a:bodyPr wrap="square" lIns="0" tIns="0" rIns="0" bIns="0" rtlCol="0" anchor="t"/>
          <a:lstStyle/>
          <a:p>
            <a:pPr indent="0" marL="0">
              <a:buNone/>
            </a:pPr>
            <a:r>
              <a:rPr lang="en-US" sz="2000" b="1" dirty="0">
                <a:solidFill>
                  <a:schemeClr val="accent3"/>
                </a:solidFill>
              </a:rPr>
              <a:t>GRASP cuts the error of deterministic Clarke-Wright from 5.07% to 2.22%. The geometric rule lowers it a further 23%, at no extra cost.</a:t>
            </a:r>
            <a:endParaRPr lang="en-US" sz="2000" dirty="0"/>
          </a:p>
        </p:txBody>
      </p:sp>
      <p:sp>
        <p:nvSpPr>
          <p:cNvPr id="29" name="Footer note"/>
          <p:cNvSpPr txBox="1"/>
          <p:nvPr/>
        </p:nvSpPr>
        <p:spPr>
          <a:xfrm>
            <a:off x="822960" y="6355080"/>
            <a:ext cx="10543032" cy="274320"/>
          </a:xfrm>
          <a:prstGeom prst="rect">
            <a:avLst/>
          </a:prstGeom>
          <a:noFill/>
          <a:ln/>
        </p:spPr>
        <p:txBody>
          <a:bodyPr wrap="square" lIns="0" tIns="0" rIns="0" bIns="0" rtlCol="0" anchor="t"/>
          <a:lstStyle/>
          <a:p>
            <a:pPr indent="0" marL="0">
              <a:buNone/>
            </a:pPr>
            <a:r>
              <a:rPr lang="en-US" sz="1100" dirty="0">
                <a:solidFill>
                  <a:schemeClr val="accent5"/>
                </a:solidFill>
              </a:rPr>
              <a:t>Mean over 7 TSPLIB instances, 20 runs × 150 iterations. CW + 2-opt: deterministic Clarke-Wright followed by 2-opt.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822960" y="502920"/>
            <a:ext cx="10543032" cy="731520"/>
          </a:xfrm>
          <a:prstGeom prst="rect">
            <a:avLst/>
          </a:prstGeom>
          <a:noFill/>
          <a:ln/>
        </p:spPr>
        <p:txBody>
          <a:bodyPr wrap="square" lIns="0" tIns="0" rIns="0" bIns="0" rtlCol="0" anchor="t"/>
          <a:lstStyle/>
          <a:p>
            <a:pPr algn="l" indent="0" marL="0">
              <a:buNone/>
            </a:pPr>
            <a:r>
              <a:rPr lang="en-US" sz="3200" b="1" dirty="0">
                <a:solidFill>
                  <a:schemeClr val="tx1"/>
                </a:solidFill>
              </a:rPr>
              <a:t>Where each rule wins, instance by instance</a:t>
            </a:r>
            <a:endParaRPr lang="en-US" sz="3200" dirty="0"/>
          </a:p>
        </p:txBody>
      </p:sp>
      <p:graphicFrame>
        <p:nvGraphicFramePr>
          <p:cNvPr id="11" name="Gap table"/>
          <p:cNvGraphicFramePr>
            <a:graphicFrameLocks noGrp="1"/>
          </p:cNvGraphicFramePr>
          <p:nvPr>
            <p:extLst>
              <p:ext uri="{D42A27DB-BD31-4B8C-83A1-F6EECF244321}">
                <p14:modId xmlns:p14="http://schemas.microsoft.com/office/powerpoint/2010/main" val="1579011935"/>
              </p:ext>
            </p:extLst>
          </p:nvPr>
        </p:nvGraphicFramePr>
        <p:xfrm>
          <a:off x="822960" y="1600200"/>
          <a:ext cx="7315200" cy="914400"/>
        </p:xfrm>
        <a:graphic>
          <a:graphicData uri="http://schemas.openxmlformats.org/drawingml/2006/table">
            <a:tbl>
              <a:tblPr/>
              <a:tblGrid>
                <a:gridCol w="1371600"/>
                <a:gridCol w="1188720"/>
                <a:gridCol w="1188720"/>
                <a:gridCol w="1280160"/>
                <a:gridCol w="1143000"/>
                <a:gridCol w="1143000"/>
              </a:tblGrid>
              <a:tr h="384048">
                <a:tc>
                  <a:txBody>
                    <a:bodyPr/>
                    <a:lstStyle/>
                    <a:p>
                      <a:pPr algn="l" indent="0" marL="0">
                        <a:buNone/>
                      </a:pPr>
                      <a:r>
                        <a:rPr lang="en-US" sz="1200" b="1" dirty="0">
                          <a:solidFill>
                            <a:schemeClr val="tx1"/>
                          </a:solidFill>
                          <a:latin typeface="+mn-lt" pitchFamily="34" charset="0"/>
                          <a:ea typeface="+mn-lt" pitchFamily="34" charset="-122"/>
                          <a:cs typeface="+mn-lt" pitchFamily="34" charset="-120"/>
                        </a:rPr>
                        <a:t>Gap, %</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c>
                  <a:txBody>
                    <a:bodyPr/>
                    <a:lstStyle/>
                    <a:p>
                      <a:pPr algn="ctr" indent="0" marL="0">
                        <a:buNone/>
                      </a:pPr>
                      <a:r>
                        <a:rPr lang="en-US" sz="1200" b="1" dirty="0">
                          <a:solidFill>
                            <a:schemeClr val="tx1"/>
                          </a:solidFill>
                          <a:latin typeface="+mn-lt" pitchFamily="34" charset="0"/>
                          <a:ea typeface="+mn-lt" pitchFamily="34" charset="-122"/>
                          <a:cs typeface="+mn-lt" pitchFamily="34" charset="-120"/>
                        </a:rPr>
                        <a:t>Classic RCL</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c>
                  <a:txBody>
                    <a:bodyPr/>
                    <a:lstStyle/>
                    <a:p>
                      <a:pPr algn="ctr" indent="0" marL="0">
                        <a:buNone/>
                      </a:pPr>
                      <a:r>
                        <a:rPr lang="en-US" sz="1200" b="1" dirty="0">
                          <a:solidFill>
                            <a:schemeClr val="tx1"/>
                          </a:solidFill>
                          <a:latin typeface="+mn-lt" pitchFamily="34" charset="0"/>
                          <a:ea typeface="+mn-lt" pitchFamily="34" charset="-122"/>
                          <a:cs typeface="+mn-lt" pitchFamily="34" charset="-120"/>
                        </a:rPr>
                        <a:t>Geometric</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c>
                  <a:txBody>
                    <a:bodyPr/>
                    <a:lstStyle/>
                    <a:p>
                      <a:pPr algn="ctr" indent="0" marL="0">
                        <a:buNone/>
                      </a:pPr>
                      <a:r>
                        <a:rPr lang="en-US" sz="1200" b="1" dirty="0">
                          <a:solidFill>
                            <a:schemeClr val="tx1"/>
                          </a:solidFill>
                          <a:latin typeface="+mn-lt" pitchFamily="34" charset="0"/>
                          <a:ea typeface="+mn-lt" pitchFamily="34" charset="-122"/>
                          <a:cs typeface="+mn-lt" pitchFamily="34" charset="-120"/>
                        </a:rPr>
                        <a:t>Triangular</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c>
                  <a:txBody>
                    <a:bodyPr/>
                    <a:lstStyle/>
                    <a:p>
                      <a:pPr algn="ctr" indent="0" marL="0">
                        <a:buNone/>
                      </a:pPr>
                      <a:r>
                        <a:rPr lang="en-US" sz="1200" b="1" dirty="0">
                          <a:solidFill>
                            <a:schemeClr val="tx1"/>
                          </a:solidFill>
                          <a:latin typeface="+mn-lt" pitchFamily="34" charset="0"/>
                          <a:ea typeface="+mn-lt" pitchFamily="34" charset="-122"/>
                          <a:cs typeface="+mn-lt" pitchFamily="34" charset="-120"/>
                        </a:rPr>
                        <a:t>Zipf</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c>
                  <a:txBody>
                    <a:bodyPr/>
                    <a:lstStyle/>
                    <a:p>
                      <a:pPr algn="ctr" indent="0" marL="0">
                        <a:buNone/>
                      </a:pPr>
                      <a:r>
                        <a:rPr lang="en-US" sz="1200" b="1" dirty="0">
                          <a:solidFill>
                            <a:schemeClr val="tx1"/>
                          </a:solidFill>
                          <a:latin typeface="+mn-lt" pitchFamily="34" charset="0"/>
                          <a:ea typeface="+mn-lt" pitchFamily="34" charset="-122"/>
                          <a:cs typeface="+mn-lt" pitchFamily="34" charset="-120"/>
                        </a:rPr>
                        <a:t>Softmax</a:t>
                      </a:r>
                      <a:endParaRPr lang="en-US" sz="12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9050" cap="flat" cmpd="sng" algn="ctr">
                      <a:solidFill>
                        <a:srgbClr val="B0B7BE"/>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eil51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1.41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1.10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3"/>
                          </a:solidFill>
                          <a:latin typeface="+mn-lt" pitchFamily="34" charset="0"/>
                          <a:ea typeface="+mn-lt" pitchFamily="34" charset="-122"/>
                          <a:cs typeface="+mn-lt" pitchFamily="34" charset="-120"/>
                        </a:rPr>
                        <a:t>0.95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1.20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1.41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berlin52</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3.69</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3"/>
                          </a:solidFill>
                          <a:latin typeface="+mn-lt" pitchFamily="34" charset="0"/>
                          <a:ea typeface="+mn-lt" pitchFamily="34" charset="-122"/>
                          <a:cs typeface="+mn-lt" pitchFamily="34" charset="-120"/>
                        </a:rPr>
                        <a:t>0.93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3"/>
                          </a:solidFill>
                          <a:latin typeface="+mn-lt" pitchFamily="34" charset="0"/>
                          <a:ea typeface="+mn-lt" pitchFamily="34" charset="-122"/>
                          <a:cs typeface="+mn-lt" pitchFamily="34" charset="-120"/>
                        </a:rPr>
                        <a:t>2.04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3.35</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3.44</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st70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0.82</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1.01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0.99</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4"/>
                          </a:solidFill>
                          <a:latin typeface="+mn-lt" pitchFamily="34" charset="0"/>
                          <a:ea typeface="+mn-lt" pitchFamily="34" charset="-122"/>
                          <a:cs typeface="+mn-lt" pitchFamily="34" charset="-120"/>
                        </a:rPr>
                        <a:t>1.26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0.93</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eil76</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1.78</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1.65</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1.66</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2.02</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1.89</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kroA100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0.94</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1.14</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1.12</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1.19</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0.91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ch130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1.71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1.73</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1.80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1.54</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1.46</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a280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5.16</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3"/>
                          </a:solidFill>
                          <a:latin typeface="+mn-lt" pitchFamily="34" charset="0"/>
                          <a:ea typeface="+mn-lt" pitchFamily="34" charset="-122"/>
                          <a:cs typeface="+mn-lt" pitchFamily="34" charset="-120"/>
                        </a:rPr>
                        <a:t>4.31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b="1" dirty="0">
                          <a:solidFill>
                            <a:schemeClr val="accent4"/>
                          </a:solidFill>
                          <a:latin typeface="+mn-lt" pitchFamily="34" charset="0"/>
                          <a:ea typeface="+mn-lt" pitchFamily="34" charset="-122"/>
                          <a:cs typeface="+mn-lt" pitchFamily="34" charset="-120"/>
                        </a:rPr>
                        <a:t>6.14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4.74</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5.70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Mean</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2.22</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1.70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2.10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2.18</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2.25</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0DCD2"/>
                    </a:solidFill>
                  </a:tcPr>
                </a:tc>
              </a:tr>
              <a:tr h="384048">
                <a:tc>
                  <a:txBody>
                    <a:bodyPr/>
                    <a:lstStyle/>
                    <a:p>
                      <a:pPr algn="l" indent="0" marL="0">
                        <a:buNone/>
                      </a:pPr>
                      <a:r>
                        <a:rPr lang="en-US" sz="1400" b="1" dirty="0">
                          <a:solidFill>
                            <a:schemeClr val="tx1"/>
                          </a:solidFill>
                          <a:latin typeface="+mn-lt" pitchFamily="34" charset="0"/>
                          <a:ea typeface="+mn-lt" pitchFamily="34" charset="-122"/>
                          <a:cs typeface="+mn-lt" pitchFamily="34" charset="-120"/>
                        </a:rPr>
                        <a:t>▲ / = / ▼</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c>
                  <a:txBody>
                    <a:bodyPr/>
                    <a:lstStyle/>
                    <a:p>
                      <a:pPr algn="ctr" indent="0" marL="0">
                        <a:buNone/>
                      </a:pPr>
                      <a:r>
                        <a:rPr lang="en-US" sz="1400" dirty="0">
                          <a:solidFill>
                            <a:schemeClr val="tx2"/>
                          </a:solidFill>
                          <a:latin typeface="+mn-lt" pitchFamily="34" charset="0"/>
                          <a:ea typeface="+mn-lt" pitchFamily="34" charset="-122"/>
                          <a:cs typeface="+mn-lt" pitchFamily="34" charset="-120"/>
                        </a:rPr>
                        <a:t>baseline</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 / 5 / 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2 / 4 / 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0 / 6 / 1</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c>
                  <a:txBody>
                    <a:bodyPr/>
                    <a:lstStyle/>
                    <a:p>
                      <a:pPr algn="ctr" indent="0" marL="0">
                        <a:buNone/>
                      </a:pPr>
                      <a:r>
                        <a:rPr lang="en-US" sz="1400" b="1" dirty="0">
                          <a:solidFill>
                            <a:schemeClr val="tx1"/>
                          </a:solidFill>
                          <a:latin typeface="+mn-lt" pitchFamily="34" charset="0"/>
                          <a:ea typeface="+mn-lt" pitchFamily="34" charset="-122"/>
                          <a:cs typeface="+mn-lt" pitchFamily="34" charset="-120"/>
                        </a:rPr>
                        <a:t>0 / 7 / 0</a:t>
                      </a:r>
                      <a:endParaRPr lang="en-US" sz="1400" dirty="0">
                        <a:latin typeface="+mn-lt" charset="0"/>
                        <a:ea typeface="+mn-lt" charset="0"/>
                        <a:cs typeface="+mn-lt" charset="0"/>
                      </a:endParaRPr>
                    </a:p>
                  </a:txBody>
                  <a:tcPr marL="73152" marR="73152" marT="0" marB="0" anchor="ctr">
                    <a:lnL w="0" cap="flat" cmpd="sng" algn="ctr">
                      <a:noFill/>
                    </a:lnL>
                    <a:lnR w="0" cap="flat" cmpd="sng" algn="ctr">
                      <a:noFill/>
                    </a:lnR>
                    <a:lnT w="0" cap="flat" cmpd="sng" algn="ctr">
                      <a:noFill/>
                    </a:lnT>
                    <a:lnB w="12700" cap="flat" cmpd="sng" algn="ctr">
                      <a:solidFill>
                        <a:srgbClr val="D9D6CC"/>
                      </a:solidFill>
                      <a:prstDash val="solid"/>
                      <a:round/>
                      <a:headEnd type="none" w="med" len="med"/>
                      <a:tailEnd type="none" w="med" len="med"/>
                    </a:lnB>
                    <a:solidFill>
                      <a:srgbClr val="E4F1EE"/>
                    </a:solidFill>
                  </a:tcPr>
                </a:tc>
              </a:tr>
            </a:tbl>
          </a:graphicData>
        </a:graphic>
      </p:graphicFrame>
      <p:sp>
        <p:nvSpPr>
          <p:cNvPr id="5" name="Shape 1"/>
          <p:cNvSpPr/>
          <p:nvPr/>
        </p:nvSpPr>
        <p:spPr>
          <a:xfrm>
            <a:off x="8366760" y="1600200"/>
            <a:ext cx="2999232" cy="3840480"/>
          </a:xfrm>
          <a:prstGeom prst="roundRect">
            <a:avLst>
              <a:gd name="adj" fmla="val 3659"/>
            </a:avLst>
          </a:prstGeom>
          <a:solidFill>
            <a:schemeClr val="bg1"/>
          </a:solidFill>
          <a:ln w="12700">
            <a:solidFill>
              <a:srgbClr val="E6E3DA"/>
            </a:solidFill>
            <a:prstDash val="solid"/>
          </a:ln>
        </p:spPr>
      </p:sp>
      <p:sp>
        <p:nvSpPr>
          <p:cNvPr id="6" name="Text 2"/>
          <p:cNvSpPr txBox="1"/>
          <p:nvPr/>
        </p:nvSpPr>
        <p:spPr>
          <a:xfrm>
            <a:off x="8595360" y="178308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Reading the table</a:t>
            </a:r>
            <a:endParaRPr lang="en-US" sz="1800" dirty="0"/>
          </a:p>
        </p:txBody>
      </p:sp>
      <p:sp>
        <p:nvSpPr>
          <p:cNvPr id="7" name="Text 3"/>
          <p:cNvSpPr txBox="1"/>
          <p:nvPr/>
        </p:nvSpPr>
        <p:spPr>
          <a:xfrm>
            <a:off x="8595360" y="2286000"/>
            <a:ext cx="2560320" cy="640080"/>
          </a:xfrm>
          <a:prstGeom prst="rect">
            <a:avLst/>
          </a:prstGeom>
          <a:noFill/>
          <a:ln/>
        </p:spPr>
        <p:txBody>
          <a:bodyPr wrap="square" lIns="0" tIns="0" rIns="0" bIns="0" rtlCol="0" anchor="t"/>
          <a:lstStyle/>
          <a:p>
            <a:pPr indent="0" marL="0">
              <a:buNone/>
            </a:pPr>
            <a:r>
              <a:rPr lang="en-US" sz="1400" b="1" dirty="0">
                <a:solidFill>
                  <a:schemeClr val="tx1"/>
                </a:solidFill>
              </a:rPr>
              <a:t>Geometric: </a:t>
            </a:r>
            <a:pPr indent="0" marL="0">
              <a:buNone/>
            </a:pPr>
            <a:r>
              <a:rPr lang="en-US" sz="1400" dirty="0">
                <a:solidFill>
                  <a:schemeClr val="tx2"/>
                </a:solidFill>
              </a:rPr>
              <a:t>better on berlin52 and a280, never worse.</a:t>
            </a:r>
            <a:endParaRPr lang="en-US" sz="1400" dirty="0"/>
          </a:p>
        </p:txBody>
      </p:sp>
      <p:sp>
        <p:nvSpPr>
          <p:cNvPr id="8" name="Text 4"/>
          <p:cNvSpPr txBox="1"/>
          <p:nvPr/>
        </p:nvSpPr>
        <p:spPr>
          <a:xfrm>
            <a:off x="8595360" y="3017520"/>
            <a:ext cx="2560320" cy="640080"/>
          </a:xfrm>
          <a:prstGeom prst="rect">
            <a:avLst/>
          </a:prstGeom>
          <a:noFill/>
          <a:ln/>
        </p:spPr>
        <p:txBody>
          <a:bodyPr wrap="square" lIns="0" tIns="0" rIns="0" bIns="0" rtlCol="0" anchor="t"/>
          <a:lstStyle/>
          <a:p>
            <a:pPr indent="0" marL="0">
              <a:buNone/>
            </a:pPr>
            <a:r>
              <a:rPr lang="en-US" sz="1400" b="1" dirty="0">
                <a:solidFill>
                  <a:schemeClr val="tx1"/>
                </a:solidFill>
              </a:rPr>
              <a:t>Triangular: </a:t>
            </a:r>
            <a:pPr indent="0" marL="0">
              <a:buNone/>
            </a:pPr>
            <a:r>
              <a:rPr lang="en-US" sz="1400" dirty="0">
                <a:solidFill>
                  <a:schemeClr val="tx2"/>
                </a:solidFill>
              </a:rPr>
              <a:t>better on eil51 and berlin52, worse on a280.</a:t>
            </a:r>
            <a:endParaRPr lang="en-US" sz="1400" dirty="0"/>
          </a:p>
        </p:txBody>
      </p:sp>
      <p:sp>
        <p:nvSpPr>
          <p:cNvPr id="9" name="Text 5"/>
          <p:cNvSpPr txBox="1"/>
          <p:nvPr/>
        </p:nvSpPr>
        <p:spPr>
          <a:xfrm>
            <a:off x="8595360" y="3749040"/>
            <a:ext cx="2560320" cy="640080"/>
          </a:xfrm>
          <a:prstGeom prst="rect">
            <a:avLst/>
          </a:prstGeom>
          <a:noFill/>
          <a:ln/>
        </p:spPr>
        <p:txBody>
          <a:bodyPr wrap="square" lIns="0" tIns="0" rIns="0" bIns="0" rtlCol="0" anchor="t"/>
          <a:lstStyle/>
          <a:p>
            <a:pPr indent="0" marL="0">
              <a:buNone/>
            </a:pPr>
            <a:r>
              <a:rPr lang="en-US" sz="1400" b="1" dirty="0">
                <a:solidFill>
                  <a:schemeClr val="tx1"/>
                </a:solidFill>
              </a:rPr>
              <a:t>Zipf, softmax: </a:t>
            </a:r>
            <a:pPr indent="0" marL="0">
              <a:buNone/>
            </a:pPr>
            <a:r>
              <a:rPr lang="en-US" sz="1400" dirty="0">
                <a:solidFill>
                  <a:schemeClr val="tx2"/>
                </a:solidFill>
              </a:rPr>
              <a:t>no clear gain over the classic RCL.</a:t>
            </a:r>
            <a:endParaRPr lang="en-US" sz="1400" dirty="0"/>
          </a:p>
        </p:txBody>
      </p:sp>
      <p:sp>
        <p:nvSpPr>
          <p:cNvPr id="10" name="Text 6"/>
          <p:cNvSpPr txBox="1"/>
          <p:nvPr/>
        </p:nvSpPr>
        <p:spPr>
          <a:xfrm>
            <a:off x="8595360" y="4526280"/>
            <a:ext cx="2560320" cy="822960"/>
          </a:xfrm>
          <a:prstGeom prst="rect">
            <a:avLst/>
          </a:prstGeom>
          <a:noFill/>
          <a:ln/>
        </p:spPr>
        <p:txBody>
          <a:bodyPr wrap="square" lIns="0" tIns="0" rIns="0" bIns="0" rtlCol="0" anchor="t"/>
          <a:lstStyle/>
          <a:p>
            <a:pPr indent="0" marL="0">
              <a:buNone/>
            </a:pPr>
            <a:r>
              <a:rPr lang="en-US" sz="1400" b="1" dirty="0">
                <a:solidFill>
                  <a:schemeClr val="accent3"/>
                </a:solidFill>
              </a:rPr>
              <a:t>Friedman across instances: p = 0.76. Moderate evidence, not conclusive.</a:t>
            </a:r>
            <a:endParaRPr lang="en-US" sz="1400" dirty="0"/>
          </a:p>
        </p:txBody>
      </p:sp>
      <p:sp>
        <p:nvSpPr>
          <p:cNvPr id="11" name="Footer note"/>
          <p:cNvSpPr txBox="1"/>
          <p:nvPr/>
        </p:nvSpPr>
        <p:spPr>
          <a:xfrm>
            <a:off x="822960" y="6263640"/>
            <a:ext cx="10543032" cy="411480"/>
          </a:xfrm>
          <a:prstGeom prst="rect">
            <a:avLst/>
          </a:prstGeom>
          <a:noFill/>
          <a:ln/>
        </p:spPr>
        <p:txBody>
          <a:bodyPr wrap="square" lIns="0" tIns="0" rIns="0" bIns="0" rtlCol="0" anchor="t"/>
          <a:lstStyle/>
          <a:p>
            <a:pPr indent="0" marL="0">
              <a:buNone/>
            </a:pPr>
            <a:r>
              <a:rPr lang="en-US" sz="1100" dirty="0">
                <a:solidFill>
                  <a:schemeClr val="accent5"/>
                </a:solidFill>
              </a:rPr>
              <a:t>▲ significantly better than the classic RCL, ▼ significantly worse (Wilcoxon rank-sum, Holm correction, 5%). Mean gap in %, 20 runs × 150 iterations.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Kicker"/>
          <p:cNvSpPr txBox="1"/>
          <p:nvPr/>
        </p:nvSpPr>
        <p:spPr>
          <a:xfrm>
            <a:off x="822960" y="548640"/>
            <a:ext cx="822960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TAKEAWAY · OUR READING OF THE RESULTS</a:t>
            </a:r>
            <a:endParaRPr lang="en-US" sz="1300" dirty="0"/>
          </a:p>
        </p:txBody>
      </p:sp>
      <p:sp>
        <p:nvSpPr>
          <p:cNvPr id="4" name="Text 0"/>
          <p:cNvSpPr/>
          <p:nvPr>
            <p:ph idx="100" type="title" hasCustomPrompt="1"/>
          </p:nvPr>
        </p:nvSpPr>
        <p:spPr>
          <a:xfrm>
            <a:off x="822960" y="914400"/>
            <a:ext cx="10515600" cy="1371600"/>
          </a:xfrm>
          <a:prstGeom prst="rect">
            <a:avLst/>
          </a:prstGeom>
          <a:noFill/>
          <a:ln/>
        </p:spPr>
        <p:txBody>
          <a:bodyPr wrap="square" lIns="0" tIns="0" rIns="0" bIns="0" rtlCol="0" anchor="t"/>
          <a:lstStyle/>
          <a:p>
            <a:pPr algn="l" indent="0" marL="0">
              <a:buNone/>
            </a:pPr>
            <a:r>
              <a:rPr lang="en-US" sz="3600" b="1" dirty="0">
                <a:solidFill>
                  <a:schemeClr val="bg2"/>
                </a:solidFill>
              </a:rPr>
              <a:t>With savings, the geometric rule gave the lowest gap, but the evidence is moderate.</a:t>
            </a:r>
            <a:endParaRPr lang="en-US" sz="3600" dirty="0"/>
          </a:p>
        </p:txBody>
      </p:sp>
      <p:sp>
        <p:nvSpPr>
          <p:cNvPr id="5" name="Text 2"/>
          <p:cNvSpPr txBox="1"/>
          <p:nvPr/>
        </p:nvSpPr>
        <p:spPr>
          <a:xfrm>
            <a:off x="822960" y="2743200"/>
            <a:ext cx="4572000" cy="228600"/>
          </a:xfrm>
          <a:prstGeom prst="rect">
            <a:avLst/>
          </a:prstGeom>
          <a:noFill/>
          <a:ln/>
        </p:spPr>
        <p:txBody>
          <a:bodyPr wrap="square" lIns="0" tIns="0" rIns="0" bIns="0" rtlCol="0" anchor="t"/>
          <a:lstStyle/>
          <a:p>
            <a:pPr indent="0" marL="0">
              <a:buNone/>
            </a:pPr>
            <a:r>
              <a:rPr lang="en-US" sz="1200" b="1" spc="200" kern="0" dirty="0">
                <a:solidFill>
                  <a:srgbClr val="8FA0A8"/>
                </a:solidFill>
              </a:rPr>
              <a:t>WORTH ASKING ABOUT</a:t>
            </a:r>
            <a:endParaRPr lang="en-US" sz="1200" dirty="0"/>
          </a:p>
        </p:txBody>
      </p:sp>
      <p:sp>
        <p:nvSpPr>
          <p:cNvPr id="6" name="Text 3"/>
          <p:cNvSpPr txBox="1"/>
          <p:nvPr/>
        </p:nvSpPr>
        <p:spPr>
          <a:xfrm>
            <a:off x="822960" y="4343400"/>
            <a:ext cx="4572000" cy="228600"/>
          </a:xfrm>
          <a:prstGeom prst="rect">
            <a:avLst/>
          </a:prstGeom>
          <a:noFill/>
          <a:ln/>
        </p:spPr>
        <p:txBody>
          <a:bodyPr wrap="square" lIns="0" tIns="0" rIns="0" bIns="0" rtlCol="0" anchor="t"/>
          <a:lstStyle/>
          <a:p>
            <a:pPr indent="0" marL="0">
              <a:buNone/>
            </a:pPr>
            <a:r>
              <a:rPr lang="en-US" sz="1200" b="1" spc="200" kern="0" dirty="0">
                <a:solidFill>
                  <a:srgbClr val="8FA0A8"/>
                </a:solidFill>
              </a:rPr>
              <a:t>NEXT STEPS</a:t>
            </a:r>
            <a:endParaRPr lang="en-US" sz="1200" dirty="0"/>
          </a:p>
        </p:txBody>
      </p:sp>
      <p:sp>
        <p:nvSpPr>
          <p:cNvPr id="7" name="Text 4"/>
          <p:cNvSpPr txBox="1"/>
          <p:nvPr/>
        </p:nvSpPr>
        <p:spPr>
          <a:xfrm>
            <a:off x="822960" y="3063240"/>
            <a:ext cx="3337560" cy="1097280"/>
          </a:xfrm>
          <a:prstGeom prst="rect">
            <a:avLst/>
          </a:prstGeom>
          <a:noFill/>
          <a:ln/>
        </p:spPr>
        <p:txBody>
          <a:bodyPr wrap="square" lIns="0" tIns="0" rIns="0" bIns="0" rtlCol="0" anchor="t"/>
          <a:lstStyle/>
          <a:p>
            <a:pPr indent="0" marL="0">
              <a:buNone/>
            </a:pPr>
            <a:r>
              <a:rPr lang="en-US" sz="1500" dirty="0">
                <a:solidFill>
                  <a:srgbClr val="E4E8EC"/>
                </a:solidFill>
              </a:rPr>
              <a:t>Moderate evidence: two significant wins for the geometric rule, and Friedman p = 0.76 across the 7 instances.</a:t>
            </a:r>
            <a:endParaRPr lang="en-US" sz="1500" dirty="0"/>
          </a:p>
        </p:txBody>
      </p:sp>
      <p:sp>
        <p:nvSpPr>
          <p:cNvPr id="8" name="Text 5"/>
          <p:cNvSpPr txBox="1"/>
          <p:nvPr/>
        </p:nvSpPr>
        <p:spPr>
          <a:xfrm>
            <a:off x="822960" y="4663440"/>
            <a:ext cx="3337560" cy="1097280"/>
          </a:xfrm>
          <a:prstGeom prst="rect">
            <a:avLst/>
          </a:prstGeom>
          <a:noFill/>
          <a:ln/>
        </p:spPr>
        <p:txBody>
          <a:bodyPr wrap="square" lIns="0" tIns="0" rIns="0" bIns="0" rtlCol="0" anchor="t"/>
          <a:lstStyle/>
          <a:p>
            <a:pPr indent="0" marL="0">
              <a:buNone/>
            </a:pPr>
            <a:r>
              <a:rPr lang="en-US" sz="1500" dirty="0">
                <a:solidFill>
                  <a:srgbClr val="E4E8EC"/>
                </a:solidFill>
              </a:rPr>
              <a:t>Larger instances and more runs, to firm up the statistics.</a:t>
            </a:r>
            <a:endParaRPr lang="en-US" sz="1500" dirty="0"/>
          </a:p>
        </p:txBody>
      </p:sp>
      <p:sp>
        <p:nvSpPr>
          <p:cNvPr id="9" name="Text 6"/>
          <p:cNvSpPr txBox="1"/>
          <p:nvPr/>
        </p:nvSpPr>
        <p:spPr>
          <a:xfrm>
            <a:off x="4425696" y="3063240"/>
            <a:ext cx="3337560" cy="1097280"/>
          </a:xfrm>
          <a:prstGeom prst="rect">
            <a:avLst/>
          </a:prstGeom>
          <a:noFill/>
          <a:ln/>
        </p:spPr>
        <p:txBody>
          <a:bodyPr wrap="square" lIns="0" tIns="0" rIns="0" bIns="0" rtlCol="0" anchor="t"/>
          <a:lstStyle/>
          <a:p>
            <a:pPr indent="0" marL="0">
              <a:buNone/>
            </a:pPr>
            <a:r>
              <a:rPr lang="en-US" sz="1500" dirty="0">
                <a:solidFill>
                  <a:srgbClr val="E4E8EC"/>
                </a:solidFill>
              </a:rPr>
              <a:t>Parameters were tuned on three instances with few runs; more tuning data could change the ranking.</a:t>
            </a:r>
            <a:endParaRPr lang="en-US" sz="1500" dirty="0"/>
          </a:p>
        </p:txBody>
      </p:sp>
      <p:sp>
        <p:nvSpPr>
          <p:cNvPr id="10" name="Text 7"/>
          <p:cNvSpPr txBox="1"/>
          <p:nvPr/>
        </p:nvSpPr>
        <p:spPr>
          <a:xfrm>
            <a:off x="4425696" y="4663440"/>
            <a:ext cx="3337560" cy="1097280"/>
          </a:xfrm>
          <a:prstGeom prst="rect">
            <a:avLst/>
          </a:prstGeom>
          <a:noFill/>
          <a:ln/>
        </p:spPr>
        <p:txBody>
          <a:bodyPr wrap="square" lIns="0" tIns="0" rIns="0" bIns="0" rtlCol="0" anchor="t"/>
          <a:lstStyle/>
          <a:p>
            <a:pPr indent="0" marL="0">
              <a:buNone/>
            </a:pPr>
            <a:r>
              <a:rPr lang="en-US" sz="1500" dirty="0">
                <a:solidFill>
                  <a:srgbClr val="E4E8EC"/>
                </a:solidFill>
              </a:rPr>
              <a:t>Equal-CPU-time comparison: Zipf and softmax take roughly 1.7 times longer per run.</a:t>
            </a:r>
            <a:endParaRPr lang="en-US" sz="1500" dirty="0"/>
          </a:p>
        </p:txBody>
      </p:sp>
      <p:sp>
        <p:nvSpPr>
          <p:cNvPr id="11" name="Text 8"/>
          <p:cNvSpPr txBox="1"/>
          <p:nvPr/>
        </p:nvSpPr>
        <p:spPr>
          <a:xfrm>
            <a:off x="8028432" y="3063240"/>
            <a:ext cx="3337560" cy="1097280"/>
          </a:xfrm>
          <a:prstGeom prst="rect">
            <a:avLst/>
          </a:prstGeom>
          <a:noFill/>
          <a:ln/>
        </p:spPr>
        <p:txBody>
          <a:bodyPr wrap="square" lIns="0" tIns="0" rIns="0" bIns="0" rtlCol="0" anchor="t"/>
          <a:lstStyle/>
          <a:p>
            <a:pPr indent="0" marL="0">
              <a:buNone/>
            </a:pPr>
            <a:r>
              <a:rPr lang="en-US" sz="1500" dirty="0">
                <a:solidFill>
                  <a:srgbClr val="E4E8EC"/>
                </a:solidFill>
              </a:rPr>
              <a:t>2-opt is a basic local search; Or-opt or neighbour lists could shrink the differences.</a:t>
            </a:r>
            <a:endParaRPr lang="en-US" sz="1500" dirty="0"/>
          </a:p>
        </p:txBody>
      </p:sp>
      <p:sp>
        <p:nvSpPr>
          <p:cNvPr id="12" name="Text 9"/>
          <p:cNvSpPr txBox="1"/>
          <p:nvPr/>
        </p:nvSpPr>
        <p:spPr>
          <a:xfrm>
            <a:off x="8028432" y="4663440"/>
            <a:ext cx="3337560" cy="1097280"/>
          </a:xfrm>
          <a:prstGeom prst="rect">
            <a:avLst/>
          </a:prstGeom>
          <a:noFill/>
          <a:ln/>
        </p:spPr>
        <p:txBody>
          <a:bodyPr wrap="square" lIns="0" tIns="0" rIns="0" bIns="0" rtlCol="0" anchor="t"/>
          <a:lstStyle/>
          <a:p>
            <a:pPr indent="0" marL="0">
              <a:buNone/>
            </a:pPr>
            <a:r>
              <a:rPr lang="en-US" sz="1500" dirty="0">
                <a:solidFill>
                  <a:srgbClr val="E4E8EC"/>
                </a:solidFill>
              </a:rPr>
              <a:t>Path relinking or an elite set, to exploit the diversity the bias creates.</a:t>
            </a:r>
            <a:endParaRPr lang="en-US" sz="1500" dirty="0"/>
          </a:p>
        </p:txBody>
      </p:sp>
      <p:sp>
        <p:nvSpPr>
          <p:cNvPr id="13" name="Text 10"/>
          <p:cNvSpPr txBox="1"/>
          <p:nvPr/>
        </p:nvSpPr>
        <p:spPr>
          <a:xfrm>
            <a:off x="822960" y="6172200"/>
            <a:ext cx="5486400" cy="274320"/>
          </a:xfrm>
          <a:prstGeom prst="rect">
            <a:avLst/>
          </a:prstGeom>
          <a:noFill/>
          <a:ln/>
        </p:spPr>
        <p:txBody>
          <a:bodyPr wrap="square" lIns="0" tIns="0" rIns="0" bIns="0" rtlCol="0" anchor="t"/>
          <a:lstStyle/>
          <a:p>
            <a:pPr indent="0" marL="0">
              <a:buNone/>
            </a:pPr>
            <a:r>
              <a:rPr lang="en-US" sz="1400" dirty="0">
                <a:solidFill>
                  <a:srgbClr val="8FA0A8"/>
                </a:solidFill>
              </a:rPr>
              <a:t>Thank you — questions?</a:t>
            </a:r>
            <a:endParaRPr lang="en-US" sz="1400" dirty="0"/>
          </a:p>
        </p:txBody>
      </p:sp>
    </p:spTree>
  </p:cSld>
  <p:clrMapOvr>
    <a:masterClrMapping/>
  </p:clrMapOvr>
</p:sld>
</file>

<file path=ppt/theme/theme1.xml><?xml version="1.0" encoding="utf-8"?>
<a:theme xmlns:a="http://schemas.openxmlformats.org/drawingml/2006/main" name="GRASP Lab">
  <a:themeElements>
    <a:clrScheme name="GRASP Lab">
      <a:dk1>
        <a:srgbClr val="12212B"/>
      </a:dk1>
      <a:lt1>
        <a:srgbClr val="FDFCF8"/>
      </a:lt1>
      <a:dk2>
        <a:srgbClr val="4A5568"/>
      </a:dk2>
      <a:lt2>
        <a:srgbClr val="F7F5EF"/>
      </a:lt2>
      <a:accent1>
        <a:srgbClr val="2A9D8F"/>
      </a:accent1>
      <a:accent2>
        <a:srgbClr val="E07040"/>
      </a:accent2>
      <a:accent3>
        <a:srgbClr val="1F7A6D"/>
      </a:accent3>
      <a:accent4>
        <a:srgbClr val="B5471E"/>
      </a:accent4>
      <a:accent5>
        <a:srgbClr val="6B7580"/>
      </a:accent5>
      <a:accent6>
        <a:srgbClr val="B0B7BE"/>
      </a:accent6>
      <a:hlink>
        <a:srgbClr val="1F7A6D"/>
      </a:hlink>
      <a:folHlink>
        <a:srgbClr val="6B7580"/>
      </a:folHlink>
    </a:clrScheme>
    <a:fontScheme name="GRASP 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GRASP for the TSP: RCL vs biased randomization</dc:title>
  <dc:subject>PptxGenJS Presentation</dc:subject>
  <dc:creator>Javier Salvatierra Corchado</dc:creator>
  <cp:lastModifiedBy>Javier Salvatierra Corchado</cp:lastModifiedBy>
  <cp:revision>1</cp:revision>
  <dcterms:created xsi:type="dcterms:W3CDTF">2026-10-05T18:12:08Z</dcterms:created>
  <dcterms:modified xsi:type="dcterms:W3CDTF">2026-10-05T18:12:08Z</dcterms:modified>
</cp:coreProperties>
</file>